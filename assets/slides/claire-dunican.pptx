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740" r:id="rId3"/>
    <p:sldId id="743" r:id="rId4"/>
    <p:sldId id="742" r:id="rId5"/>
    <p:sldId id="706" r:id="rId6"/>
    <p:sldId id="720" r:id="rId7"/>
    <p:sldId id="778" r:id="rId8"/>
    <p:sldId id="627" r:id="rId9"/>
    <p:sldId id="741" r:id="rId10"/>
    <p:sldId id="761" r:id="rId11"/>
    <p:sldId id="750" r:id="rId12"/>
    <p:sldId id="751" r:id="rId13"/>
    <p:sldId id="753" r:id="rId14"/>
    <p:sldId id="765" r:id="rId15"/>
    <p:sldId id="757" r:id="rId16"/>
    <p:sldId id="766" r:id="rId17"/>
    <p:sldId id="756" r:id="rId18"/>
    <p:sldId id="782" r:id="rId19"/>
    <p:sldId id="786" r:id="rId20"/>
    <p:sldId id="787" r:id="rId21"/>
    <p:sldId id="788" r:id="rId22"/>
    <p:sldId id="790" r:id="rId23"/>
    <p:sldId id="789" r:id="rId24"/>
    <p:sldId id="781" r:id="rId25"/>
    <p:sldId id="784" r:id="rId26"/>
    <p:sldId id="791" r:id="rId27"/>
    <p:sldId id="654" r:id="rId2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21599F-EA48-F3BA-1722-10CA07342021}" v="1" dt="2026-04-21T12:51:11.334"/>
  </p1510:revLst>
</p1510:revInfo>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AED"/>
          </a:solidFill>
        </a:fill>
      </a:tcStyle>
    </a:wholeTbl>
    <a:band1H>
      <a:tcStyle>
        <a:tcBdr/>
        <a:fill>
          <a:solidFill>
            <a:srgbClr val="CCD2D8"/>
          </a:solidFill>
        </a:fill>
      </a:tcStyle>
    </a:band1H>
    <a:band2H>
      <a:tcStyle>
        <a:tcBdr/>
      </a:tcStyle>
    </a:band2H>
    <a:band1V>
      <a:tcStyle>
        <a:tcBdr/>
        <a:fill>
          <a:solidFill>
            <a:srgbClr val="CCD2D8"/>
          </a:solidFill>
        </a:fill>
      </a:tcStyle>
    </a:band1V>
    <a:band2V>
      <a:tcStyle>
        <a:tcBdr/>
      </a:tcStyle>
    </a:band2V>
    <a:lastCol>
      <a:tcTxStyle b="on">
        <a:font>
          <a:latin typeface="+mn-lt"/>
          <a:ea typeface="+mn-ea"/>
          <a:cs typeface="+mn-cs"/>
        </a:font>
        <a:srgbClr val="FFFFFF"/>
      </a:tcTxStyle>
      <a:tcStyle>
        <a:tcBdr/>
        <a:fill>
          <a:solidFill>
            <a:srgbClr val="156082"/>
          </a:solidFill>
        </a:fill>
      </a:tcStyle>
    </a:lastCol>
    <a:firstCol>
      <a:tcTxStyle b="on">
        <a:font>
          <a:latin typeface="+mn-lt"/>
          <a:ea typeface="+mn-ea"/>
          <a:cs typeface="+mn-cs"/>
        </a:font>
        <a:srgbClr val="FFFFFF"/>
      </a:tcTxStyle>
      <a:tcStyle>
        <a:tcBdr/>
        <a:fill>
          <a:solidFill>
            <a:srgbClr val="156082"/>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156082"/>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15608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71" d="100"/>
          <a:sy n="71" d="100"/>
        </p:scale>
        <p:origin x="472" y="4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71F4745-1775-B82D-78A1-E98E6B95926E}"/>
              </a:ext>
            </a:extLst>
          </p:cNvPr>
          <p:cNvSpPr txBox="1">
            <a:spLocks noGrp="1"/>
          </p:cNvSpPr>
          <p:nvPr>
            <p:ph type="hdr" sz="quarter"/>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eaLnBrk="1"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a:defRPr/>
            </a:pPr>
            <a:endParaRPr/>
          </a:p>
        </p:txBody>
      </p:sp>
      <p:sp>
        <p:nvSpPr>
          <p:cNvPr id="3" name="Date Placeholder 2">
            <a:extLst>
              <a:ext uri="{FF2B5EF4-FFF2-40B4-BE49-F238E27FC236}">
                <a16:creationId xmlns:a16="http://schemas.microsoft.com/office/drawing/2014/main" id="{0571BE9E-6732-FB39-4343-B4D84A7232D6}"/>
              </a:ext>
            </a:extLst>
          </p:cNvPr>
          <p:cNvSpPr txBox="1">
            <a:spLocks noGrp="1"/>
          </p:cNvSpPr>
          <p:nvPr>
            <p:ph type="dt" idx="1"/>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eaLnBrk="1"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a:defRPr/>
            </a:pPr>
            <a:fld id="{0B65B75B-0425-4B49-979F-500AAA3093D6}" type="datetime1">
              <a:rPr lang="en-US"/>
              <a:pPr>
                <a:defRPr/>
              </a:pPr>
              <a:t>7/8/2026</a:t>
            </a:fld>
            <a:endParaRPr/>
          </a:p>
        </p:txBody>
      </p:sp>
      <p:sp>
        <p:nvSpPr>
          <p:cNvPr id="3076" name="Slide Image Placeholder 3">
            <a:extLst>
              <a:ext uri="{FF2B5EF4-FFF2-40B4-BE49-F238E27FC236}">
                <a16:creationId xmlns:a16="http://schemas.microsoft.com/office/drawing/2014/main" id="{FCA2606D-B00C-89B3-39CF-55ACFB31D9EF}"/>
              </a:ext>
            </a:extLst>
          </p:cNvPr>
          <p:cNvSpPr>
            <a:spLocks noGrp="1" noRot="1" noChangeAspect="1"/>
          </p:cNvSpPr>
          <p:nvPr>
            <p:ph type="sldImg" idx="2"/>
          </p:nvPr>
        </p:nvSpPr>
        <p:spPr bwMode="auto">
          <a:xfrm>
            <a:off x="685800" y="1143000"/>
            <a:ext cx="5486400" cy="3086100"/>
          </a:xfrm>
          <a:prstGeom prst="rect">
            <a:avLst/>
          </a:prstGeom>
          <a:noFill/>
          <a:ln w="12701">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 name="Notes Placeholder 4">
            <a:extLst>
              <a:ext uri="{FF2B5EF4-FFF2-40B4-BE49-F238E27FC236}">
                <a16:creationId xmlns:a16="http://schemas.microsoft.com/office/drawing/2014/main" id="{AD65C63F-90C2-097E-93E0-01AA5D5BC27F}"/>
              </a:ext>
            </a:extLst>
          </p:cNvPr>
          <p:cNvSpPr txBox="1">
            <a:spLocks noGrp="1"/>
          </p:cNvSpPr>
          <p:nvPr>
            <p:ph type="body" sz="quarter" idx="3"/>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3E0F676A-BC2D-1820-1DAE-12EFFCBBA647}"/>
              </a:ext>
            </a:extLst>
          </p:cNvPr>
          <p:cNvSpPr txBox="1">
            <a:spLocks noGrp="1"/>
          </p:cNvSpPr>
          <p:nvPr>
            <p:ph type="ftr" sz="quarter" idx="4"/>
          </p:nvPr>
        </p:nvSpPr>
        <p:spPr>
          <a:xfrm>
            <a:off x="0"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l" defTabSz="914400" rtl="0" eaLnBrk="1"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a:defRPr/>
            </a:pPr>
            <a:endParaRPr/>
          </a:p>
        </p:txBody>
      </p:sp>
      <p:sp>
        <p:nvSpPr>
          <p:cNvPr id="7" name="Slide Number Placeholder 6">
            <a:extLst>
              <a:ext uri="{FF2B5EF4-FFF2-40B4-BE49-F238E27FC236}">
                <a16:creationId xmlns:a16="http://schemas.microsoft.com/office/drawing/2014/main" id="{7EE88366-7865-064D-9B66-D4A3A8ABCBF1}"/>
              </a:ext>
            </a:extLst>
          </p:cNvPr>
          <p:cNvSpPr txBox="1">
            <a:spLocks noGrp="1"/>
          </p:cNvSpPr>
          <p:nvPr>
            <p:ph type="sldNum" sz="quarter" idx="5"/>
          </p:nvPr>
        </p:nvSpPr>
        <p:spPr>
          <a:xfrm>
            <a:off x="3884613"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r" defTabSz="914400" rtl="0" eaLnBrk="1"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Aptos"/>
              </a:defRPr>
            </a:lvl1pPr>
          </a:lstStyle>
          <a:p>
            <a:pPr>
              <a:defRPr/>
            </a:pPr>
            <a:fld id="{F87A3253-8A83-4BB5-A10F-02CD52B4E096}" type="slidenum">
              <a:rPr/>
              <a:pPr>
                <a:defRPr/>
              </a:pPr>
              <a:t>‹#›</a:t>
            </a:fld>
            <a:endParaRPr/>
          </a:p>
        </p:txBody>
      </p:sp>
      <p:sp>
        <p:nvSpPr>
          <p:cNvPr id="8" name="Header Placeholder 1">
            <a:extLst>
              <a:ext uri="{FF2B5EF4-FFF2-40B4-BE49-F238E27FC236}">
                <a16:creationId xmlns:a16="http://schemas.microsoft.com/office/drawing/2014/main" id="{2338F36D-BE25-0D29-76B9-85D9CA505EFE}"/>
              </a:ext>
            </a:extLst>
          </p:cNvPr>
          <p:cNvSpPr txBox="1">
            <a:spLocks noGrp="1"/>
          </p:cNvSpPr>
          <p:nvPr>
            <p:ph type="hdr" sz="quarter" idx="10"/>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9" name="Date Placeholder 2">
            <a:extLst>
              <a:ext uri="{FF2B5EF4-FFF2-40B4-BE49-F238E27FC236}">
                <a16:creationId xmlns:a16="http://schemas.microsoft.com/office/drawing/2014/main" id="{EEAD3D11-7B44-1AF1-5B19-75A6546AC56B}"/>
              </a:ext>
            </a:extLst>
          </p:cNvPr>
          <p:cNvSpPr txBox="1">
            <a:spLocks noGrp="1"/>
          </p:cNvSpPr>
          <p:nvPr>
            <p:ph type="dt" sz="quarter" idx="7"/>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AE175055-E91F-4EDF-9A4B-F7BD57EC02AA}" type="datetime1">
              <a:rPr lang="en-US"/>
              <a:pPr>
                <a:defRPr/>
              </a:pPr>
              <a:t>7/8/2026</a:t>
            </a:fld>
            <a:endParaRPr/>
          </a:p>
        </p:txBody>
      </p:sp>
      <p:sp>
        <p:nvSpPr>
          <p:cNvPr id="3082" name="Slide Image Placeholder 3">
            <a:extLst>
              <a:ext uri="{FF2B5EF4-FFF2-40B4-BE49-F238E27FC236}">
                <a16:creationId xmlns:a16="http://schemas.microsoft.com/office/drawing/2014/main" id="{59407983-93CF-A679-F3D1-4D35B0D33DB6}"/>
              </a:ext>
            </a:extLst>
          </p:cNvPr>
          <p:cNvSpPr>
            <a:spLocks noGrp="1" noRot="1" noChangeAspect="1"/>
          </p:cNvSpPr>
          <p:nvPr>
            <p:ph type="sldImg" sz="quarter" idx="4294967295"/>
          </p:nvPr>
        </p:nvSpPr>
        <p:spPr bwMode="auto">
          <a:xfrm>
            <a:off x="685800" y="1143000"/>
            <a:ext cx="5486400" cy="3086100"/>
          </a:xfrm>
          <a:prstGeom prst="rect">
            <a:avLst/>
          </a:prstGeom>
          <a:noFill/>
          <a:ln w="12701">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 name="Notes Placeholder 4">
            <a:extLst>
              <a:ext uri="{FF2B5EF4-FFF2-40B4-BE49-F238E27FC236}">
                <a16:creationId xmlns:a16="http://schemas.microsoft.com/office/drawing/2014/main" id="{99B40A94-C92C-A447-A829-A2CE0ADCE543}"/>
              </a:ext>
            </a:extLst>
          </p:cNvPr>
          <p:cNvSpPr txBox="1">
            <a:spLocks noGrp="1"/>
          </p:cNvSpPr>
          <p:nvPr>
            <p:ph type="body" sz="quarter" idx="4294967295"/>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Footer Placeholder 5">
            <a:extLst>
              <a:ext uri="{FF2B5EF4-FFF2-40B4-BE49-F238E27FC236}">
                <a16:creationId xmlns:a16="http://schemas.microsoft.com/office/drawing/2014/main" id="{06C7D777-1141-38CF-6D39-34F549F1E556}"/>
              </a:ext>
            </a:extLst>
          </p:cNvPr>
          <p:cNvSpPr txBox="1">
            <a:spLocks noGrp="1"/>
          </p:cNvSpPr>
          <p:nvPr>
            <p:ph type="ftr" sz="quarter" idx="9"/>
          </p:nvPr>
        </p:nvSpPr>
        <p:spPr>
          <a:xfrm>
            <a:off x="0"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13" name="Slide Number Placeholder 6">
            <a:extLst>
              <a:ext uri="{FF2B5EF4-FFF2-40B4-BE49-F238E27FC236}">
                <a16:creationId xmlns:a16="http://schemas.microsoft.com/office/drawing/2014/main" id="{7A1CC40A-2632-02EF-C221-D1D5729C569F}"/>
              </a:ext>
            </a:extLst>
          </p:cNvPr>
          <p:cNvSpPr txBox="1">
            <a:spLocks noGrp="1"/>
          </p:cNvSpPr>
          <p:nvPr>
            <p:ph type="sldNum" sz="quarter" idx="8"/>
          </p:nvPr>
        </p:nvSpPr>
        <p:spPr>
          <a:xfrm>
            <a:off x="3884613"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6913AB79-29D1-4A4E-B1C7-B0DAF302A8B9}" type="slidenum">
              <a:rPr/>
              <a:pPr>
                <a:defRPr/>
              </a:pPr>
              <a:t>‹#›</a:t>
            </a:fld>
            <a:endParaRPr/>
          </a:p>
        </p:txBody>
      </p:sp>
      <p:sp>
        <p:nvSpPr>
          <p:cNvPr id="14" name="Header Placeholder 1">
            <a:extLst>
              <a:ext uri="{FF2B5EF4-FFF2-40B4-BE49-F238E27FC236}">
                <a16:creationId xmlns:a16="http://schemas.microsoft.com/office/drawing/2014/main" id="{A0AD753E-94F1-0C88-C76D-D4FB09DFA123}"/>
              </a:ext>
            </a:extLst>
          </p:cNvPr>
          <p:cNvSpPr txBox="1">
            <a:spLocks noGrp="1"/>
          </p:cNvSpPr>
          <p:nvPr>
            <p:ph type="hdr" sz="quarter" idx="10"/>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15" name="Date Placeholder 2">
            <a:extLst>
              <a:ext uri="{FF2B5EF4-FFF2-40B4-BE49-F238E27FC236}">
                <a16:creationId xmlns:a16="http://schemas.microsoft.com/office/drawing/2014/main" id="{FF18F668-0B61-61A8-0BB6-C236FD2B88E5}"/>
              </a:ext>
            </a:extLst>
          </p:cNvPr>
          <p:cNvSpPr txBox="1">
            <a:spLocks noGrp="1"/>
          </p:cNvSpPr>
          <p:nvPr>
            <p:ph type="dt" sz="quarter" idx="7"/>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550FA82A-7FCA-4CDA-8A81-53C825D2E562}" type="datetime1">
              <a:rPr lang="en-US"/>
              <a:pPr>
                <a:defRPr/>
              </a:pPr>
              <a:t>7/8/2026</a:t>
            </a:fld>
            <a:endParaRPr/>
          </a:p>
        </p:txBody>
      </p:sp>
      <p:sp>
        <p:nvSpPr>
          <p:cNvPr id="3088" name="Slide Image Placeholder 3">
            <a:extLst>
              <a:ext uri="{FF2B5EF4-FFF2-40B4-BE49-F238E27FC236}">
                <a16:creationId xmlns:a16="http://schemas.microsoft.com/office/drawing/2014/main" id="{8466E81E-CAA2-14F9-75C0-DB43776C752F}"/>
              </a:ext>
            </a:extLst>
          </p:cNvPr>
          <p:cNvSpPr>
            <a:spLocks noGrp="1" noRot="1" noChangeAspect="1"/>
          </p:cNvSpPr>
          <p:nvPr>
            <p:ph type="sldImg" sz="quarter" idx="4294967295"/>
          </p:nvPr>
        </p:nvSpPr>
        <p:spPr bwMode="auto">
          <a:xfrm>
            <a:off x="685800" y="1143000"/>
            <a:ext cx="5486400" cy="3086100"/>
          </a:xfrm>
          <a:prstGeom prst="rect">
            <a:avLst/>
          </a:prstGeom>
          <a:noFill/>
          <a:ln w="12701">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 name="Notes Placeholder 4">
            <a:extLst>
              <a:ext uri="{FF2B5EF4-FFF2-40B4-BE49-F238E27FC236}">
                <a16:creationId xmlns:a16="http://schemas.microsoft.com/office/drawing/2014/main" id="{6669ABF3-1D17-8664-7503-5E328718DFEA}"/>
              </a:ext>
            </a:extLst>
          </p:cNvPr>
          <p:cNvSpPr txBox="1">
            <a:spLocks noGrp="1"/>
          </p:cNvSpPr>
          <p:nvPr>
            <p:ph type="body" sz="quarter" idx="4294967295"/>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Footer Placeholder 5">
            <a:extLst>
              <a:ext uri="{FF2B5EF4-FFF2-40B4-BE49-F238E27FC236}">
                <a16:creationId xmlns:a16="http://schemas.microsoft.com/office/drawing/2014/main" id="{08FB71EC-65F2-C0B6-D9E4-27A4E33474FF}"/>
              </a:ext>
            </a:extLst>
          </p:cNvPr>
          <p:cNvSpPr txBox="1">
            <a:spLocks noGrp="1"/>
          </p:cNvSpPr>
          <p:nvPr>
            <p:ph type="ftr" sz="quarter" idx="9"/>
          </p:nvPr>
        </p:nvSpPr>
        <p:spPr>
          <a:xfrm>
            <a:off x="0"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19" name="Slide Number Placeholder 6">
            <a:extLst>
              <a:ext uri="{FF2B5EF4-FFF2-40B4-BE49-F238E27FC236}">
                <a16:creationId xmlns:a16="http://schemas.microsoft.com/office/drawing/2014/main" id="{004CC56F-9DBD-14CC-C781-0D987DFE10F2}"/>
              </a:ext>
            </a:extLst>
          </p:cNvPr>
          <p:cNvSpPr txBox="1">
            <a:spLocks noGrp="1"/>
          </p:cNvSpPr>
          <p:nvPr>
            <p:ph type="sldNum" sz="quarter" idx="8"/>
          </p:nvPr>
        </p:nvSpPr>
        <p:spPr>
          <a:xfrm>
            <a:off x="3884613"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7D96FF78-591D-4BF1-9522-3C984B7B6F52}" type="slidenum">
              <a:rPr/>
              <a:pPr>
                <a:defRPr/>
              </a:pPr>
              <a:t>‹#›</a:t>
            </a:fld>
            <a:endParaRPr/>
          </a:p>
        </p:txBody>
      </p:sp>
      <p:sp>
        <p:nvSpPr>
          <p:cNvPr id="20" name="Header Placeholder 1">
            <a:extLst>
              <a:ext uri="{FF2B5EF4-FFF2-40B4-BE49-F238E27FC236}">
                <a16:creationId xmlns:a16="http://schemas.microsoft.com/office/drawing/2014/main" id="{207E3EEA-1D5A-9F5F-7AD2-78A048F71DC4}"/>
              </a:ext>
            </a:extLst>
          </p:cNvPr>
          <p:cNvSpPr txBox="1">
            <a:spLocks noGrp="1"/>
          </p:cNvSpPr>
          <p:nvPr>
            <p:ph type="hdr" sz="quarter" idx="10"/>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21" name="Date Placeholder 2">
            <a:extLst>
              <a:ext uri="{FF2B5EF4-FFF2-40B4-BE49-F238E27FC236}">
                <a16:creationId xmlns:a16="http://schemas.microsoft.com/office/drawing/2014/main" id="{FE4BBEE8-4D74-9CA5-9491-F4CDE7B2FFD3}"/>
              </a:ext>
            </a:extLst>
          </p:cNvPr>
          <p:cNvSpPr txBox="1">
            <a:spLocks noGrp="1"/>
          </p:cNvSpPr>
          <p:nvPr>
            <p:ph type="dt" sz="quarter" idx="7"/>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B3424B23-72B6-48D4-B15B-B5DEED5E3D11}" type="datetime1">
              <a:rPr lang="en-US"/>
              <a:pPr>
                <a:defRPr/>
              </a:pPr>
              <a:t>7/8/2026</a:t>
            </a:fld>
            <a:endParaRPr/>
          </a:p>
        </p:txBody>
      </p:sp>
      <p:sp>
        <p:nvSpPr>
          <p:cNvPr id="3094" name="Slide Image Placeholder 3">
            <a:extLst>
              <a:ext uri="{FF2B5EF4-FFF2-40B4-BE49-F238E27FC236}">
                <a16:creationId xmlns:a16="http://schemas.microsoft.com/office/drawing/2014/main" id="{6DEE8408-74FA-FB8B-AD1D-64CF4EFA46DB}"/>
              </a:ext>
            </a:extLst>
          </p:cNvPr>
          <p:cNvSpPr>
            <a:spLocks noGrp="1" noRot="1" noChangeAspect="1"/>
          </p:cNvSpPr>
          <p:nvPr>
            <p:ph type="sldImg" sz="quarter" idx="4294967295"/>
          </p:nvPr>
        </p:nvSpPr>
        <p:spPr bwMode="auto">
          <a:xfrm>
            <a:off x="685800" y="1143000"/>
            <a:ext cx="5486400" cy="3086100"/>
          </a:xfrm>
          <a:prstGeom prst="rect">
            <a:avLst/>
          </a:prstGeom>
          <a:noFill/>
          <a:ln w="12701">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 name="Notes Placeholder 4">
            <a:extLst>
              <a:ext uri="{FF2B5EF4-FFF2-40B4-BE49-F238E27FC236}">
                <a16:creationId xmlns:a16="http://schemas.microsoft.com/office/drawing/2014/main" id="{1AFE79BE-C880-9BEA-89B3-6FA9F386A595}"/>
              </a:ext>
            </a:extLst>
          </p:cNvPr>
          <p:cNvSpPr txBox="1">
            <a:spLocks noGrp="1"/>
          </p:cNvSpPr>
          <p:nvPr>
            <p:ph type="body" sz="quarter" idx="4294967295"/>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Footer Placeholder 5">
            <a:extLst>
              <a:ext uri="{FF2B5EF4-FFF2-40B4-BE49-F238E27FC236}">
                <a16:creationId xmlns:a16="http://schemas.microsoft.com/office/drawing/2014/main" id="{C4DF743F-0D15-8078-1D9D-85D1D88D8899}"/>
              </a:ext>
            </a:extLst>
          </p:cNvPr>
          <p:cNvSpPr txBox="1">
            <a:spLocks noGrp="1"/>
          </p:cNvSpPr>
          <p:nvPr>
            <p:ph type="ftr" sz="quarter" idx="9"/>
          </p:nvPr>
        </p:nvSpPr>
        <p:spPr>
          <a:xfrm>
            <a:off x="0"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25" name="Slide Number Placeholder 6">
            <a:extLst>
              <a:ext uri="{FF2B5EF4-FFF2-40B4-BE49-F238E27FC236}">
                <a16:creationId xmlns:a16="http://schemas.microsoft.com/office/drawing/2014/main" id="{B902C701-E12D-1AC3-D907-96D4D4EE3B4F}"/>
              </a:ext>
            </a:extLst>
          </p:cNvPr>
          <p:cNvSpPr txBox="1">
            <a:spLocks noGrp="1"/>
          </p:cNvSpPr>
          <p:nvPr>
            <p:ph type="sldNum" sz="quarter" idx="8"/>
          </p:nvPr>
        </p:nvSpPr>
        <p:spPr>
          <a:xfrm>
            <a:off x="3884613"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F91F18F7-5748-424B-8230-CCFF3BFBFEF3}" type="slidenum">
              <a:rPr/>
              <a:pPr>
                <a:defRPr/>
              </a:pPr>
              <a:t>‹#›</a:t>
            </a:fld>
            <a:endParaRPr/>
          </a:p>
        </p:txBody>
      </p:sp>
      <p:sp>
        <p:nvSpPr>
          <p:cNvPr id="26" name="Header Placeholder 1">
            <a:extLst>
              <a:ext uri="{FF2B5EF4-FFF2-40B4-BE49-F238E27FC236}">
                <a16:creationId xmlns:a16="http://schemas.microsoft.com/office/drawing/2014/main" id="{6310870B-6BCC-E7A9-3B34-B16A3442C2D7}"/>
              </a:ext>
            </a:extLst>
          </p:cNvPr>
          <p:cNvSpPr txBox="1">
            <a:spLocks noGrp="1"/>
          </p:cNvSpPr>
          <p:nvPr>
            <p:ph type="hdr" sz="quarter" idx="10"/>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27" name="Date Placeholder 2">
            <a:extLst>
              <a:ext uri="{FF2B5EF4-FFF2-40B4-BE49-F238E27FC236}">
                <a16:creationId xmlns:a16="http://schemas.microsoft.com/office/drawing/2014/main" id="{57108C69-2CFA-1392-4072-D182F9E1CF54}"/>
              </a:ext>
            </a:extLst>
          </p:cNvPr>
          <p:cNvSpPr txBox="1">
            <a:spLocks noGrp="1"/>
          </p:cNvSpPr>
          <p:nvPr>
            <p:ph type="dt" sz="quarter" idx="7"/>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CACDDD5F-E76D-4D12-B26A-5ED5B31E2679}" type="datetime1">
              <a:rPr lang="en-US"/>
              <a:pPr>
                <a:defRPr/>
              </a:pPr>
              <a:t>7/8/2026</a:t>
            </a:fld>
            <a:endParaRPr/>
          </a:p>
        </p:txBody>
      </p:sp>
      <p:sp>
        <p:nvSpPr>
          <p:cNvPr id="3100" name="Slide Image Placeholder 3">
            <a:extLst>
              <a:ext uri="{FF2B5EF4-FFF2-40B4-BE49-F238E27FC236}">
                <a16:creationId xmlns:a16="http://schemas.microsoft.com/office/drawing/2014/main" id="{CA3E74F0-C95E-7AED-70C8-D3493F95381E}"/>
              </a:ext>
            </a:extLst>
          </p:cNvPr>
          <p:cNvSpPr>
            <a:spLocks noGrp="1" noRot="1" noChangeAspect="1"/>
          </p:cNvSpPr>
          <p:nvPr>
            <p:ph type="sldImg" sz="quarter" idx="4294967295"/>
          </p:nvPr>
        </p:nvSpPr>
        <p:spPr bwMode="auto">
          <a:xfrm>
            <a:off x="685800" y="1143000"/>
            <a:ext cx="5486400" cy="3086100"/>
          </a:xfrm>
          <a:prstGeom prst="rect">
            <a:avLst/>
          </a:prstGeom>
          <a:noFill/>
          <a:ln w="12701">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 name="Notes Placeholder 4">
            <a:extLst>
              <a:ext uri="{FF2B5EF4-FFF2-40B4-BE49-F238E27FC236}">
                <a16:creationId xmlns:a16="http://schemas.microsoft.com/office/drawing/2014/main" id="{D7DBF5F7-53C2-0AEA-D1DA-EF1F3DC2BA77}"/>
              </a:ext>
            </a:extLst>
          </p:cNvPr>
          <p:cNvSpPr txBox="1">
            <a:spLocks noGrp="1"/>
          </p:cNvSpPr>
          <p:nvPr>
            <p:ph type="body" sz="quarter" idx="4294967295"/>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Footer Placeholder 5">
            <a:extLst>
              <a:ext uri="{FF2B5EF4-FFF2-40B4-BE49-F238E27FC236}">
                <a16:creationId xmlns:a16="http://schemas.microsoft.com/office/drawing/2014/main" id="{0B00686C-03F0-1CC3-0FDB-8B8EE12DE414}"/>
              </a:ext>
            </a:extLst>
          </p:cNvPr>
          <p:cNvSpPr txBox="1">
            <a:spLocks noGrp="1"/>
          </p:cNvSpPr>
          <p:nvPr>
            <p:ph type="ftr" sz="quarter" idx="9"/>
          </p:nvPr>
        </p:nvSpPr>
        <p:spPr>
          <a:xfrm>
            <a:off x="0"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endParaRPr/>
          </a:p>
        </p:txBody>
      </p:sp>
      <p:sp>
        <p:nvSpPr>
          <p:cNvPr id="31" name="Slide Number Placeholder 6">
            <a:extLst>
              <a:ext uri="{FF2B5EF4-FFF2-40B4-BE49-F238E27FC236}">
                <a16:creationId xmlns:a16="http://schemas.microsoft.com/office/drawing/2014/main" id="{04BA9B30-D852-0EC3-C71A-B4E72D784DF5}"/>
              </a:ext>
            </a:extLst>
          </p:cNvPr>
          <p:cNvSpPr txBox="1">
            <a:spLocks noGrp="1"/>
          </p:cNvSpPr>
          <p:nvPr>
            <p:ph type="sldNum" sz="quarter" idx="8"/>
          </p:nvPr>
        </p:nvSpPr>
        <p:spPr>
          <a:xfrm>
            <a:off x="3884613" y="8685213"/>
            <a:ext cx="2971800" cy="458787"/>
          </a:xfrm>
          <a:prstGeom prst="rect">
            <a:avLst/>
          </a:prstGeom>
          <a:noFill/>
          <a:ln>
            <a:noFill/>
          </a:ln>
        </p:spPr>
        <p:txBody>
          <a:bodyPr vert="horz" wrap="square" lIns="91440" tIns="45720" rIns="91440" bIns="45720" anchor="b" anchorCtr="0" compatLnSpc="1">
            <a:noAutofit/>
          </a:bodyPr>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a:defRPr/>
            </a:pPr>
            <a:fld id="{1FCD274E-9B62-49CE-8BD9-8F85F5904CC6}" type="slidenum">
              <a:rPr/>
              <a:pPr>
                <a:defRPr/>
              </a:pPr>
              <a:t>‹#›</a:t>
            </a:fld>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lang="en-US" sz="1200" kern="1200">
        <a:solidFill>
          <a:srgbClr val="000000"/>
        </a:solidFill>
        <a:latin typeface="Aptos"/>
      </a:defRPr>
    </a:lvl1pPr>
    <a:lvl2pPr marL="457200" lvl="1" algn="l" rtl="0" eaLnBrk="0" fontAlgn="base" hangingPunct="0">
      <a:spcBef>
        <a:spcPct val="0"/>
      </a:spcBef>
      <a:spcAft>
        <a:spcPct val="0"/>
      </a:spcAft>
      <a:defRPr lang="en-US" sz="1200" kern="1200">
        <a:solidFill>
          <a:srgbClr val="000000"/>
        </a:solidFill>
        <a:latin typeface="Aptos"/>
      </a:defRPr>
    </a:lvl2pPr>
    <a:lvl3pPr marL="914400" lvl="2" algn="l" rtl="0" eaLnBrk="0" fontAlgn="base" hangingPunct="0">
      <a:spcBef>
        <a:spcPct val="0"/>
      </a:spcBef>
      <a:spcAft>
        <a:spcPct val="0"/>
      </a:spcAft>
      <a:defRPr lang="en-US" sz="1200" kern="1200">
        <a:solidFill>
          <a:srgbClr val="000000"/>
        </a:solidFill>
        <a:latin typeface="Aptos"/>
      </a:defRPr>
    </a:lvl3pPr>
    <a:lvl4pPr marL="1371600" lvl="3" algn="l" rtl="0" eaLnBrk="0" fontAlgn="base" hangingPunct="0">
      <a:spcBef>
        <a:spcPct val="0"/>
      </a:spcBef>
      <a:spcAft>
        <a:spcPct val="0"/>
      </a:spcAft>
      <a:defRPr lang="en-US" sz="1200" kern="1200">
        <a:solidFill>
          <a:srgbClr val="000000"/>
        </a:solidFill>
        <a:latin typeface="Aptos"/>
      </a:defRPr>
    </a:lvl4pPr>
    <a:lvl5pPr marL="1828800" lvl="4" algn="l" rtl="0" eaLnBrk="0" fontAlgn="base" hangingPunct="0">
      <a:spcBef>
        <a:spcPct val="0"/>
      </a:spcBef>
      <a:spcAft>
        <a:spcPct val="0"/>
      </a:spcAft>
      <a:defRPr lang="en-US" sz="1200" kern="1200">
        <a:solidFill>
          <a:srgbClr val="000000"/>
        </a:solidFill>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895B3160-A07C-578D-BAC1-15C091BAC99B}"/>
              </a:ext>
            </a:extLst>
          </p:cNvPr>
          <p:cNvSpPr>
            <a:spLocks noGrp="1" noRot="1" noChangeAspect="1" noTextEdit="1"/>
          </p:cNvSpPr>
          <p:nvPr>
            <p:ph type="sldImg"/>
          </p:nvPr>
        </p:nvSpPr>
        <p:spPr>
          <a:ln/>
        </p:spPr>
      </p:sp>
      <p:sp>
        <p:nvSpPr>
          <p:cNvPr id="6147" name="Notes Placeholder 2">
            <a:extLst>
              <a:ext uri="{FF2B5EF4-FFF2-40B4-BE49-F238E27FC236}">
                <a16:creationId xmlns:a16="http://schemas.microsoft.com/office/drawing/2014/main" id="{FD08F1FA-4BC8-CEF1-EF32-3621825CAF47}"/>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endParaRPr lang="en-GB" altLang="en-US">
              <a:latin typeface="Aptos" panose="020B0004020202020204" pitchFamily="34" charset="0"/>
            </a:endParaRPr>
          </a:p>
        </p:txBody>
      </p:sp>
      <p:sp>
        <p:nvSpPr>
          <p:cNvPr id="6148" name="Slide Number Placeholder 3">
            <a:extLst>
              <a:ext uri="{FF2B5EF4-FFF2-40B4-BE49-F238E27FC236}">
                <a16:creationId xmlns:a16="http://schemas.microsoft.com/office/drawing/2014/main" id="{48CE5F27-39C8-D7DD-337C-3A17FD9E4CE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31C0BCD2-7251-48B3-82BC-DA997610667B}" type="slidenum">
              <a:rPr lang="en-GB" altLang="en-US" sz="1200">
                <a:solidFill>
                  <a:srgbClr val="000000"/>
                </a:solidFill>
              </a:rPr>
              <a:pPr algn="r" eaLnBrk="1" hangingPunct="1"/>
              <a:t>2</a:t>
            </a:fld>
            <a:endParaRPr lang="en-GB" altLang="en-US" sz="120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2">
            <a:extLst>
              <a:ext uri="{FF2B5EF4-FFF2-40B4-BE49-F238E27FC236}">
                <a16:creationId xmlns:a16="http://schemas.microsoft.com/office/drawing/2014/main" id="{733E5F15-BA1D-473B-18A9-7251C472155F}"/>
              </a:ext>
            </a:extLst>
          </p:cNvPr>
          <p:cNvSpPr txBox="1">
            <a:spLocks noChangeArrowheads="1"/>
          </p:cNvSpPr>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930A084B-8191-4E4B-8DD6-71335CD47BF7}" type="datetime1">
              <a:rPr lang="en-GB" altLang="en-US" sz="1200">
                <a:solidFill>
                  <a:srgbClr val="000000"/>
                </a:solidFill>
                <a:latin typeface="Calibri" panose="020F0502020204030204" pitchFamily="34" charset="0"/>
                <a:ea typeface="DejaVu Sans"/>
                <a:cs typeface="DejaVu Sans"/>
              </a:rPr>
              <a:pPr algn="r" eaLnBrk="1" hangingPunct="1"/>
              <a:t>08/07/2026</a:t>
            </a:fld>
            <a:endParaRPr lang="en-GB" altLang="en-US" sz="1200">
              <a:solidFill>
                <a:srgbClr val="000000"/>
              </a:solidFill>
              <a:latin typeface="Calibri" panose="020F0502020204030204" pitchFamily="34" charset="0"/>
              <a:ea typeface="DejaVu Sans"/>
              <a:cs typeface="DejaVu Sans"/>
            </a:endParaRPr>
          </a:p>
        </p:txBody>
      </p:sp>
      <p:sp>
        <p:nvSpPr>
          <p:cNvPr id="3" name="Slide Number Placeholder 6">
            <a:extLst>
              <a:ext uri="{FF2B5EF4-FFF2-40B4-BE49-F238E27FC236}">
                <a16:creationId xmlns:a16="http://schemas.microsoft.com/office/drawing/2014/main" id="{97F1C6E1-3180-9311-D167-8958B393AB32}"/>
              </a:ext>
            </a:extLst>
          </p:cNvPr>
          <p:cNvSpPr txBox="1"/>
          <p:nvPr/>
        </p:nvSpPr>
        <p:spPr>
          <a:xfrm>
            <a:off x="3884613" y="8685213"/>
            <a:ext cx="2971800" cy="458787"/>
          </a:xfrm>
          <a:prstGeom prst="rect">
            <a:avLst/>
          </a:prstGeom>
          <a:noFill/>
          <a:ln cap="flat">
            <a:noFill/>
          </a:ln>
        </p:spPr>
        <p:txBody>
          <a:bodyPr anchor="b"/>
          <a:lstStyle/>
          <a:p>
            <a:pPr algn="r" eaLnBrk="1" fontAlgn="auto" hangingPunct="1">
              <a:spcBef>
                <a:spcPts val="0"/>
              </a:spcBef>
              <a:spcAft>
                <a:spcPts val="0"/>
              </a:spcAft>
              <a:defRPr sz="1800" b="0" i="0" u="none" strike="noStrike" kern="0" cap="none" spc="0" baseline="0">
                <a:solidFill>
                  <a:srgbClr val="000000"/>
                </a:solidFill>
                <a:uFillTx/>
              </a:defRPr>
            </a:pPr>
            <a:fld id="{DA5863D2-A7A0-4E95-89EA-81002E22D36C}" type="slidenum">
              <a:rPr lang="en-US" kern="0">
                <a:solidFill>
                  <a:srgbClr val="000000"/>
                </a:solidFill>
                <a:latin typeface="Aptos"/>
              </a:rPr>
              <a:pPr algn="r" eaLnBrk="1" fontAlgn="auto" hangingPunct="1">
                <a:spcBef>
                  <a:spcPts val="0"/>
                </a:spcBef>
                <a:spcAft>
                  <a:spcPts val="0"/>
                </a:spcAft>
                <a:defRPr sz="1800" b="0" i="0" u="none" strike="noStrike" kern="0" cap="none" spc="0" baseline="0">
                  <a:solidFill>
                    <a:srgbClr val="000000"/>
                  </a:solidFill>
                  <a:uFillTx/>
                </a:defRPr>
              </a:pPr>
              <a:t>5</a:t>
            </a:fld>
            <a:endParaRPr lang="en-US" sz="1200" kern="0">
              <a:solidFill>
                <a:srgbClr val="000000"/>
              </a:solidFill>
              <a:latin typeface="Calibri"/>
              <a:ea typeface="DejaVu Sans" pitchFamily="2"/>
              <a:cs typeface="DejaVu Sans" pitchFamily="2"/>
            </a:endParaRPr>
          </a:p>
        </p:txBody>
      </p:sp>
      <p:sp>
        <p:nvSpPr>
          <p:cNvPr id="10244" name="Slide Image Placeholder 1">
            <a:extLst>
              <a:ext uri="{FF2B5EF4-FFF2-40B4-BE49-F238E27FC236}">
                <a16:creationId xmlns:a16="http://schemas.microsoft.com/office/drawing/2014/main" id="{21A219C3-6705-9FE5-60FE-45DE50FCA38B}"/>
              </a:ext>
            </a:extLst>
          </p:cNvPr>
          <p:cNvSpPr>
            <a:spLocks noGrp="1" noRot="1" noChangeAspect="1" noTextEdit="1"/>
          </p:cNvSpPr>
          <p:nvPr>
            <p:ph type="sldImg"/>
          </p:nvPr>
        </p:nvSpPr>
        <p:spPr>
          <a:solidFill>
            <a:srgbClr val="4472C4"/>
          </a:solidFill>
          <a:ln w="12600" cap="flat">
            <a:solidFill>
              <a:srgbClr val="2F528F"/>
            </a:solidFill>
          </a:ln>
        </p:spPr>
      </p:sp>
      <p:sp>
        <p:nvSpPr>
          <p:cNvPr id="10245" name="Notes Placeholder 2">
            <a:extLst>
              <a:ext uri="{FF2B5EF4-FFF2-40B4-BE49-F238E27FC236}">
                <a16:creationId xmlns:a16="http://schemas.microsoft.com/office/drawing/2014/main" id="{2E31A3FD-10D9-4EFB-BF29-1906D7BDE024}"/>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numCol="1">
            <a:prstTxWarp prst="textNoShape">
              <a:avLst/>
            </a:prstTxWarp>
          </a:bodyPr>
          <a:lstStyle/>
          <a:p>
            <a:pPr eaLnBrk="1" hangingPunct="1"/>
            <a:r>
              <a:rPr lang="en-GB" altLang="en-US">
                <a:latin typeface="Aptos" panose="020B0004020202020204" pitchFamily="34" charset="0"/>
              </a:rPr>
              <a:t>And uses their inherent differences (presence of intron) to distinguish them and quantify or estimate them seprateky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007FF1EE-83AC-6CAB-2799-D6178C796986}"/>
              </a:ext>
            </a:extLst>
          </p:cNvPr>
          <p:cNvSpPr>
            <a:spLocks noGrp="1" noRot="1" noChangeAspect="1" noTextEdit="1"/>
          </p:cNvSpPr>
          <p:nvPr>
            <p:ph type="sldImg"/>
          </p:nvPr>
        </p:nvSpPr>
        <p:spPr>
          <a:ln/>
        </p:spPr>
      </p:sp>
      <p:sp>
        <p:nvSpPr>
          <p:cNvPr id="12291" name="Notes Placeholder 2">
            <a:extLst>
              <a:ext uri="{FF2B5EF4-FFF2-40B4-BE49-F238E27FC236}">
                <a16:creationId xmlns:a16="http://schemas.microsoft.com/office/drawing/2014/main" id="{C3FC65B5-8A44-2578-AD26-B77BFA3DA652}"/>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r>
              <a:rPr lang="en-GB" altLang="en-US">
                <a:latin typeface="Aptos" panose="020B0004020202020204" pitchFamily="34" charset="0"/>
              </a:rPr>
              <a:t>To simplify that done, more unsplised than spliced….</a:t>
            </a:r>
          </a:p>
        </p:txBody>
      </p:sp>
      <p:sp>
        <p:nvSpPr>
          <p:cNvPr id="12292" name="Slide Number Placeholder 3">
            <a:extLst>
              <a:ext uri="{FF2B5EF4-FFF2-40B4-BE49-F238E27FC236}">
                <a16:creationId xmlns:a16="http://schemas.microsoft.com/office/drawing/2014/main" id="{24DE5F14-CB2A-B281-B70E-F5F3F660359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E7FB39DC-3373-4511-81CF-4100799E050F}" type="slidenum">
              <a:rPr lang="en-GB" altLang="en-US" sz="1200">
                <a:solidFill>
                  <a:srgbClr val="000000"/>
                </a:solidFill>
              </a:rPr>
              <a:pPr algn="r" eaLnBrk="1" hangingPunct="1"/>
              <a:t>6</a:t>
            </a:fld>
            <a:endParaRPr lang="en-GB" altLang="en-US" sz="1200">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C4DB9184-D770-2C7A-FC7C-17B28BD36815}"/>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25492622-E5BD-BD1E-BD19-34BDAF8C8A2B}"/>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r>
              <a:rPr lang="en-GB" altLang="en-US">
                <a:latin typeface="Aptos" panose="020B0004020202020204" pitchFamily="34" charset="0"/>
              </a:rPr>
              <a:t>To simplify that done, more unsplised than spliced….</a:t>
            </a:r>
          </a:p>
        </p:txBody>
      </p:sp>
      <p:sp>
        <p:nvSpPr>
          <p:cNvPr id="14340" name="Slide Number Placeholder 3">
            <a:extLst>
              <a:ext uri="{FF2B5EF4-FFF2-40B4-BE49-F238E27FC236}">
                <a16:creationId xmlns:a16="http://schemas.microsoft.com/office/drawing/2014/main" id="{C890BB58-2E39-6B40-E3BB-7A000AE7A824}"/>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26D640BE-7E9D-41C3-9271-EBB40FF720D6}" type="slidenum">
              <a:rPr lang="en-GB" altLang="en-US" sz="1200">
                <a:solidFill>
                  <a:srgbClr val="000000"/>
                </a:solidFill>
              </a:rPr>
              <a:pPr algn="r" eaLnBrk="1" hangingPunct="1"/>
              <a:t>7</a:t>
            </a:fld>
            <a:endParaRPr lang="en-GB"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8302E68F-468B-0695-CE0A-DCE28802DFCA}"/>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79E05DCC-1B2A-83B3-B06A-997CBA54ACBD}"/>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lnSpc>
                <a:spcPct val="150000"/>
              </a:lnSpc>
              <a:spcBef>
                <a:spcPts val="1200"/>
              </a:spcBef>
              <a:spcAft>
                <a:spcPts val="1200"/>
              </a:spcAft>
            </a:pPr>
            <a:endParaRPr lang="en-GB" altLang="en-US" sz="1800">
              <a:latin typeface="Calibri" panose="020F0502020204030204" pitchFamily="34" charset="0"/>
            </a:endParaRPr>
          </a:p>
          <a:p>
            <a:pPr eaLnBrk="1" hangingPunct="1">
              <a:lnSpc>
                <a:spcPct val="150000"/>
              </a:lnSpc>
              <a:spcBef>
                <a:spcPts val="1200"/>
              </a:spcBef>
              <a:spcAft>
                <a:spcPts val="1200"/>
              </a:spcAft>
            </a:pPr>
            <a:r>
              <a:rPr lang="en-GB" altLang="en-US" sz="1800">
                <a:latin typeface="Calibri" panose="020F0502020204030204" pitchFamily="34" charset="0"/>
              </a:rPr>
              <a:t>Rna velocities are magnitude and length of rna velocity vakyes</a:t>
            </a:r>
          </a:p>
          <a:p>
            <a:pPr eaLnBrk="1" hangingPunct="1">
              <a:lnSpc>
                <a:spcPct val="150000"/>
              </a:lnSpc>
              <a:spcBef>
                <a:spcPts val="1200"/>
              </a:spcBef>
              <a:spcAft>
                <a:spcPts val="1200"/>
              </a:spcAft>
            </a:pPr>
            <a:r>
              <a:rPr lang="en-GB" altLang="en-US" sz="1800">
                <a:latin typeface="Calibri" panose="020F0502020204030204" pitchFamily="34" charset="0"/>
              </a:rPr>
              <a:t>Hence non-zero RNA velocity values can be defined as a deviation from the gene being in a steady state because they indicate that the actual unspliced transcript abundance is different from that predicted by the steady state model. A positive RNA Velocity indicates that the observed unspliced transcript abundance is higher than the predicted and hence there is gene expression upregulation. A negative RNA Velocity indicates that the observed unspliced transcript abundance is lower than the predicted or expected level and hence there is gene expression downregulation.</a:t>
            </a:r>
            <a:endParaRPr lang="en-GB" altLang="en-US" sz="1800">
              <a:latin typeface="Liberation Serif"/>
            </a:endParaRPr>
          </a:p>
        </p:txBody>
      </p:sp>
      <p:sp>
        <p:nvSpPr>
          <p:cNvPr id="16388" name="Slide Number Placeholder 3">
            <a:extLst>
              <a:ext uri="{FF2B5EF4-FFF2-40B4-BE49-F238E27FC236}">
                <a16:creationId xmlns:a16="http://schemas.microsoft.com/office/drawing/2014/main" id="{3AFEB86A-24AD-569B-C1F8-F51DBFEF8AFF}"/>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BB9F832C-0CC3-4338-A011-5C0C0918CE68}" type="slidenum">
              <a:rPr lang="en-GB" altLang="en-US" sz="1200">
                <a:solidFill>
                  <a:srgbClr val="000000"/>
                </a:solidFill>
              </a:rPr>
              <a:pPr algn="r" eaLnBrk="1" hangingPunct="1"/>
              <a:t>8</a:t>
            </a:fld>
            <a:endParaRPr lang="en-GB" altLang="en-US" sz="1200">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20A77576-3A9B-3F3D-27AF-5E9F5699435B}"/>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75D8D8FB-1614-6A39-685D-BDDEB4732D59}"/>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endParaRPr lang="en-GB" altLang="en-US">
              <a:latin typeface="Aptos" panose="020B0004020202020204" pitchFamily="34" charset="0"/>
            </a:endParaRPr>
          </a:p>
        </p:txBody>
      </p:sp>
      <p:sp>
        <p:nvSpPr>
          <p:cNvPr id="18436" name="Slide Number Placeholder 3">
            <a:extLst>
              <a:ext uri="{FF2B5EF4-FFF2-40B4-BE49-F238E27FC236}">
                <a16:creationId xmlns:a16="http://schemas.microsoft.com/office/drawing/2014/main" id="{5A19F1A8-3B77-4734-69DF-70B9732D0CDB}"/>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E9EFAF54-DC43-47EC-8744-D484E7BBEB02}" type="slidenum">
              <a:rPr lang="en-GB" altLang="en-US" sz="1200">
                <a:solidFill>
                  <a:srgbClr val="000000"/>
                </a:solidFill>
              </a:rPr>
              <a:pPr algn="r" eaLnBrk="1" hangingPunct="1"/>
              <a:t>9</a:t>
            </a:fld>
            <a:endParaRPr lang="en-GB" altLang="en-US" sz="1200">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E3FD791F-244B-451D-05BA-985FA1E7136F}"/>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DF6267C7-3860-081B-F1B2-5101F85F9DAD}"/>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endParaRPr lang="en-GB" altLang="en-US">
              <a:latin typeface="Aptos" panose="020B0004020202020204" pitchFamily="34" charset="0"/>
            </a:endParaRPr>
          </a:p>
        </p:txBody>
      </p:sp>
      <p:sp>
        <p:nvSpPr>
          <p:cNvPr id="23556" name="Slide Number Placeholder 3">
            <a:extLst>
              <a:ext uri="{FF2B5EF4-FFF2-40B4-BE49-F238E27FC236}">
                <a16:creationId xmlns:a16="http://schemas.microsoft.com/office/drawing/2014/main" id="{BED5735C-BDEE-E9E3-AFED-4FFBA1299E9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88DD5672-2BF3-4A8B-866E-F89B6E7B927C}" type="slidenum">
              <a:rPr lang="en-GB" altLang="en-US" sz="1200">
                <a:solidFill>
                  <a:srgbClr val="000000"/>
                </a:solidFill>
              </a:rPr>
              <a:pPr algn="r" eaLnBrk="1" hangingPunct="1"/>
              <a:t>13</a:t>
            </a:fld>
            <a:endParaRPr lang="en-GB" altLang="en-US" sz="1200">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37A431FF-6AAC-A9B2-4355-EBC3E2CB3F5A}"/>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9AD75411-8B85-6E92-3B35-4BEEED82B5AF}"/>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r>
              <a:rPr altLang="en-US" u="sng">
                <a:solidFill>
                  <a:srgbClr val="D13438"/>
                </a:solidFill>
                <a:latin typeface="Calibri" panose="020F0502020204030204" pitchFamily="34" charset="0"/>
              </a:rPr>
              <a:t>However, these 7 subjects had a median TP value of 0.36 (range 0.0-1.0), which was significantly higher than the median TP value in those not requiring later admission to PICU (n=177, median TP 0.0070, range X-Y, Wilcoxon signed rank p-value 0.045).</a:t>
            </a:r>
            <a:endParaRPr lang="en-GB" altLang="en-US">
              <a:latin typeface="Aptos" panose="020B0004020202020204" pitchFamily="34" charset="0"/>
            </a:endParaRPr>
          </a:p>
          <a:p>
            <a:pPr eaLnBrk="1" hangingPunct="1"/>
            <a:endParaRPr lang="en-GB" altLang="en-US">
              <a:latin typeface="Aptos" panose="020B0004020202020204" pitchFamily="34" charset="0"/>
            </a:endParaRPr>
          </a:p>
        </p:txBody>
      </p:sp>
      <p:sp>
        <p:nvSpPr>
          <p:cNvPr id="27652" name="Slide Number Placeholder 3">
            <a:extLst>
              <a:ext uri="{FF2B5EF4-FFF2-40B4-BE49-F238E27FC236}">
                <a16:creationId xmlns:a16="http://schemas.microsoft.com/office/drawing/2014/main" id="{A5981B7A-9180-6EF2-564C-482CFB379F92}"/>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F3C2F53F-8260-4001-822A-910B30F0CC31}" type="slidenum">
              <a:rPr lang="en-US" altLang="en-US" sz="1200">
                <a:solidFill>
                  <a:srgbClr val="000000"/>
                </a:solidFill>
              </a:rPr>
              <a:pPr algn="r" eaLnBrk="1" hangingPunct="1"/>
              <a:t>16</a:t>
            </a:fld>
            <a:endParaRPr lang="en-US" altLang="en-US" sz="1200">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7D77335F-59EB-C5A9-05AD-6855816BA49A}"/>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4E64C255-4071-D8FF-8704-F0D1C209ACA4}"/>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endParaRPr lang="en-GB" altLang="en-US">
              <a:latin typeface="Aptos" panose="020B0004020202020204" pitchFamily="34" charset="0"/>
            </a:endParaRPr>
          </a:p>
        </p:txBody>
      </p:sp>
      <p:sp>
        <p:nvSpPr>
          <p:cNvPr id="33796" name="Slide Number Placeholder 3">
            <a:extLst>
              <a:ext uri="{FF2B5EF4-FFF2-40B4-BE49-F238E27FC236}">
                <a16:creationId xmlns:a16="http://schemas.microsoft.com/office/drawing/2014/main" id="{71ADF1B3-6062-0CCE-AB14-95CC8AA2BF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A332269B-AA1E-41A1-B9EA-45D809BA25D5}" type="slidenum">
              <a:rPr altLang="en-US" smtClean="0">
                <a:solidFill>
                  <a:srgbClr val="000000"/>
                </a:solidFill>
              </a:rPr>
              <a:pPr fontAlgn="base">
                <a:spcBef>
                  <a:spcPct val="0"/>
                </a:spcBef>
                <a:spcAft>
                  <a:spcPct val="0"/>
                </a:spcAft>
              </a:pPr>
              <a:t>21</a:t>
            </a:fld>
            <a:endParaRPr altLang="en-US">
              <a:solidFill>
                <a:srgbClr val="000000"/>
              </a:solidFill>
            </a:endParaRPr>
          </a:p>
        </p:txBody>
      </p:sp>
      <p:sp>
        <p:nvSpPr>
          <p:cNvPr id="33797" name="Slide Number Placeholder 4">
            <a:extLst>
              <a:ext uri="{FF2B5EF4-FFF2-40B4-BE49-F238E27FC236}">
                <a16:creationId xmlns:a16="http://schemas.microsoft.com/office/drawing/2014/main" id="{7B36E1BC-3E67-496C-963D-8537A23F11AC}"/>
              </a:ext>
            </a:extLst>
          </p:cNvPr>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1AB0DB10-99EF-4CA2-9F5A-BCA5572D8AAD}" type="slidenum">
              <a:rPr lang="en-GB" altLang="en-US" sz="1200">
                <a:solidFill>
                  <a:srgbClr val="000000"/>
                </a:solidFill>
              </a:rPr>
              <a:pPr algn="r" eaLnBrk="1" hangingPunct="1"/>
              <a:t>21</a:t>
            </a:fld>
            <a:endParaRPr lang="en-GB" altLang="en-US" sz="1200">
              <a:solidFill>
                <a:srgbClr val="000000"/>
              </a:solidFill>
            </a:endParaRPr>
          </a:p>
        </p:txBody>
      </p:sp>
      <p:sp>
        <p:nvSpPr>
          <p:cNvPr id="33798" name="Slide Number Placeholder 5">
            <a:extLst>
              <a:ext uri="{FF2B5EF4-FFF2-40B4-BE49-F238E27FC236}">
                <a16:creationId xmlns:a16="http://schemas.microsoft.com/office/drawing/2014/main" id="{0F7AD062-2A82-4105-7318-A8B4719C2068}"/>
              </a:ext>
            </a:extLst>
          </p:cNvPr>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F816FADC-C0A2-434B-A542-B1552246210D}" type="slidenum">
              <a:rPr lang="en-GB" altLang="en-US" sz="1200">
                <a:solidFill>
                  <a:srgbClr val="000000"/>
                </a:solidFill>
              </a:rPr>
              <a:pPr algn="r" eaLnBrk="1" hangingPunct="1"/>
              <a:t>21</a:t>
            </a:fld>
            <a:endParaRPr lang="en-GB" altLang="en-US" sz="1200">
              <a:solidFill>
                <a:srgbClr val="000000"/>
              </a:solidFill>
            </a:endParaRPr>
          </a:p>
        </p:txBody>
      </p:sp>
      <p:sp>
        <p:nvSpPr>
          <p:cNvPr id="33799" name="Slide Number Placeholder 6">
            <a:extLst>
              <a:ext uri="{FF2B5EF4-FFF2-40B4-BE49-F238E27FC236}">
                <a16:creationId xmlns:a16="http://schemas.microsoft.com/office/drawing/2014/main" id="{B1EFB176-968D-CD4E-39C8-D5814574B04B}"/>
              </a:ext>
            </a:extLst>
          </p:cNvPr>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3164C956-F816-4A84-93E4-8F67B066A5BF}" type="slidenum">
              <a:rPr lang="en-GB" altLang="en-US" sz="1200">
                <a:solidFill>
                  <a:srgbClr val="000000"/>
                </a:solidFill>
              </a:rPr>
              <a:pPr algn="r" eaLnBrk="1" hangingPunct="1"/>
              <a:t>21</a:t>
            </a:fld>
            <a:endParaRPr lang="en-GB" altLang="en-US" sz="1200">
              <a:solidFill>
                <a:srgbClr val="000000"/>
              </a:solidFill>
            </a:endParaRPr>
          </a:p>
        </p:txBody>
      </p:sp>
      <p:sp>
        <p:nvSpPr>
          <p:cNvPr id="33800" name="Slide Number Placeholder 7">
            <a:extLst>
              <a:ext uri="{FF2B5EF4-FFF2-40B4-BE49-F238E27FC236}">
                <a16:creationId xmlns:a16="http://schemas.microsoft.com/office/drawing/2014/main" id="{C1412F94-C0E3-0AAF-0939-5EDB2246085E}"/>
              </a:ext>
            </a:extLst>
          </p:cNvPr>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3F019698-4756-421A-A02F-CD89EAAC5095}" type="slidenum">
              <a:rPr lang="en-GB" altLang="en-US" sz="1200">
                <a:solidFill>
                  <a:srgbClr val="000000"/>
                </a:solidFill>
              </a:rPr>
              <a:pPr algn="r" eaLnBrk="1" hangingPunct="1"/>
              <a:t>21</a:t>
            </a:fld>
            <a:endParaRPr lang="en-GB" altLang="en-US" sz="1200">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A59797D7-47BB-5ACE-D495-21AFE6DF6553}"/>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5F4FED3F-564A-1942-7EC7-B42576B753EC}"/>
              </a:ext>
            </a:extLst>
          </p:cNvPr>
          <p:cNvSpPr txBox="1">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pPr eaLnBrk="1" hangingPunct="1"/>
            <a:endParaRPr lang="en-GB" altLang="en-US">
              <a:latin typeface="Aptos" panose="020B0004020202020204" pitchFamily="34" charset="0"/>
            </a:endParaRPr>
          </a:p>
        </p:txBody>
      </p:sp>
      <p:sp>
        <p:nvSpPr>
          <p:cNvPr id="38916" name="Slide Number Placeholder 3">
            <a:extLst>
              <a:ext uri="{FF2B5EF4-FFF2-40B4-BE49-F238E27FC236}">
                <a16:creationId xmlns:a16="http://schemas.microsoft.com/office/drawing/2014/main" id="{DB9C6A32-0198-08C3-A6AD-7FB6DDD598FA}"/>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eaLnBrk="1" hangingPunct="1"/>
            <a:fld id="{0427F337-8799-404B-A5D8-94AF0B683272}" type="slidenum">
              <a:rPr lang="en-GB" altLang="en-US" sz="1200">
                <a:solidFill>
                  <a:srgbClr val="000000"/>
                </a:solidFill>
              </a:rPr>
              <a:pPr algn="r" eaLnBrk="1" hangingPunct="1"/>
              <a:t>27</a:t>
            </a:fld>
            <a:endParaRPr lang="en-GB" altLang="en-US" sz="120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596F0041-F3F5-9915-141D-C5E007C1BE22}"/>
              </a:ext>
            </a:extLst>
          </p:cNvPr>
          <p:cNvSpPr txBox="1">
            <a:spLocks noGrp="1"/>
          </p:cNvSpPr>
          <p:nvPr>
            <p:ph type="dt" sz="half" idx="10"/>
          </p:nvPr>
        </p:nvSpPr>
        <p:spPr>
          <a:ln/>
        </p:spPr>
        <p:txBody>
          <a:bodyPr/>
          <a:lstStyle>
            <a:lvl1pPr>
              <a:defRPr/>
            </a:lvl1pPr>
          </a:lstStyle>
          <a:p>
            <a:pPr>
              <a:defRPr/>
            </a:pPr>
            <a:fld id="{246C598E-F969-4895-85BC-E5504D292C1B}" type="datetime1">
              <a:rPr lang="en-US"/>
              <a:pPr>
                <a:defRPr/>
              </a:pPr>
              <a:t>7/8/2026</a:t>
            </a:fld>
            <a:endParaRPr/>
          </a:p>
        </p:txBody>
      </p:sp>
      <p:sp>
        <p:nvSpPr>
          <p:cNvPr id="5" name="Footer Placeholder 4">
            <a:extLst>
              <a:ext uri="{FF2B5EF4-FFF2-40B4-BE49-F238E27FC236}">
                <a16:creationId xmlns:a16="http://schemas.microsoft.com/office/drawing/2014/main" id="{7EF26EBE-CD8F-6CEA-2592-BBE96130B48D}"/>
              </a:ext>
            </a:extLst>
          </p:cNvPr>
          <p:cNvSpPr txBox="1">
            <a:spLocks noGrp="1"/>
          </p:cNvSpPr>
          <p:nvPr>
            <p:ph type="ftr" sz="quarter" idx="11"/>
          </p:nvPr>
        </p:nvSpPr>
        <p:spPr>
          <a:ln/>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EEF3F399-D47A-5090-5F34-09AC6FFB6718}"/>
              </a:ext>
            </a:extLst>
          </p:cNvPr>
          <p:cNvSpPr txBox="1">
            <a:spLocks noGrp="1"/>
          </p:cNvSpPr>
          <p:nvPr>
            <p:ph type="sldNum" sz="quarter" idx="12"/>
          </p:nvPr>
        </p:nvSpPr>
        <p:spPr>
          <a:ln/>
        </p:spPr>
        <p:txBody>
          <a:bodyPr/>
          <a:lstStyle>
            <a:lvl1pPr>
              <a:defRPr/>
            </a:lvl1pPr>
          </a:lstStyle>
          <a:p>
            <a:pPr>
              <a:defRPr/>
            </a:pPr>
            <a:fld id="{C5B62DD8-70A0-4146-8F70-FF8D775B61B2}" type="slidenum">
              <a:rPr/>
              <a:pPr>
                <a:defRPr/>
              </a:pPr>
              <a:t>‹#›</a:t>
            </a:fld>
            <a:endParaRPr/>
          </a:p>
        </p:txBody>
      </p:sp>
    </p:spTree>
    <p:extLst>
      <p:ext uri="{BB962C8B-B14F-4D97-AF65-F5344CB8AC3E}">
        <p14:creationId xmlns:p14="http://schemas.microsoft.com/office/powerpoint/2010/main" val="5361353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D1BB9AB-5155-F4D1-D2AF-904105255C32}"/>
              </a:ext>
            </a:extLst>
          </p:cNvPr>
          <p:cNvSpPr txBox="1">
            <a:spLocks noGrp="1"/>
          </p:cNvSpPr>
          <p:nvPr>
            <p:ph type="dt" sz="half" idx="10"/>
          </p:nvPr>
        </p:nvSpPr>
        <p:spPr>
          <a:ln/>
        </p:spPr>
        <p:txBody>
          <a:bodyPr/>
          <a:lstStyle>
            <a:lvl1pPr>
              <a:defRPr/>
            </a:lvl1pPr>
          </a:lstStyle>
          <a:p>
            <a:pPr>
              <a:defRPr/>
            </a:pPr>
            <a:fld id="{3AE55FAB-7DBA-44F9-910E-7F165F5ABAD9}" type="datetime1">
              <a:rPr lang="en-US"/>
              <a:pPr>
                <a:defRPr/>
              </a:pPr>
              <a:t>7/8/2026</a:t>
            </a:fld>
            <a:endParaRPr/>
          </a:p>
        </p:txBody>
      </p:sp>
      <p:sp>
        <p:nvSpPr>
          <p:cNvPr id="5" name="Footer Placeholder 4">
            <a:extLst>
              <a:ext uri="{FF2B5EF4-FFF2-40B4-BE49-F238E27FC236}">
                <a16:creationId xmlns:a16="http://schemas.microsoft.com/office/drawing/2014/main" id="{A6044327-2479-D07D-5EE4-EE990FBDC34B}"/>
              </a:ext>
            </a:extLst>
          </p:cNvPr>
          <p:cNvSpPr txBox="1">
            <a:spLocks noGrp="1"/>
          </p:cNvSpPr>
          <p:nvPr>
            <p:ph type="ftr" sz="quarter" idx="11"/>
          </p:nvPr>
        </p:nvSpPr>
        <p:spPr>
          <a:ln/>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6090E6C7-9DE6-64D6-723A-6F3AE5119C64}"/>
              </a:ext>
            </a:extLst>
          </p:cNvPr>
          <p:cNvSpPr txBox="1">
            <a:spLocks noGrp="1"/>
          </p:cNvSpPr>
          <p:nvPr>
            <p:ph type="sldNum" sz="quarter" idx="12"/>
          </p:nvPr>
        </p:nvSpPr>
        <p:spPr>
          <a:ln/>
        </p:spPr>
        <p:txBody>
          <a:bodyPr/>
          <a:lstStyle>
            <a:lvl1pPr>
              <a:defRPr/>
            </a:lvl1pPr>
          </a:lstStyle>
          <a:p>
            <a:pPr>
              <a:defRPr/>
            </a:pPr>
            <a:fld id="{2D744562-7E7D-4395-977C-EED25281E8C9}" type="slidenum">
              <a:rPr/>
              <a:pPr>
                <a:defRPr/>
              </a:pPr>
              <a:t>‹#›</a:t>
            </a:fld>
            <a:endParaRPr/>
          </a:p>
        </p:txBody>
      </p:sp>
    </p:spTree>
    <p:extLst>
      <p:ext uri="{BB962C8B-B14F-4D97-AF65-F5344CB8AC3E}">
        <p14:creationId xmlns:p14="http://schemas.microsoft.com/office/powerpoint/2010/main" val="20776391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D22DC009-0925-1153-56F8-3AE1F276864F}"/>
              </a:ext>
            </a:extLst>
          </p:cNvPr>
          <p:cNvSpPr txBox="1">
            <a:spLocks noGrp="1"/>
          </p:cNvSpPr>
          <p:nvPr>
            <p:ph type="dt" sz="half" idx="10"/>
          </p:nvPr>
        </p:nvSpPr>
        <p:spPr>
          <a:ln/>
        </p:spPr>
        <p:txBody>
          <a:bodyPr/>
          <a:lstStyle>
            <a:lvl1pPr>
              <a:defRPr/>
            </a:lvl1pPr>
          </a:lstStyle>
          <a:p>
            <a:pPr>
              <a:defRPr/>
            </a:pPr>
            <a:fld id="{1344FA49-72F4-4C77-85A6-5948FCD0B40C}" type="datetime1">
              <a:rPr lang="en-US"/>
              <a:pPr>
                <a:defRPr/>
              </a:pPr>
              <a:t>7/8/2026</a:t>
            </a:fld>
            <a:endParaRPr/>
          </a:p>
        </p:txBody>
      </p:sp>
      <p:sp>
        <p:nvSpPr>
          <p:cNvPr id="5" name="Footer Placeholder 4">
            <a:extLst>
              <a:ext uri="{FF2B5EF4-FFF2-40B4-BE49-F238E27FC236}">
                <a16:creationId xmlns:a16="http://schemas.microsoft.com/office/drawing/2014/main" id="{CA0D6105-7791-8DE1-D1B1-129E6BC164B2}"/>
              </a:ext>
            </a:extLst>
          </p:cNvPr>
          <p:cNvSpPr txBox="1">
            <a:spLocks noGrp="1"/>
          </p:cNvSpPr>
          <p:nvPr>
            <p:ph type="ftr" sz="quarter" idx="11"/>
          </p:nvPr>
        </p:nvSpPr>
        <p:spPr>
          <a:ln/>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448FCE2B-B283-27C8-8EEC-2504969D2DF6}"/>
              </a:ext>
            </a:extLst>
          </p:cNvPr>
          <p:cNvSpPr txBox="1">
            <a:spLocks noGrp="1"/>
          </p:cNvSpPr>
          <p:nvPr>
            <p:ph type="sldNum" sz="quarter" idx="12"/>
          </p:nvPr>
        </p:nvSpPr>
        <p:spPr>
          <a:ln/>
        </p:spPr>
        <p:txBody>
          <a:bodyPr/>
          <a:lstStyle>
            <a:lvl1pPr>
              <a:defRPr/>
            </a:lvl1pPr>
          </a:lstStyle>
          <a:p>
            <a:pPr>
              <a:defRPr/>
            </a:pPr>
            <a:fld id="{FF7467F4-75F1-462F-895E-E8DCE05F85F8}" type="slidenum">
              <a:rPr/>
              <a:pPr>
                <a:defRPr/>
              </a:pPr>
              <a:t>‹#›</a:t>
            </a:fld>
            <a:endParaRPr/>
          </a:p>
        </p:txBody>
      </p:sp>
    </p:spTree>
    <p:extLst>
      <p:ext uri="{BB962C8B-B14F-4D97-AF65-F5344CB8AC3E}">
        <p14:creationId xmlns:p14="http://schemas.microsoft.com/office/powerpoint/2010/main" val="3121828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BEEC066D-3135-F558-0EBE-19C1A4AB1750}"/>
              </a:ext>
            </a:extLst>
          </p:cNvPr>
          <p:cNvSpPr txBox="1">
            <a:spLocks noGrp="1"/>
          </p:cNvSpPr>
          <p:nvPr>
            <p:ph type="dt" sz="half" idx="10"/>
          </p:nvPr>
        </p:nvSpPr>
        <p:spPr>
          <a:ln/>
        </p:spPr>
        <p:txBody>
          <a:bodyPr/>
          <a:lstStyle>
            <a:lvl1pPr>
              <a:defRPr/>
            </a:lvl1pPr>
          </a:lstStyle>
          <a:p>
            <a:pPr>
              <a:defRPr/>
            </a:pPr>
            <a:fld id="{9C59FE7E-6523-4B8C-86C2-E62114356E0D}" type="datetime1">
              <a:rPr lang="en-US"/>
              <a:pPr>
                <a:defRPr/>
              </a:pPr>
              <a:t>7/8/2026</a:t>
            </a:fld>
            <a:endParaRPr/>
          </a:p>
        </p:txBody>
      </p:sp>
      <p:sp>
        <p:nvSpPr>
          <p:cNvPr id="6" name="Footer Placeholder 4">
            <a:extLst>
              <a:ext uri="{FF2B5EF4-FFF2-40B4-BE49-F238E27FC236}">
                <a16:creationId xmlns:a16="http://schemas.microsoft.com/office/drawing/2014/main" id="{258F1E02-CE27-DED5-85AE-B49B45F22974}"/>
              </a:ext>
            </a:extLst>
          </p:cNvPr>
          <p:cNvSpPr txBox="1">
            <a:spLocks noGrp="1"/>
          </p:cNvSpPr>
          <p:nvPr>
            <p:ph type="ftr" sz="quarter" idx="11"/>
          </p:nvPr>
        </p:nvSpPr>
        <p:spPr>
          <a:ln/>
        </p:spPr>
        <p:txBody>
          <a:bodyPr/>
          <a:lstStyle>
            <a:lvl1pPr>
              <a:defRPr/>
            </a:lvl1pPr>
          </a:lstStyle>
          <a:p>
            <a:pPr>
              <a:defRPr/>
            </a:pPr>
            <a:endParaRPr/>
          </a:p>
        </p:txBody>
      </p:sp>
      <p:sp>
        <p:nvSpPr>
          <p:cNvPr id="7" name="Slide Number Placeholder 5">
            <a:extLst>
              <a:ext uri="{FF2B5EF4-FFF2-40B4-BE49-F238E27FC236}">
                <a16:creationId xmlns:a16="http://schemas.microsoft.com/office/drawing/2014/main" id="{5AC69BBD-68E5-621C-CE5E-07C7EF59880C}"/>
              </a:ext>
            </a:extLst>
          </p:cNvPr>
          <p:cNvSpPr txBox="1">
            <a:spLocks noGrp="1"/>
          </p:cNvSpPr>
          <p:nvPr>
            <p:ph type="sldNum" sz="quarter" idx="12"/>
          </p:nvPr>
        </p:nvSpPr>
        <p:spPr>
          <a:ln/>
        </p:spPr>
        <p:txBody>
          <a:bodyPr/>
          <a:lstStyle>
            <a:lvl1pPr>
              <a:defRPr/>
            </a:lvl1pPr>
          </a:lstStyle>
          <a:p>
            <a:pPr>
              <a:defRPr/>
            </a:pPr>
            <a:fld id="{D2ECD781-B828-45CF-B215-04A263EA53A2}" type="slidenum">
              <a:rPr/>
              <a:pPr>
                <a:defRPr/>
              </a:pPr>
              <a:t>‹#›</a:t>
            </a:fld>
            <a:endParaRPr/>
          </a:p>
        </p:txBody>
      </p:sp>
    </p:spTree>
    <p:extLst>
      <p:ext uri="{BB962C8B-B14F-4D97-AF65-F5344CB8AC3E}">
        <p14:creationId xmlns:p14="http://schemas.microsoft.com/office/powerpoint/2010/main" val="1222815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67AE20EE-D35A-B61F-90A6-AF72905A029B}"/>
              </a:ext>
            </a:extLst>
          </p:cNvPr>
          <p:cNvSpPr txBox="1">
            <a:spLocks noGrp="1"/>
          </p:cNvSpPr>
          <p:nvPr>
            <p:ph type="dt" sz="half" idx="10"/>
          </p:nvPr>
        </p:nvSpPr>
        <p:spPr>
          <a:ln/>
        </p:spPr>
        <p:txBody>
          <a:bodyPr/>
          <a:lstStyle>
            <a:lvl1pPr>
              <a:defRPr/>
            </a:lvl1pPr>
          </a:lstStyle>
          <a:p>
            <a:pPr>
              <a:defRPr/>
            </a:pPr>
            <a:fld id="{C59AAD3F-6BBA-41C3-BEDB-27EF4E2B1B06}" type="datetime1">
              <a:rPr lang="en-US"/>
              <a:pPr>
                <a:defRPr/>
              </a:pPr>
              <a:t>7/8/2026</a:t>
            </a:fld>
            <a:endParaRPr/>
          </a:p>
        </p:txBody>
      </p:sp>
      <p:sp>
        <p:nvSpPr>
          <p:cNvPr id="8" name="Footer Placeholder 4">
            <a:extLst>
              <a:ext uri="{FF2B5EF4-FFF2-40B4-BE49-F238E27FC236}">
                <a16:creationId xmlns:a16="http://schemas.microsoft.com/office/drawing/2014/main" id="{0F9DAAC7-3917-DF33-4023-120F33D3A1E2}"/>
              </a:ext>
            </a:extLst>
          </p:cNvPr>
          <p:cNvSpPr txBox="1">
            <a:spLocks noGrp="1"/>
          </p:cNvSpPr>
          <p:nvPr>
            <p:ph type="ftr" sz="quarter" idx="11"/>
          </p:nvPr>
        </p:nvSpPr>
        <p:spPr>
          <a:ln/>
        </p:spPr>
        <p:txBody>
          <a:bodyPr/>
          <a:lstStyle>
            <a:lvl1pPr>
              <a:defRPr/>
            </a:lvl1pPr>
          </a:lstStyle>
          <a:p>
            <a:pPr>
              <a:defRPr/>
            </a:pPr>
            <a:endParaRPr/>
          </a:p>
        </p:txBody>
      </p:sp>
      <p:sp>
        <p:nvSpPr>
          <p:cNvPr id="9" name="Slide Number Placeholder 5">
            <a:extLst>
              <a:ext uri="{FF2B5EF4-FFF2-40B4-BE49-F238E27FC236}">
                <a16:creationId xmlns:a16="http://schemas.microsoft.com/office/drawing/2014/main" id="{65C0AE8E-1433-AC78-30CA-EB2686158313}"/>
              </a:ext>
            </a:extLst>
          </p:cNvPr>
          <p:cNvSpPr txBox="1">
            <a:spLocks noGrp="1"/>
          </p:cNvSpPr>
          <p:nvPr>
            <p:ph type="sldNum" sz="quarter" idx="12"/>
          </p:nvPr>
        </p:nvSpPr>
        <p:spPr>
          <a:ln/>
        </p:spPr>
        <p:txBody>
          <a:bodyPr/>
          <a:lstStyle>
            <a:lvl1pPr>
              <a:defRPr/>
            </a:lvl1pPr>
          </a:lstStyle>
          <a:p>
            <a:pPr>
              <a:defRPr/>
            </a:pPr>
            <a:fld id="{2A6DFFBE-ADA5-486B-9DF0-E8B0D945DB67}" type="slidenum">
              <a:rPr/>
              <a:pPr>
                <a:defRPr/>
              </a:pPr>
              <a:t>‹#›</a:t>
            </a:fld>
            <a:endParaRPr/>
          </a:p>
        </p:txBody>
      </p:sp>
    </p:spTree>
    <p:extLst>
      <p:ext uri="{BB962C8B-B14F-4D97-AF65-F5344CB8AC3E}">
        <p14:creationId xmlns:p14="http://schemas.microsoft.com/office/powerpoint/2010/main" val="2309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3">
            <a:extLst>
              <a:ext uri="{FF2B5EF4-FFF2-40B4-BE49-F238E27FC236}">
                <a16:creationId xmlns:a16="http://schemas.microsoft.com/office/drawing/2014/main" id="{5B820917-7E32-D362-003D-D36067F2B806}"/>
              </a:ext>
            </a:extLst>
          </p:cNvPr>
          <p:cNvSpPr txBox="1">
            <a:spLocks noGrp="1"/>
          </p:cNvSpPr>
          <p:nvPr>
            <p:ph type="dt" sz="half" idx="10"/>
          </p:nvPr>
        </p:nvSpPr>
        <p:spPr>
          <a:ln/>
        </p:spPr>
        <p:txBody>
          <a:bodyPr/>
          <a:lstStyle>
            <a:lvl1pPr>
              <a:defRPr/>
            </a:lvl1pPr>
          </a:lstStyle>
          <a:p>
            <a:pPr>
              <a:defRPr/>
            </a:pPr>
            <a:fld id="{B5FF66A9-AE31-4C45-9987-61DCC89C1351}" type="datetime1">
              <a:rPr lang="en-US"/>
              <a:pPr>
                <a:defRPr/>
              </a:pPr>
              <a:t>7/8/2026</a:t>
            </a:fld>
            <a:endParaRPr/>
          </a:p>
        </p:txBody>
      </p:sp>
      <p:sp>
        <p:nvSpPr>
          <p:cNvPr id="4" name="Footer Placeholder 4">
            <a:extLst>
              <a:ext uri="{FF2B5EF4-FFF2-40B4-BE49-F238E27FC236}">
                <a16:creationId xmlns:a16="http://schemas.microsoft.com/office/drawing/2014/main" id="{F5921F29-C05F-2193-1059-0F65C6EC73C6}"/>
              </a:ext>
            </a:extLst>
          </p:cNvPr>
          <p:cNvSpPr txBox="1">
            <a:spLocks noGrp="1"/>
          </p:cNvSpPr>
          <p:nvPr>
            <p:ph type="ftr" sz="quarter" idx="11"/>
          </p:nvPr>
        </p:nvSpPr>
        <p:spPr>
          <a:ln/>
        </p:spPr>
        <p:txBody>
          <a:bodyPr/>
          <a:lstStyle>
            <a:lvl1pPr>
              <a:defRPr/>
            </a:lvl1pPr>
          </a:lstStyle>
          <a:p>
            <a:pPr>
              <a:defRPr/>
            </a:pPr>
            <a:endParaRPr/>
          </a:p>
        </p:txBody>
      </p:sp>
      <p:sp>
        <p:nvSpPr>
          <p:cNvPr id="5" name="Slide Number Placeholder 5">
            <a:extLst>
              <a:ext uri="{FF2B5EF4-FFF2-40B4-BE49-F238E27FC236}">
                <a16:creationId xmlns:a16="http://schemas.microsoft.com/office/drawing/2014/main" id="{31FF4569-EEFC-A5D8-6A44-8599FC1B9498}"/>
              </a:ext>
            </a:extLst>
          </p:cNvPr>
          <p:cNvSpPr txBox="1">
            <a:spLocks noGrp="1"/>
          </p:cNvSpPr>
          <p:nvPr>
            <p:ph type="sldNum" sz="quarter" idx="12"/>
          </p:nvPr>
        </p:nvSpPr>
        <p:spPr>
          <a:ln/>
        </p:spPr>
        <p:txBody>
          <a:bodyPr/>
          <a:lstStyle>
            <a:lvl1pPr>
              <a:defRPr/>
            </a:lvl1pPr>
          </a:lstStyle>
          <a:p>
            <a:pPr>
              <a:defRPr/>
            </a:pPr>
            <a:fld id="{D7D5BE07-A258-4D8D-ACED-BEEDF482A24B}" type="slidenum">
              <a:rPr/>
              <a:pPr>
                <a:defRPr/>
              </a:pPr>
              <a:t>‹#›</a:t>
            </a:fld>
            <a:endParaRPr/>
          </a:p>
        </p:txBody>
      </p:sp>
    </p:spTree>
    <p:extLst>
      <p:ext uri="{BB962C8B-B14F-4D97-AF65-F5344CB8AC3E}">
        <p14:creationId xmlns:p14="http://schemas.microsoft.com/office/powerpoint/2010/main" val="2272808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CA22587-9017-0E79-9DA1-D74B15E19BC6}"/>
              </a:ext>
            </a:extLst>
          </p:cNvPr>
          <p:cNvSpPr txBox="1">
            <a:spLocks noGrp="1"/>
          </p:cNvSpPr>
          <p:nvPr>
            <p:ph type="dt" sz="half" idx="10"/>
          </p:nvPr>
        </p:nvSpPr>
        <p:spPr>
          <a:ln/>
        </p:spPr>
        <p:txBody>
          <a:bodyPr/>
          <a:lstStyle>
            <a:lvl1pPr>
              <a:defRPr/>
            </a:lvl1pPr>
          </a:lstStyle>
          <a:p>
            <a:pPr>
              <a:defRPr/>
            </a:pPr>
            <a:fld id="{AFE86777-3D45-4BFA-8AE9-5A61FA13BCEE}" type="datetime1">
              <a:rPr lang="en-US"/>
              <a:pPr>
                <a:defRPr/>
              </a:pPr>
              <a:t>7/8/2026</a:t>
            </a:fld>
            <a:endParaRPr/>
          </a:p>
        </p:txBody>
      </p:sp>
      <p:sp>
        <p:nvSpPr>
          <p:cNvPr id="3" name="Footer Placeholder 4">
            <a:extLst>
              <a:ext uri="{FF2B5EF4-FFF2-40B4-BE49-F238E27FC236}">
                <a16:creationId xmlns:a16="http://schemas.microsoft.com/office/drawing/2014/main" id="{E219DC81-14BA-5B17-DADC-F7C5CCD1FC4D}"/>
              </a:ext>
            </a:extLst>
          </p:cNvPr>
          <p:cNvSpPr txBox="1">
            <a:spLocks noGrp="1"/>
          </p:cNvSpPr>
          <p:nvPr>
            <p:ph type="ftr" sz="quarter" idx="11"/>
          </p:nvPr>
        </p:nvSpPr>
        <p:spPr>
          <a:ln/>
        </p:spPr>
        <p:txBody>
          <a:bodyPr/>
          <a:lstStyle>
            <a:lvl1pPr>
              <a:defRPr/>
            </a:lvl1pPr>
          </a:lstStyle>
          <a:p>
            <a:pPr>
              <a:defRPr/>
            </a:pPr>
            <a:endParaRPr/>
          </a:p>
        </p:txBody>
      </p:sp>
      <p:sp>
        <p:nvSpPr>
          <p:cNvPr id="4" name="Slide Number Placeholder 5">
            <a:extLst>
              <a:ext uri="{FF2B5EF4-FFF2-40B4-BE49-F238E27FC236}">
                <a16:creationId xmlns:a16="http://schemas.microsoft.com/office/drawing/2014/main" id="{E0A572C2-C14A-15D1-17A3-B9A44C82E4DE}"/>
              </a:ext>
            </a:extLst>
          </p:cNvPr>
          <p:cNvSpPr txBox="1">
            <a:spLocks noGrp="1"/>
          </p:cNvSpPr>
          <p:nvPr>
            <p:ph type="sldNum" sz="quarter" idx="12"/>
          </p:nvPr>
        </p:nvSpPr>
        <p:spPr>
          <a:ln/>
        </p:spPr>
        <p:txBody>
          <a:bodyPr/>
          <a:lstStyle>
            <a:lvl1pPr>
              <a:defRPr/>
            </a:lvl1pPr>
          </a:lstStyle>
          <a:p>
            <a:pPr>
              <a:defRPr/>
            </a:pPr>
            <a:fld id="{3037F615-C4F9-4362-A888-F4AFFDFA1A3E}" type="slidenum">
              <a:rPr/>
              <a:pPr>
                <a:defRPr/>
              </a:pPr>
              <a:t>‹#›</a:t>
            </a:fld>
            <a:endParaRPr/>
          </a:p>
        </p:txBody>
      </p:sp>
    </p:spTree>
    <p:extLst>
      <p:ext uri="{BB962C8B-B14F-4D97-AF65-F5344CB8AC3E}">
        <p14:creationId xmlns:p14="http://schemas.microsoft.com/office/powerpoint/2010/main" val="4193861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3">
            <a:extLst>
              <a:ext uri="{FF2B5EF4-FFF2-40B4-BE49-F238E27FC236}">
                <a16:creationId xmlns:a16="http://schemas.microsoft.com/office/drawing/2014/main" id="{5C924E56-25E4-6B94-7279-CA3C9CF5B1F9}"/>
              </a:ext>
            </a:extLst>
          </p:cNvPr>
          <p:cNvSpPr txBox="1">
            <a:spLocks noGrp="1"/>
          </p:cNvSpPr>
          <p:nvPr>
            <p:ph type="dt" sz="half" idx="10"/>
          </p:nvPr>
        </p:nvSpPr>
        <p:spPr>
          <a:ln/>
        </p:spPr>
        <p:txBody>
          <a:bodyPr/>
          <a:lstStyle>
            <a:lvl1pPr>
              <a:defRPr/>
            </a:lvl1pPr>
          </a:lstStyle>
          <a:p>
            <a:pPr>
              <a:defRPr/>
            </a:pPr>
            <a:fld id="{F2BF6964-1CF2-4C03-8BA5-5BC33FE0047B}" type="datetime1">
              <a:rPr lang="en-US"/>
              <a:pPr>
                <a:defRPr/>
              </a:pPr>
              <a:t>7/8/2026</a:t>
            </a:fld>
            <a:endParaRPr/>
          </a:p>
        </p:txBody>
      </p:sp>
      <p:sp>
        <p:nvSpPr>
          <p:cNvPr id="6" name="Footer Placeholder 4">
            <a:extLst>
              <a:ext uri="{FF2B5EF4-FFF2-40B4-BE49-F238E27FC236}">
                <a16:creationId xmlns:a16="http://schemas.microsoft.com/office/drawing/2014/main" id="{0F4B3798-770F-479C-12A5-27A15BEB1885}"/>
              </a:ext>
            </a:extLst>
          </p:cNvPr>
          <p:cNvSpPr txBox="1">
            <a:spLocks noGrp="1"/>
          </p:cNvSpPr>
          <p:nvPr>
            <p:ph type="ftr" sz="quarter" idx="11"/>
          </p:nvPr>
        </p:nvSpPr>
        <p:spPr>
          <a:ln/>
        </p:spPr>
        <p:txBody>
          <a:bodyPr/>
          <a:lstStyle>
            <a:lvl1pPr>
              <a:defRPr/>
            </a:lvl1pPr>
          </a:lstStyle>
          <a:p>
            <a:pPr>
              <a:defRPr/>
            </a:pPr>
            <a:endParaRPr/>
          </a:p>
        </p:txBody>
      </p:sp>
      <p:sp>
        <p:nvSpPr>
          <p:cNvPr id="7" name="Slide Number Placeholder 5">
            <a:extLst>
              <a:ext uri="{FF2B5EF4-FFF2-40B4-BE49-F238E27FC236}">
                <a16:creationId xmlns:a16="http://schemas.microsoft.com/office/drawing/2014/main" id="{8AAF96B6-AC44-DC0E-DB6F-2BEE60E43E7F}"/>
              </a:ext>
            </a:extLst>
          </p:cNvPr>
          <p:cNvSpPr txBox="1">
            <a:spLocks noGrp="1"/>
          </p:cNvSpPr>
          <p:nvPr>
            <p:ph type="sldNum" sz="quarter" idx="12"/>
          </p:nvPr>
        </p:nvSpPr>
        <p:spPr>
          <a:ln/>
        </p:spPr>
        <p:txBody>
          <a:bodyPr/>
          <a:lstStyle>
            <a:lvl1pPr>
              <a:defRPr/>
            </a:lvl1pPr>
          </a:lstStyle>
          <a:p>
            <a:pPr>
              <a:defRPr/>
            </a:pPr>
            <a:fld id="{E70097B1-83ED-4D0F-9AFF-082318EBE342}" type="slidenum">
              <a:rPr/>
              <a:pPr>
                <a:defRPr/>
              </a:pPr>
              <a:t>‹#›</a:t>
            </a:fld>
            <a:endParaRPr/>
          </a:p>
        </p:txBody>
      </p:sp>
    </p:spTree>
    <p:extLst>
      <p:ext uri="{BB962C8B-B14F-4D97-AF65-F5344CB8AC3E}">
        <p14:creationId xmlns:p14="http://schemas.microsoft.com/office/powerpoint/2010/main" val="157601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p:cNvSpPr txBox="1">
            <a:spLocks noGrp="1"/>
          </p:cNvSpPr>
          <p:nvPr>
            <p:ph type="pic" idx="1"/>
          </p:nvPr>
        </p:nvSpPr>
        <p:spPr>
          <a:xfrm>
            <a:off x="5183184" y="987423"/>
            <a:ext cx="6172200" cy="4873623"/>
          </a:xfrm>
        </p:spPr>
        <p:txBody>
          <a:bodyPr>
            <a:normAutofit/>
          </a:bodyPr>
          <a:lstStyle>
            <a:lvl1pPr marL="0" indent="0">
              <a:buNone/>
              <a:defRPr lang="en-GB" sz="3200"/>
            </a:lvl1pPr>
          </a:lstStyle>
          <a:p>
            <a:pPr lvl="0"/>
            <a:endParaRPr lang="en-GB" noProof="0"/>
          </a:p>
        </p:txBody>
      </p:sp>
      <p:sp>
        <p:nvSpPr>
          <p:cNvPr id="4" name="Text Placeholder 3"/>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3">
            <a:extLst>
              <a:ext uri="{FF2B5EF4-FFF2-40B4-BE49-F238E27FC236}">
                <a16:creationId xmlns:a16="http://schemas.microsoft.com/office/drawing/2014/main" id="{2032BFE5-8305-F0C3-55C5-9CFC5135BECB}"/>
              </a:ext>
            </a:extLst>
          </p:cNvPr>
          <p:cNvSpPr txBox="1">
            <a:spLocks noGrp="1"/>
          </p:cNvSpPr>
          <p:nvPr>
            <p:ph type="dt" sz="half" idx="10"/>
          </p:nvPr>
        </p:nvSpPr>
        <p:spPr>
          <a:ln/>
        </p:spPr>
        <p:txBody>
          <a:bodyPr/>
          <a:lstStyle>
            <a:lvl1pPr>
              <a:defRPr/>
            </a:lvl1pPr>
          </a:lstStyle>
          <a:p>
            <a:pPr>
              <a:defRPr/>
            </a:pPr>
            <a:fld id="{7E3BC052-7AE7-4697-8BEF-9D6717CDE916}" type="datetime1">
              <a:rPr lang="en-US"/>
              <a:pPr>
                <a:defRPr/>
              </a:pPr>
              <a:t>7/8/2026</a:t>
            </a:fld>
            <a:endParaRPr/>
          </a:p>
        </p:txBody>
      </p:sp>
      <p:sp>
        <p:nvSpPr>
          <p:cNvPr id="6" name="Footer Placeholder 4">
            <a:extLst>
              <a:ext uri="{FF2B5EF4-FFF2-40B4-BE49-F238E27FC236}">
                <a16:creationId xmlns:a16="http://schemas.microsoft.com/office/drawing/2014/main" id="{82C6897F-E1C5-1A1F-B15F-352EB220EFC9}"/>
              </a:ext>
            </a:extLst>
          </p:cNvPr>
          <p:cNvSpPr txBox="1">
            <a:spLocks noGrp="1"/>
          </p:cNvSpPr>
          <p:nvPr>
            <p:ph type="ftr" sz="quarter" idx="11"/>
          </p:nvPr>
        </p:nvSpPr>
        <p:spPr>
          <a:ln/>
        </p:spPr>
        <p:txBody>
          <a:bodyPr/>
          <a:lstStyle>
            <a:lvl1pPr>
              <a:defRPr/>
            </a:lvl1pPr>
          </a:lstStyle>
          <a:p>
            <a:pPr>
              <a:defRPr/>
            </a:pPr>
            <a:endParaRPr/>
          </a:p>
        </p:txBody>
      </p:sp>
      <p:sp>
        <p:nvSpPr>
          <p:cNvPr id="7" name="Slide Number Placeholder 5">
            <a:extLst>
              <a:ext uri="{FF2B5EF4-FFF2-40B4-BE49-F238E27FC236}">
                <a16:creationId xmlns:a16="http://schemas.microsoft.com/office/drawing/2014/main" id="{AAE683E4-854D-27C9-7079-631B7CB43639}"/>
              </a:ext>
            </a:extLst>
          </p:cNvPr>
          <p:cNvSpPr txBox="1">
            <a:spLocks noGrp="1"/>
          </p:cNvSpPr>
          <p:nvPr>
            <p:ph type="sldNum" sz="quarter" idx="12"/>
          </p:nvPr>
        </p:nvSpPr>
        <p:spPr>
          <a:ln/>
        </p:spPr>
        <p:txBody>
          <a:bodyPr/>
          <a:lstStyle>
            <a:lvl1pPr>
              <a:defRPr/>
            </a:lvl1pPr>
          </a:lstStyle>
          <a:p>
            <a:pPr>
              <a:defRPr/>
            </a:pPr>
            <a:fld id="{408E5184-0826-4116-8602-53DE3A18AF37}" type="slidenum">
              <a:rPr/>
              <a:pPr>
                <a:defRPr/>
              </a:pPr>
              <a:t>‹#›</a:t>
            </a:fld>
            <a:endParaRPr/>
          </a:p>
        </p:txBody>
      </p:sp>
    </p:spTree>
    <p:extLst>
      <p:ext uri="{BB962C8B-B14F-4D97-AF65-F5344CB8AC3E}">
        <p14:creationId xmlns:p14="http://schemas.microsoft.com/office/powerpoint/2010/main" val="1294851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6027C4-11BF-B3D2-D0C2-DFFF9F81ACEB}"/>
              </a:ext>
            </a:extLst>
          </p:cNvPr>
          <p:cNvSpPr txBox="1">
            <a:spLocks noGrp="1"/>
          </p:cNvSpPr>
          <p:nvPr>
            <p:ph type="dt" sz="half" idx="10"/>
          </p:nvPr>
        </p:nvSpPr>
        <p:spPr>
          <a:ln/>
        </p:spPr>
        <p:txBody>
          <a:bodyPr/>
          <a:lstStyle>
            <a:lvl1pPr>
              <a:defRPr/>
            </a:lvl1pPr>
          </a:lstStyle>
          <a:p>
            <a:pPr>
              <a:defRPr/>
            </a:pPr>
            <a:fld id="{BCD51DB5-2492-42AC-9CC6-5517269D535A}" type="datetime1">
              <a:rPr lang="en-US"/>
              <a:pPr>
                <a:defRPr/>
              </a:pPr>
              <a:t>7/8/2026</a:t>
            </a:fld>
            <a:endParaRPr/>
          </a:p>
        </p:txBody>
      </p:sp>
      <p:sp>
        <p:nvSpPr>
          <p:cNvPr id="5" name="Footer Placeholder 4">
            <a:extLst>
              <a:ext uri="{FF2B5EF4-FFF2-40B4-BE49-F238E27FC236}">
                <a16:creationId xmlns:a16="http://schemas.microsoft.com/office/drawing/2014/main" id="{1E2E0876-6763-767C-9A19-48552D189915}"/>
              </a:ext>
            </a:extLst>
          </p:cNvPr>
          <p:cNvSpPr txBox="1">
            <a:spLocks noGrp="1"/>
          </p:cNvSpPr>
          <p:nvPr>
            <p:ph type="ftr" sz="quarter" idx="11"/>
          </p:nvPr>
        </p:nvSpPr>
        <p:spPr>
          <a:ln/>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81AF13A1-DDFF-5161-32BF-006645FAB0B7}"/>
              </a:ext>
            </a:extLst>
          </p:cNvPr>
          <p:cNvSpPr txBox="1">
            <a:spLocks noGrp="1"/>
          </p:cNvSpPr>
          <p:nvPr>
            <p:ph type="sldNum" sz="quarter" idx="12"/>
          </p:nvPr>
        </p:nvSpPr>
        <p:spPr>
          <a:ln/>
        </p:spPr>
        <p:txBody>
          <a:bodyPr/>
          <a:lstStyle>
            <a:lvl1pPr>
              <a:defRPr/>
            </a:lvl1pPr>
          </a:lstStyle>
          <a:p>
            <a:pPr>
              <a:defRPr/>
            </a:pPr>
            <a:fld id="{A83573A5-3586-446C-B352-5F4A2C6BE56D}" type="slidenum">
              <a:rPr/>
              <a:pPr>
                <a:defRPr/>
              </a:pPr>
              <a:t>‹#›</a:t>
            </a:fld>
            <a:endParaRPr/>
          </a:p>
        </p:txBody>
      </p:sp>
    </p:spTree>
    <p:extLst>
      <p:ext uri="{BB962C8B-B14F-4D97-AF65-F5344CB8AC3E}">
        <p14:creationId xmlns:p14="http://schemas.microsoft.com/office/powerpoint/2010/main" val="1161602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21D817-93FF-2433-F87C-B10678262186}"/>
              </a:ext>
            </a:extLst>
          </p:cNvPr>
          <p:cNvSpPr txBox="1">
            <a:spLocks noGrp="1"/>
          </p:cNvSpPr>
          <p:nvPr>
            <p:ph type="dt" sz="half" idx="10"/>
          </p:nvPr>
        </p:nvSpPr>
        <p:spPr>
          <a:ln/>
        </p:spPr>
        <p:txBody>
          <a:bodyPr/>
          <a:lstStyle>
            <a:lvl1pPr>
              <a:defRPr/>
            </a:lvl1pPr>
          </a:lstStyle>
          <a:p>
            <a:pPr>
              <a:defRPr/>
            </a:pPr>
            <a:fld id="{565F3A2D-95F9-42A4-A7E5-70CADB59358E}" type="datetime1">
              <a:rPr lang="en-US"/>
              <a:pPr>
                <a:defRPr/>
              </a:pPr>
              <a:t>7/8/2026</a:t>
            </a:fld>
            <a:endParaRPr/>
          </a:p>
        </p:txBody>
      </p:sp>
      <p:sp>
        <p:nvSpPr>
          <p:cNvPr id="5" name="Footer Placeholder 4">
            <a:extLst>
              <a:ext uri="{FF2B5EF4-FFF2-40B4-BE49-F238E27FC236}">
                <a16:creationId xmlns:a16="http://schemas.microsoft.com/office/drawing/2014/main" id="{E1259E4A-E9E1-9D9D-90BE-8E7B2FE3ECA3}"/>
              </a:ext>
            </a:extLst>
          </p:cNvPr>
          <p:cNvSpPr txBox="1">
            <a:spLocks noGrp="1"/>
          </p:cNvSpPr>
          <p:nvPr>
            <p:ph type="ftr" sz="quarter" idx="11"/>
          </p:nvPr>
        </p:nvSpPr>
        <p:spPr>
          <a:ln/>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1FE6E20D-0354-32F2-1371-FE1D6377AF83}"/>
              </a:ext>
            </a:extLst>
          </p:cNvPr>
          <p:cNvSpPr txBox="1">
            <a:spLocks noGrp="1"/>
          </p:cNvSpPr>
          <p:nvPr>
            <p:ph type="sldNum" sz="quarter" idx="12"/>
          </p:nvPr>
        </p:nvSpPr>
        <p:spPr>
          <a:ln/>
        </p:spPr>
        <p:txBody>
          <a:bodyPr/>
          <a:lstStyle>
            <a:lvl1pPr>
              <a:defRPr/>
            </a:lvl1pPr>
          </a:lstStyle>
          <a:p>
            <a:pPr>
              <a:defRPr/>
            </a:pPr>
            <a:fld id="{2C0DF48A-566F-4BC0-86EE-49E9C548A478}" type="slidenum">
              <a:rPr/>
              <a:pPr>
                <a:defRPr/>
              </a:pPr>
              <a:t>‹#›</a:t>
            </a:fld>
            <a:endParaRPr/>
          </a:p>
        </p:txBody>
      </p:sp>
    </p:spTree>
    <p:extLst>
      <p:ext uri="{BB962C8B-B14F-4D97-AF65-F5344CB8AC3E}">
        <p14:creationId xmlns:p14="http://schemas.microsoft.com/office/powerpoint/2010/main" val="4017455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Content Placeholder 2"/>
          <p:cNvSpPr txBox="1">
            <a:spLocks noGrp="1"/>
          </p:cNvSpPr>
          <p:nvPr>
            <p:ph type="title" idx="4294967295"/>
          </p:nvPr>
        </p:nvSpPr>
        <p:spPr>
          <a:xfrm>
            <a:off x="838084" y="1825563"/>
            <a:ext cx="10515600" cy="4351318"/>
          </a:xfrm>
        </p:spPr>
        <p:txBody>
          <a:bodyPr anchor="t"/>
          <a:lstStyle>
            <a:lvl1pPr marL="228600" indent="-228600">
              <a:spcBef>
                <a:spcPts val="1000"/>
              </a:spcBef>
              <a:buSzPct val="100000"/>
              <a:buFont typeface="Arial" pitchFamily="34"/>
              <a:buChar char="•"/>
              <a:defRPr sz="2800">
                <a:latin typeface="Calibri" pitchFamily="18"/>
              </a:defRPr>
            </a:lvl1pPr>
          </a:lstStyle>
          <a:p>
            <a:pPr lvl="0"/>
            <a:r>
              <a:rPr lang="en-US"/>
              <a:t>Click to edit Master text styles</a:t>
            </a:r>
            <a:br>
              <a:rPr lang="en-US"/>
            </a:br>
            <a:r>
              <a:rPr lang="en-US"/>
              <a:t>Second level</a:t>
            </a:r>
            <a:br>
              <a:rPr lang="en-US"/>
            </a:br>
            <a:r>
              <a:rPr lang="en-US"/>
              <a:t>Third level</a:t>
            </a:r>
            <a:br>
              <a:rPr lang="en-US"/>
            </a:br>
            <a:r>
              <a:rPr lang="en-US"/>
              <a:t>Fourth level</a:t>
            </a:r>
            <a:br>
              <a:rPr lang="en-US"/>
            </a:br>
            <a:r>
              <a:rPr lang="en-US"/>
              <a:t>Fifth level</a:t>
            </a:r>
          </a:p>
        </p:txBody>
      </p:sp>
      <p:sp>
        <p:nvSpPr>
          <p:cNvPr id="7" name="Content Placeholder 6"/>
          <p:cNvSpPr txBox="1">
            <a:spLocks noGrp="1"/>
          </p:cNvSpPr>
          <p:nvPr>
            <p:ph idx="1"/>
          </p:nvPr>
        </p:nvSpPr>
        <p:spPr>
          <a:xfrm>
            <a:off x="609484" y="1604515"/>
            <a:ext cx="10972443" cy="3977283"/>
          </a:xfrm>
        </p:spPr>
        <p:txBody>
          <a:bodyPr lIns="0" tIns="0" rIns="0" bIns="0"/>
          <a:lstStyle>
            <a:lvl1pPr hangingPunct="0">
              <a:spcBef>
                <a:spcPts val="1415"/>
              </a:spcBef>
              <a:defRPr lang="en-GB" sz="3200">
                <a:latin typeface="Liberation Sans" pitchFamily="18"/>
              </a:defRPr>
            </a:lvl1pPr>
          </a:lstStyle>
          <a:p>
            <a:pPr lvl="0"/>
            <a:endParaRPr lang="en-GB"/>
          </a:p>
        </p:txBody>
      </p:sp>
      <p:sp>
        <p:nvSpPr>
          <p:cNvPr id="4" name="Date Placeholder 3">
            <a:extLst>
              <a:ext uri="{FF2B5EF4-FFF2-40B4-BE49-F238E27FC236}">
                <a16:creationId xmlns:a16="http://schemas.microsoft.com/office/drawing/2014/main" id="{70231996-2641-49D7-68F9-60037E25409F}"/>
              </a:ext>
            </a:extLst>
          </p:cNvPr>
          <p:cNvSpPr txBox="1">
            <a:spLocks noGrp="1"/>
          </p:cNvSpPr>
          <p:nvPr>
            <p:ph type="dt" sz="half" idx="10"/>
          </p:nvPr>
        </p:nvSpPr>
        <p:spPr/>
        <p:txBody>
          <a:bodyPr/>
          <a:lstStyle>
            <a:lvl1pPr>
              <a:defRPr/>
            </a:lvl1pPr>
          </a:lstStyle>
          <a:p>
            <a:pPr>
              <a:defRPr/>
            </a:pPr>
            <a:endParaRPr/>
          </a:p>
        </p:txBody>
      </p:sp>
      <p:sp>
        <p:nvSpPr>
          <p:cNvPr id="5" name="Footer Placeholder 4">
            <a:extLst>
              <a:ext uri="{FF2B5EF4-FFF2-40B4-BE49-F238E27FC236}">
                <a16:creationId xmlns:a16="http://schemas.microsoft.com/office/drawing/2014/main" id="{05C4AE3C-4FE0-D411-C185-2DDFBC2C891D}"/>
              </a:ext>
            </a:extLst>
          </p:cNvPr>
          <p:cNvSpPr txBox="1">
            <a:spLocks noGrp="1"/>
          </p:cNvSpPr>
          <p:nvPr>
            <p:ph type="ftr" sz="quarter" idx="11"/>
          </p:nvPr>
        </p:nvSpPr>
        <p:spPr/>
        <p:txBody>
          <a:bodyPr/>
          <a:lstStyle>
            <a:lvl1pPr>
              <a:defRPr/>
            </a:lvl1pPr>
          </a:lstStyle>
          <a:p>
            <a:pPr>
              <a:defRPr/>
            </a:pPr>
            <a:endParaRPr/>
          </a:p>
        </p:txBody>
      </p:sp>
      <p:sp>
        <p:nvSpPr>
          <p:cNvPr id="6" name="Slide Number Placeholder 5">
            <a:extLst>
              <a:ext uri="{FF2B5EF4-FFF2-40B4-BE49-F238E27FC236}">
                <a16:creationId xmlns:a16="http://schemas.microsoft.com/office/drawing/2014/main" id="{4B0069FB-86DC-A831-7E25-902853B0B9A3}"/>
              </a:ext>
            </a:extLst>
          </p:cNvPr>
          <p:cNvSpPr txBox="1">
            <a:spLocks noGrp="1"/>
          </p:cNvSpPr>
          <p:nvPr>
            <p:ph type="sldNum" sz="quarter" idx="12"/>
          </p:nvPr>
        </p:nvSpPr>
        <p:spPr/>
        <p:txBody>
          <a:bodyPr/>
          <a:lstStyle>
            <a:lvl1pPr>
              <a:defRPr lang="en-US"/>
            </a:lvl1pPr>
          </a:lstStyle>
          <a:p>
            <a:pPr>
              <a:defRPr/>
            </a:pPr>
            <a:fld id="{AF6CB9FE-BAAA-43BF-864B-E284FBCBFF10}" type="slidenum">
              <a:rPr/>
              <a:pPr>
                <a:defRPr/>
              </a:pPr>
              <a:t>‹#›</a:t>
            </a:fld>
            <a:endParaRPr/>
          </a:p>
        </p:txBody>
      </p:sp>
    </p:spTree>
    <p:extLst>
      <p:ext uri="{BB962C8B-B14F-4D97-AF65-F5344CB8AC3E}">
        <p14:creationId xmlns:p14="http://schemas.microsoft.com/office/powerpoint/2010/main" val="96738554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D3E03BB-33FA-8A2F-A5C8-0E274032BC45}"/>
              </a:ext>
            </a:extLst>
          </p:cNvPr>
          <p:cNvSpPr txBox="1">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BEE6425A-6DB7-F863-5846-7F3A4C501344}"/>
              </a:ext>
            </a:extLst>
          </p:cNvPr>
          <p:cNvSpPr txBox="1">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F50889FB-2001-8CF4-B9D8-59C091501CBA}"/>
              </a:ext>
            </a:extLst>
          </p:cNvPr>
          <p:cNvSpPr txBox="1">
            <a:spLocks noGrp="1"/>
          </p:cNvSpPr>
          <p:nvPr>
            <p:ph type="dt" sz="half" idx="2"/>
          </p:nvPr>
        </p:nvSpPr>
        <p:spPr>
          <a:xfrm>
            <a:off x="838200" y="6356350"/>
            <a:ext cx="2743200" cy="365125"/>
          </a:xfrm>
          <a:prstGeom prst="rect">
            <a:avLst/>
          </a:prstGeom>
          <a:noFill/>
          <a:ln>
            <a:noFill/>
          </a:ln>
        </p:spPr>
        <p:txBody>
          <a:bodyPr vert="horz" wrap="square" lIns="91440" tIns="45720" rIns="91440" bIns="45720" anchor="ctr" anchorCtr="0" compatLnSpc="1">
            <a:noAutofit/>
          </a:bodyPr>
          <a:lstStyle>
            <a:lvl1pPr marL="0" marR="0" lvl="0" indent="0" algn="l" defTabSz="914400" rtl="0" eaLnBrk="1"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a:defRPr/>
            </a:pPr>
            <a:fld id="{9509C2A5-B822-4CA3-986B-17FE665C96F1}" type="datetime1">
              <a:rPr lang="en-US"/>
              <a:pPr>
                <a:defRPr/>
              </a:pPr>
              <a:t>7/8/2026</a:t>
            </a:fld>
            <a:endParaRPr/>
          </a:p>
        </p:txBody>
      </p:sp>
      <p:sp>
        <p:nvSpPr>
          <p:cNvPr id="5" name="Footer Placeholder 4">
            <a:extLst>
              <a:ext uri="{FF2B5EF4-FFF2-40B4-BE49-F238E27FC236}">
                <a16:creationId xmlns:a16="http://schemas.microsoft.com/office/drawing/2014/main" id="{F462DBCB-8CD6-76B8-5379-9F5AAC6E6C61}"/>
              </a:ext>
            </a:extLst>
          </p:cNvPr>
          <p:cNvSpPr txBox="1">
            <a:spLocks noGrp="1"/>
          </p:cNvSpPr>
          <p:nvPr>
            <p:ph type="ftr" sz="quarter" idx="3"/>
          </p:nvPr>
        </p:nvSpPr>
        <p:spPr>
          <a:xfrm>
            <a:off x="4038600" y="6356350"/>
            <a:ext cx="4114800" cy="365125"/>
          </a:xfrm>
          <a:prstGeom prst="rect">
            <a:avLst/>
          </a:prstGeom>
          <a:noFill/>
          <a:ln>
            <a:noFill/>
          </a:ln>
        </p:spPr>
        <p:txBody>
          <a:bodyPr vert="horz" wrap="square" lIns="91440" tIns="45720" rIns="91440" bIns="45720" anchor="ctr" anchorCtr="1" compatLnSpc="1">
            <a:noAutofit/>
          </a:bodyPr>
          <a:lstStyle>
            <a:lvl1pPr marL="0" marR="0" lvl="0" indent="0" algn="ctr" defTabSz="914400" rtl="0" eaLnBrk="1"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a:defRPr/>
            </a:pPr>
            <a:endParaRPr/>
          </a:p>
        </p:txBody>
      </p:sp>
      <p:sp>
        <p:nvSpPr>
          <p:cNvPr id="6" name="Slide Number Placeholder 5">
            <a:extLst>
              <a:ext uri="{FF2B5EF4-FFF2-40B4-BE49-F238E27FC236}">
                <a16:creationId xmlns:a16="http://schemas.microsoft.com/office/drawing/2014/main" id="{86733FED-CDE0-D5D8-ED7F-1595903AAA39}"/>
              </a:ext>
            </a:extLst>
          </p:cNvPr>
          <p:cNvSpPr txBox="1">
            <a:spLocks noGrp="1"/>
          </p:cNvSpPr>
          <p:nvPr>
            <p:ph type="sldNum" sz="quarter" idx="4"/>
          </p:nvPr>
        </p:nvSpPr>
        <p:spPr>
          <a:xfrm>
            <a:off x="8610600" y="6356350"/>
            <a:ext cx="2743200" cy="365125"/>
          </a:xfrm>
          <a:prstGeom prst="rect">
            <a:avLst/>
          </a:prstGeom>
          <a:noFill/>
          <a:ln>
            <a:noFill/>
          </a:ln>
        </p:spPr>
        <p:txBody>
          <a:bodyPr vert="horz" wrap="square" lIns="91440" tIns="45720" rIns="91440" bIns="45720" anchor="ctr" anchorCtr="0" compatLnSpc="1">
            <a:noAutofit/>
          </a:bodyPr>
          <a:lstStyle>
            <a:lvl1pPr marL="0" marR="0" lvl="0" indent="0" algn="r" defTabSz="914400" rtl="0" eaLnBrk="1" fontAlgn="auto" hangingPunct="1">
              <a:lnSpc>
                <a:spcPct val="100000"/>
              </a:lnSpc>
              <a:spcBef>
                <a:spcPts val="0"/>
              </a:spcBef>
              <a:spcAft>
                <a:spcPts val="0"/>
              </a:spcAft>
              <a:buNone/>
              <a:tabLst/>
              <a:defRPr lang="en-GB" sz="1200" b="0" i="0" u="none" strike="noStrike" kern="1200" cap="none" spc="0" baseline="0">
                <a:solidFill>
                  <a:srgbClr val="767676"/>
                </a:solidFill>
                <a:uFillTx/>
                <a:latin typeface="Aptos"/>
              </a:defRPr>
            </a:lvl1pPr>
          </a:lstStyle>
          <a:p>
            <a:pPr>
              <a:defRPr/>
            </a:pPr>
            <a:fld id="{C7A25452-67AE-4F4B-8268-C059F65CA08F}" type="slidenum">
              <a:rPr/>
              <a:pPr>
                <a:defRPr/>
              </a:pPr>
              <a:t>‹#›</a:t>
            </a:fld>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ransition spd="slow"/>
  <p:txStyles>
    <p:titleStyle>
      <a:lvl1pPr algn="l" rtl="0" eaLnBrk="0" fontAlgn="base" hangingPunct="0">
        <a:lnSpc>
          <a:spcPct val="90000"/>
        </a:lnSpc>
        <a:spcBef>
          <a:spcPct val="0"/>
        </a:spcBef>
        <a:spcAft>
          <a:spcPct val="0"/>
        </a:spcAft>
        <a:defRPr lang="en-US" sz="4400" kern="1200">
          <a:solidFill>
            <a:srgbClr val="000000"/>
          </a:solidFill>
          <a:latin typeface="Aptos Display"/>
        </a:defRPr>
      </a:lvl1pPr>
      <a:lvl2pPr algn="l" rtl="0" eaLnBrk="0" fontAlgn="base" hangingPunct="0">
        <a:lnSpc>
          <a:spcPct val="90000"/>
        </a:lnSpc>
        <a:spcBef>
          <a:spcPct val="0"/>
        </a:spcBef>
        <a:spcAft>
          <a:spcPct val="0"/>
        </a:spcAft>
        <a:defRPr sz="4400">
          <a:solidFill>
            <a:srgbClr val="000000"/>
          </a:solidFill>
          <a:latin typeface="Aptos Display" panose="020B0004020202020204" pitchFamily="34" charset="0"/>
        </a:defRPr>
      </a:lvl2pPr>
      <a:lvl3pPr algn="l" rtl="0" eaLnBrk="0" fontAlgn="base" hangingPunct="0">
        <a:lnSpc>
          <a:spcPct val="90000"/>
        </a:lnSpc>
        <a:spcBef>
          <a:spcPct val="0"/>
        </a:spcBef>
        <a:spcAft>
          <a:spcPct val="0"/>
        </a:spcAft>
        <a:defRPr sz="4400">
          <a:solidFill>
            <a:srgbClr val="000000"/>
          </a:solidFill>
          <a:latin typeface="Aptos Display" panose="020B0004020202020204" pitchFamily="34" charset="0"/>
        </a:defRPr>
      </a:lvl3pPr>
      <a:lvl4pPr algn="l" rtl="0" eaLnBrk="0" fontAlgn="base" hangingPunct="0">
        <a:lnSpc>
          <a:spcPct val="90000"/>
        </a:lnSpc>
        <a:spcBef>
          <a:spcPct val="0"/>
        </a:spcBef>
        <a:spcAft>
          <a:spcPct val="0"/>
        </a:spcAft>
        <a:defRPr sz="4400">
          <a:solidFill>
            <a:srgbClr val="000000"/>
          </a:solidFill>
          <a:latin typeface="Aptos Display" panose="020B0004020202020204" pitchFamily="34" charset="0"/>
        </a:defRPr>
      </a:lvl4pPr>
      <a:lvl5pPr algn="l" rtl="0" eaLnBrk="0" fontAlgn="base" hangingPunct="0">
        <a:lnSpc>
          <a:spcPct val="90000"/>
        </a:lnSpc>
        <a:spcBef>
          <a:spcPct val="0"/>
        </a:spcBef>
        <a:spcAft>
          <a:spcPct val="0"/>
        </a:spcAft>
        <a:defRPr sz="4400">
          <a:solidFill>
            <a:srgbClr val="000000"/>
          </a:solidFill>
          <a:latin typeface="Aptos Display" panose="020B0004020202020204" pitchFamily="34" charset="0"/>
        </a:defRPr>
      </a:lvl5pPr>
      <a:lvl6pPr marL="457200" algn="l" rtl="0" eaLnBrk="0" fontAlgn="base">
        <a:lnSpc>
          <a:spcPct val="90000"/>
        </a:lnSpc>
        <a:spcBef>
          <a:spcPct val="0"/>
        </a:spcBef>
        <a:spcAft>
          <a:spcPct val="0"/>
        </a:spcAft>
        <a:defRPr sz="4400">
          <a:solidFill>
            <a:srgbClr val="000000"/>
          </a:solidFill>
          <a:latin typeface="Aptos Display" panose="020B0004020202020204" pitchFamily="34" charset="0"/>
        </a:defRPr>
      </a:lvl6pPr>
      <a:lvl7pPr marL="914400" algn="l" rtl="0" eaLnBrk="0" fontAlgn="base">
        <a:lnSpc>
          <a:spcPct val="90000"/>
        </a:lnSpc>
        <a:spcBef>
          <a:spcPct val="0"/>
        </a:spcBef>
        <a:spcAft>
          <a:spcPct val="0"/>
        </a:spcAft>
        <a:defRPr sz="4400">
          <a:solidFill>
            <a:srgbClr val="000000"/>
          </a:solidFill>
          <a:latin typeface="Aptos Display" panose="020B0004020202020204" pitchFamily="34" charset="0"/>
        </a:defRPr>
      </a:lvl7pPr>
      <a:lvl8pPr marL="1371600" algn="l" rtl="0" eaLnBrk="0" fontAlgn="base">
        <a:lnSpc>
          <a:spcPct val="90000"/>
        </a:lnSpc>
        <a:spcBef>
          <a:spcPct val="0"/>
        </a:spcBef>
        <a:spcAft>
          <a:spcPct val="0"/>
        </a:spcAft>
        <a:defRPr sz="4400">
          <a:solidFill>
            <a:srgbClr val="000000"/>
          </a:solidFill>
          <a:latin typeface="Aptos Display" panose="020B0004020202020204" pitchFamily="34" charset="0"/>
        </a:defRPr>
      </a:lvl8pPr>
      <a:lvl9pPr marL="1828800" algn="l" rtl="0" eaLnBrk="0" fontAlgn="base">
        <a:lnSpc>
          <a:spcPct val="90000"/>
        </a:lnSpc>
        <a:spcBef>
          <a:spcPct val="0"/>
        </a:spcBef>
        <a:spcAft>
          <a:spcPct val="0"/>
        </a:spcAft>
        <a:defRPr sz="4400">
          <a:solidFill>
            <a:srgbClr val="000000"/>
          </a:solidFill>
          <a:latin typeface="Aptos Display" panose="020B0004020202020204" pitchFamily="34" charset="0"/>
        </a:defRPr>
      </a:lvl9pPr>
    </p:titleStyle>
    <p:bodyStyle>
      <a:lvl1pPr marL="228600" indent="-228600" algn="l" rtl="0" eaLnBrk="0" fontAlgn="base" hangingPunct="0">
        <a:lnSpc>
          <a:spcPct val="90000"/>
        </a:lnSpc>
        <a:spcBef>
          <a:spcPts val="1000"/>
        </a:spcBef>
        <a:spcAft>
          <a:spcPct val="0"/>
        </a:spcAft>
        <a:buSzPct val="100000"/>
        <a:buFont typeface="Arial" panose="020B0604020202020204" pitchFamily="34" charset="0"/>
        <a:buChar char="•"/>
        <a:defRPr lang="en-US" sz="2800" kern="1200">
          <a:solidFill>
            <a:srgbClr val="000000"/>
          </a:solidFill>
          <a:latin typeface="Aptos"/>
        </a:defRPr>
      </a:lvl1pPr>
      <a:lvl2pPr marL="685800" lvl="1" indent="-228600" algn="l" rtl="0" eaLnBrk="0" fontAlgn="base" hangingPunct="0">
        <a:lnSpc>
          <a:spcPct val="90000"/>
        </a:lnSpc>
        <a:spcBef>
          <a:spcPts val="500"/>
        </a:spcBef>
        <a:spcAft>
          <a:spcPct val="0"/>
        </a:spcAft>
        <a:buSzPct val="100000"/>
        <a:buFont typeface="Arial" panose="020B0604020202020204" pitchFamily="34" charset="0"/>
        <a:buChar char="•"/>
        <a:defRPr lang="en-US" sz="2400" kern="1200">
          <a:solidFill>
            <a:srgbClr val="000000"/>
          </a:solidFill>
          <a:latin typeface="Aptos"/>
        </a:defRPr>
      </a:lvl2pPr>
      <a:lvl3pPr marL="1143000" lvl="2" indent="-228600" algn="l" rtl="0" eaLnBrk="0" fontAlgn="base" hangingPunct="0">
        <a:lnSpc>
          <a:spcPct val="90000"/>
        </a:lnSpc>
        <a:spcBef>
          <a:spcPts val="500"/>
        </a:spcBef>
        <a:spcAft>
          <a:spcPct val="0"/>
        </a:spcAft>
        <a:buSzPct val="100000"/>
        <a:buFont typeface="Arial" panose="020B0604020202020204" pitchFamily="34" charset="0"/>
        <a:buChar char="•"/>
        <a:defRPr lang="en-US" sz="2000" kern="1200">
          <a:solidFill>
            <a:srgbClr val="000000"/>
          </a:solidFill>
          <a:latin typeface="Aptos"/>
        </a:defRPr>
      </a:lvl3pPr>
      <a:lvl4pPr marL="1600200" lvl="3" indent="-228600" algn="l" rtl="0" eaLnBrk="0" fontAlgn="base" hangingPunct="0">
        <a:lnSpc>
          <a:spcPct val="90000"/>
        </a:lnSpc>
        <a:spcBef>
          <a:spcPts val="500"/>
        </a:spcBef>
        <a:spcAft>
          <a:spcPct val="0"/>
        </a:spcAft>
        <a:buSzPct val="100000"/>
        <a:buFont typeface="Arial" panose="020B0604020202020204" pitchFamily="34" charset="0"/>
        <a:buChar char="•"/>
        <a:defRPr lang="en-US" kern="1200">
          <a:solidFill>
            <a:srgbClr val="000000"/>
          </a:solidFill>
          <a:latin typeface="Aptos"/>
        </a:defRPr>
      </a:lvl4pPr>
      <a:lvl5pPr marL="2057400" lvl="4" indent="-228600" algn="l" rtl="0" eaLnBrk="0" fontAlgn="base" hangingPunct="0">
        <a:lnSpc>
          <a:spcPct val="90000"/>
        </a:lnSpc>
        <a:spcBef>
          <a:spcPts val="500"/>
        </a:spcBef>
        <a:spcAft>
          <a:spcPct val="0"/>
        </a:spcAft>
        <a:buSzPct val="100000"/>
        <a:buFont typeface="Arial" panose="020B0604020202020204" pitchFamily="34" charset="0"/>
        <a:buChar char="•"/>
        <a:defRPr lang="en-US" kern="1200">
          <a:solidFill>
            <a:srgbClr val="000000"/>
          </a:solidFill>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4.jpeg"/><Relationship Id="rId13" Type="http://schemas.openxmlformats.org/officeDocument/2006/relationships/image" Target="../media/image39.png"/><Relationship Id="rId3" Type="http://schemas.openxmlformats.org/officeDocument/2006/relationships/image" Target="../media/image31.jpeg"/><Relationship Id="rId7" Type="http://schemas.openxmlformats.org/officeDocument/2006/relationships/image" Target="../media/image2.png"/><Relationship Id="rId12"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jpe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36.jpeg"/><Relationship Id="rId4" Type="http://schemas.openxmlformats.org/officeDocument/2006/relationships/image" Target="../media/image3.jpeg"/><Relationship Id="rId9"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7B819395-BBDA-9828-1551-D7C7CB8A2893}"/>
              </a:ext>
            </a:extLst>
          </p:cNvPr>
          <p:cNvSpPr>
            <a:spLocks noChangeArrowheads="1"/>
          </p:cNvSpPr>
          <p:nvPr/>
        </p:nvSpPr>
        <p:spPr bwMode="auto">
          <a:xfrm>
            <a:off x="541338" y="2406650"/>
            <a:ext cx="11155362"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4000" dirty="0">
                <a:solidFill>
                  <a:srgbClr val="171717"/>
                </a:solidFill>
                <a:latin typeface="Calibri"/>
                <a:ea typeface="Calibri"/>
                <a:cs typeface="Arial"/>
              </a:rPr>
              <a:t>Predicting trajectories of acute illness using RNA velocity of whole blood​</a:t>
            </a:r>
          </a:p>
          <a:p>
            <a:pPr eaLnBrk="1" hangingPunct="1">
              <a:spcBef>
                <a:spcPct val="0"/>
              </a:spcBef>
              <a:buSzTx/>
              <a:buNone/>
            </a:pPr>
            <a:r>
              <a:rPr lang="en-GB" altLang="en-US" sz="3000" i="1" dirty="0">
                <a:solidFill>
                  <a:srgbClr val="171717"/>
                </a:solidFill>
                <a:latin typeface="Calibri"/>
                <a:ea typeface="Calibri"/>
                <a:cs typeface="Arial"/>
              </a:rPr>
              <a:t>a.k.a. The last </a:t>
            </a:r>
            <a:r>
              <a:rPr lang="en-GB" altLang="en-US" sz="3000" i="1" strike="sngStrike">
                <a:solidFill>
                  <a:srgbClr val="FF0000"/>
                </a:solidFill>
                <a:latin typeface="Calibri"/>
                <a:ea typeface="Calibri"/>
                <a:cs typeface="Arial"/>
              </a:rPr>
              <a:t>7 </a:t>
            </a:r>
            <a:r>
              <a:rPr lang="en-GB" altLang="en-US" sz="3000" i="1" dirty="0">
                <a:solidFill>
                  <a:schemeClr val="tx1"/>
                </a:solidFill>
                <a:latin typeface="Calibri"/>
                <a:ea typeface="Calibri"/>
                <a:cs typeface="Arial"/>
              </a:rPr>
              <a:t>8</a:t>
            </a:r>
            <a:r>
              <a:rPr lang="en-GB" altLang="en-US" sz="3000" i="1" dirty="0">
                <a:solidFill>
                  <a:srgbClr val="171717"/>
                </a:solidFill>
                <a:latin typeface="Calibri"/>
                <a:ea typeface="Calibri"/>
                <a:cs typeface="Arial"/>
              </a:rPr>
              <a:t> years of my life</a:t>
            </a:r>
            <a:endParaRPr lang="en-US" altLang="en-US" sz="3000" i="1" dirty="0">
              <a:solidFill>
                <a:srgbClr val="171717"/>
              </a:solidFill>
              <a:latin typeface="Calibri"/>
              <a:ea typeface="Calibri"/>
              <a:cs typeface="Arial"/>
            </a:endParaRPr>
          </a:p>
        </p:txBody>
      </p:sp>
      <p:sp>
        <p:nvSpPr>
          <p:cNvPr id="4099" name="Subtitle 2">
            <a:extLst>
              <a:ext uri="{FF2B5EF4-FFF2-40B4-BE49-F238E27FC236}">
                <a16:creationId xmlns:a16="http://schemas.microsoft.com/office/drawing/2014/main" id="{95868B60-0500-931D-4A42-4417C728D2F0}"/>
              </a:ext>
            </a:extLst>
          </p:cNvPr>
          <p:cNvSpPr>
            <a:spLocks noChangeArrowheads="1"/>
          </p:cNvSpPr>
          <p:nvPr/>
        </p:nvSpPr>
        <p:spPr bwMode="auto">
          <a:xfrm>
            <a:off x="595313" y="4841875"/>
            <a:ext cx="91440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buSzTx/>
              <a:buNone/>
            </a:pPr>
            <a:r>
              <a:rPr lang="en-US" altLang="en-US" sz="2000" dirty="0">
                <a:latin typeface="Arial"/>
                <a:cs typeface="Arial"/>
              </a:rPr>
              <a:t>Bioinformatics Webinar, 3rd March 2026</a:t>
            </a:r>
          </a:p>
          <a:p>
            <a:pPr>
              <a:buSzTx/>
              <a:buNone/>
            </a:pPr>
            <a:endParaRPr lang="en-US" altLang="en-US" sz="700" b="1" dirty="0">
              <a:latin typeface="Arial"/>
              <a:cs typeface="Arial"/>
            </a:endParaRPr>
          </a:p>
          <a:p>
            <a:pPr>
              <a:buSzTx/>
              <a:buFontTx/>
              <a:buNone/>
            </a:pPr>
            <a:r>
              <a:rPr lang="en-US" altLang="en-US" sz="2000" b="1" dirty="0">
                <a:latin typeface="Arial"/>
                <a:cs typeface="Arial"/>
              </a:rPr>
              <a:t>Dr Claire Dunican</a:t>
            </a:r>
            <a:endParaRPr lang="en-US" dirty="0"/>
          </a:p>
          <a:p>
            <a:pPr eaLnBrk="1" hangingPunct="1">
              <a:buSzTx/>
              <a:buFontTx/>
              <a:buNone/>
            </a:pPr>
            <a:r>
              <a:rPr lang="en-US" altLang="en-US" sz="2000" i="1" dirty="0">
                <a:latin typeface="Arial"/>
                <a:cs typeface="Arial"/>
              </a:rPr>
              <a:t>Bioinformatician, Pediatric Infectious Disease</a:t>
            </a:r>
          </a:p>
        </p:txBody>
      </p:sp>
      <p:pic>
        <p:nvPicPr>
          <p:cNvPr id="4100" name="Picture 5" descr="Engineering and Physical Sciences Research Council | UKCDR">
            <a:extLst>
              <a:ext uri="{FF2B5EF4-FFF2-40B4-BE49-F238E27FC236}">
                <a16:creationId xmlns:a16="http://schemas.microsoft.com/office/drawing/2014/main" id="{1A7C7AFE-920B-001E-BAFA-A728C0777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263525"/>
            <a:ext cx="3182937"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6">
            <a:extLst>
              <a:ext uri="{FF2B5EF4-FFF2-40B4-BE49-F238E27FC236}">
                <a16:creationId xmlns:a16="http://schemas.microsoft.com/office/drawing/2014/main" id="{DC310549-F06F-5DA1-23FD-1BD2907A5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831"/>
          <a:stretch>
            <a:fillRect/>
          </a:stretch>
        </p:blipFill>
        <p:spPr bwMode="auto">
          <a:xfrm>
            <a:off x="3962400" y="133350"/>
            <a:ext cx="252095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2" descr="New Imperial logo">
            <a:extLst>
              <a:ext uri="{FF2B5EF4-FFF2-40B4-BE49-F238E27FC236}">
                <a16:creationId xmlns:a16="http://schemas.microsoft.com/office/drawing/2014/main" id="{842A8038-E326-0551-548E-3D9561BFA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5088" y="-3175"/>
            <a:ext cx="3233737"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Slide Number Placeholder 6">
            <a:extLst>
              <a:ext uri="{FF2B5EF4-FFF2-40B4-BE49-F238E27FC236}">
                <a16:creationId xmlns:a16="http://schemas.microsoft.com/office/drawing/2014/main" id="{2BA21403-5E5E-53D3-62F7-DB5A2DE4B4B6}"/>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92E8D343-031E-429D-9C6D-ECAA40357173}" type="slidenum">
              <a:rPr lang="en-US" altLang="en-US" sz="1200">
                <a:solidFill>
                  <a:srgbClr val="767676"/>
                </a:solidFill>
              </a:rPr>
              <a:pPr algn="r" eaLnBrk="1" hangingPunct="1">
                <a:lnSpc>
                  <a:spcPct val="100000"/>
                </a:lnSpc>
                <a:spcBef>
                  <a:spcPct val="0"/>
                </a:spcBef>
                <a:buSzTx/>
                <a:buFontTx/>
                <a:buNone/>
              </a:pPr>
              <a:t>1</a:t>
            </a:fld>
            <a:endParaRPr lang="en-US" altLang="en-US" sz="1200">
              <a:solidFill>
                <a:srgbClr val="767676"/>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name="Slide485">
    <p:spTree>
      <p:nvGrpSpPr>
        <p:cNvPr id="1" name=""/>
        <p:cNvGrpSpPr/>
        <p:nvPr/>
      </p:nvGrpSpPr>
      <p:grpSpPr>
        <a:xfrm>
          <a:off x="0" y="0"/>
          <a:ext cx="0" cy="0"/>
          <a:chOff x="0" y="0"/>
          <a:chExt cx="0" cy="0"/>
        </a:xfrm>
      </p:grpSpPr>
      <p:pic>
        <p:nvPicPr>
          <p:cNvPr id="5122" name="Picture 4">
            <a:extLst>
              <a:ext uri="{FF2B5EF4-FFF2-40B4-BE49-F238E27FC236}">
                <a16:creationId xmlns:a16="http://schemas.microsoft.com/office/drawing/2014/main" id="{47E8473A-3E98-E8C9-AA0C-49D7D54F9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538" y="1057275"/>
            <a:ext cx="101346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Box 5">
            <a:extLst>
              <a:ext uri="{FF2B5EF4-FFF2-40B4-BE49-F238E27FC236}">
                <a16:creationId xmlns:a16="http://schemas.microsoft.com/office/drawing/2014/main" id="{B0B021BF-9671-34C4-F673-3F9C265EE28E}"/>
              </a:ext>
            </a:extLst>
          </p:cNvPr>
          <p:cNvSpPr txBox="1">
            <a:spLocks noChangeArrowheads="1"/>
          </p:cNvSpPr>
          <p:nvPr/>
        </p:nvSpPr>
        <p:spPr bwMode="auto">
          <a:xfrm>
            <a:off x="9875838" y="1177925"/>
            <a:ext cx="168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b="1"/>
              <a:t>Recovery</a:t>
            </a:r>
          </a:p>
        </p:txBody>
      </p:sp>
      <p:sp>
        <p:nvSpPr>
          <p:cNvPr id="5124" name="TextBox 6">
            <a:extLst>
              <a:ext uri="{FF2B5EF4-FFF2-40B4-BE49-F238E27FC236}">
                <a16:creationId xmlns:a16="http://schemas.microsoft.com/office/drawing/2014/main" id="{40D9086C-123B-15C5-F8FA-78FF657CDE75}"/>
              </a:ext>
            </a:extLst>
          </p:cNvPr>
          <p:cNvSpPr txBox="1">
            <a:spLocks noChangeArrowheads="1"/>
          </p:cNvSpPr>
          <p:nvPr/>
        </p:nvSpPr>
        <p:spPr bwMode="auto">
          <a:xfrm>
            <a:off x="10361613" y="4765675"/>
            <a:ext cx="168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b="1"/>
              <a:t>Death</a:t>
            </a:r>
          </a:p>
        </p:txBody>
      </p:sp>
      <p:sp>
        <p:nvSpPr>
          <p:cNvPr id="5125" name="TextBox 1">
            <a:extLst>
              <a:ext uri="{FF2B5EF4-FFF2-40B4-BE49-F238E27FC236}">
                <a16:creationId xmlns:a16="http://schemas.microsoft.com/office/drawing/2014/main" id="{78622F0E-C607-0969-FEF2-CDC7CB74838B}"/>
              </a:ext>
            </a:extLst>
          </p:cNvPr>
          <p:cNvSpPr txBox="1">
            <a:spLocks noChangeArrowheads="1"/>
          </p:cNvSpPr>
          <p:nvPr/>
        </p:nvSpPr>
        <p:spPr bwMode="auto">
          <a:xfrm>
            <a:off x="422275" y="342900"/>
            <a:ext cx="10294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b="1">
                <a:latin typeface="Calibri" panose="020F0502020204030204" pitchFamily="34" charset="0"/>
                <a:cs typeface="Calibri" panose="020F0502020204030204" pitchFamily="34" charset="0"/>
              </a:rPr>
              <a:t>The problem: </a:t>
            </a:r>
            <a:r>
              <a:rPr lang="en-GB" altLang="en-US">
                <a:latin typeface="Calibri" panose="020F0502020204030204" pitchFamily="34" charset="0"/>
                <a:cs typeface="Calibri" panose="020F0502020204030204" pitchFamily="34" charset="0"/>
              </a:rPr>
              <a:t>disease trajectory variation</a:t>
            </a:r>
          </a:p>
        </p:txBody>
      </p:sp>
      <p:sp>
        <p:nvSpPr>
          <p:cNvPr id="5126" name="Slide Number Placeholder 2">
            <a:extLst>
              <a:ext uri="{FF2B5EF4-FFF2-40B4-BE49-F238E27FC236}">
                <a16:creationId xmlns:a16="http://schemas.microsoft.com/office/drawing/2014/main" id="{2CF7ABB0-E462-9820-C064-BB60689888E2}"/>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6AE5C215-0E1A-47EB-B956-17770EC10935}" type="slidenum">
              <a:rPr lang="en-US" altLang="en-US" sz="1200">
                <a:solidFill>
                  <a:srgbClr val="767676"/>
                </a:solidFill>
              </a:rPr>
              <a:pPr algn="r" eaLnBrk="1" hangingPunct="1">
                <a:lnSpc>
                  <a:spcPct val="100000"/>
                </a:lnSpc>
                <a:spcBef>
                  <a:spcPct val="0"/>
                </a:spcBef>
                <a:buSzTx/>
                <a:buFontTx/>
                <a:buNone/>
              </a:pPr>
              <a:t>2</a:t>
            </a:fld>
            <a:endParaRPr lang="en-US" altLang="en-US" sz="1200">
              <a:solidFill>
                <a:srgbClr val="767676"/>
              </a:solidFill>
            </a:endParaRPr>
          </a:p>
        </p:txBody>
      </p:sp>
      <p:sp>
        <p:nvSpPr>
          <p:cNvPr id="5127" name="Slide Number Placeholder 6">
            <a:extLst>
              <a:ext uri="{FF2B5EF4-FFF2-40B4-BE49-F238E27FC236}">
                <a16:creationId xmlns:a16="http://schemas.microsoft.com/office/drawing/2014/main" id="{5C364A92-248E-83CB-74DD-48B6E4135655}"/>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CDA9BD8F-EB40-49BA-B7A6-3BC5532D1A67}" type="slidenum">
              <a:rPr lang="en-US" altLang="en-US" sz="1200">
                <a:solidFill>
                  <a:srgbClr val="767676"/>
                </a:solidFill>
              </a:rPr>
              <a:pPr algn="r" eaLnBrk="1" hangingPunct="1">
                <a:lnSpc>
                  <a:spcPct val="100000"/>
                </a:lnSpc>
                <a:spcBef>
                  <a:spcPct val="0"/>
                </a:spcBef>
                <a:buSzTx/>
                <a:buFontTx/>
                <a:buNone/>
              </a:pPr>
              <a:t>2</a:t>
            </a:fld>
            <a:endParaRPr lang="en-US" altLang="en-US" sz="1200">
              <a:solidFill>
                <a:srgbClr val="767676"/>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name="Slide488">
    <p:spTree>
      <p:nvGrpSpPr>
        <p:cNvPr id="1" name=""/>
        <p:cNvGrpSpPr/>
        <p:nvPr/>
      </p:nvGrpSpPr>
      <p:grpSpPr>
        <a:xfrm>
          <a:off x="0" y="0"/>
          <a:ext cx="0" cy="0"/>
          <a:chOff x="0" y="0"/>
          <a:chExt cx="0" cy="0"/>
        </a:xfrm>
      </p:grpSpPr>
      <p:sp>
        <p:nvSpPr>
          <p:cNvPr id="7170" name="TextBox 3">
            <a:extLst>
              <a:ext uri="{FF2B5EF4-FFF2-40B4-BE49-F238E27FC236}">
                <a16:creationId xmlns:a16="http://schemas.microsoft.com/office/drawing/2014/main" id="{75E27738-017D-B139-CBBE-D3D20F6CA864}"/>
              </a:ext>
            </a:extLst>
          </p:cNvPr>
          <p:cNvSpPr txBox="1">
            <a:spLocks noChangeArrowheads="1"/>
          </p:cNvSpPr>
          <p:nvPr/>
        </p:nvSpPr>
        <p:spPr bwMode="auto">
          <a:xfrm>
            <a:off x="1965325" y="2171700"/>
            <a:ext cx="79629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4400" b="1">
                <a:latin typeface="Calibri" panose="020F0502020204030204" pitchFamily="34" charset="0"/>
                <a:cs typeface="Calibri" panose="020F0502020204030204" pitchFamily="34" charset="0"/>
              </a:rPr>
              <a:t>Our Solution: </a:t>
            </a:r>
            <a:r>
              <a:rPr lang="en-GB" altLang="en-US" sz="4400">
                <a:latin typeface="Calibri" panose="020F0502020204030204" pitchFamily="34" charset="0"/>
                <a:cs typeface="Calibri" panose="020F0502020204030204" pitchFamily="34" charset="0"/>
              </a:rPr>
              <a:t>develop a method to predict future disease trajectories</a:t>
            </a:r>
          </a:p>
        </p:txBody>
      </p:sp>
      <p:sp>
        <p:nvSpPr>
          <p:cNvPr id="7171" name="Slide Number Placeholder 1">
            <a:extLst>
              <a:ext uri="{FF2B5EF4-FFF2-40B4-BE49-F238E27FC236}">
                <a16:creationId xmlns:a16="http://schemas.microsoft.com/office/drawing/2014/main" id="{31E2070E-1F0E-066A-E9F9-A40D4317E992}"/>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B02ABE4A-EB44-48B7-962A-6829CD9697FC}" type="slidenum">
              <a:rPr lang="en-US" altLang="en-US" sz="1200">
                <a:solidFill>
                  <a:srgbClr val="767676"/>
                </a:solidFill>
              </a:rPr>
              <a:pPr algn="r" eaLnBrk="1" hangingPunct="1">
                <a:lnSpc>
                  <a:spcPct val="100000"/>
                </a:lnSpc>
                <a:spcBef>
                  <a:spcPct val="0"/>
                </a:spcBef>
                <a:buSzTx/>
                <a:buFontTx/>
                <a:buNone/>
              </a:pPr>
              <a:t>3</a:t>
            </a:fld>
            <a:endParaRPr lang="en-US" altLang="en-US" sz="1200">
              <a:solidFill>
                <a:srgbClr val="767676"/>
              </a:solidFill>
            </a:endParaRPr>
          </a:p>
        </p:txBody>
      </p:sp>
      <p:sp>
        <p:nvSpPr>
          <p:cNvPr id="7172" name="Slide Number Placeholder 3">
            <a:extLst>
              <a:ext uri="{FF2B5EF4-FFF2-40B4-BE49-F238E27FC236}">
                <a16:creationId xmlns:a16="http://schemas.microsoft.com/office/drawing/2014/main" id="{BBE5049F-6E10-5E66-C919-57299024FB9C}"/>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881B827F-55B7-4F69-BD1D-E857CF389FC9}" type="slidenum">
              <a:rPr lang="en-US" altLang="en-US" sz="1200">
                <a:solidFill>
                  <a:srgbClr val="767676"/>
                </a:solidFill>
              </a:rPr>
              <a:pPr algn="r" eaLnBrk="1" hangingPunct="1">
                <a:lnSpc>
                  <a:spcPct val="100000"/>
                </a:lnSpc>
                <a:spcBef>
                  <a:spcPct val="0"/>
                </a:spcBef>
                <a:buSzTx/>
                <a:buFontTx/>
                <a:buNone/>
              </a:pPr>
              <a:t>3</a:t>
            </a:fld>
            <a:endParaRPr lang="en-US" altLang="en-US" sz="1200">
              <a:solidFill>
                <a:srgbClr val="767676"/>
              </a:solidFill>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Slide487">
    <p:spTree>
      <p:nvGrpSpPr>
        <p:cNvPr id="1" name=""/>
        <p:cNvGrpSpPr/>
        <p:nvPr/>
      </p:nvGrpSpPr>
      <p:grpSpPr>
        <a:xfrm>
          <a:off x="0" y="0"/>
          <a:ext cx="0" cy="0"/>
          <a:chOff x="0" y="0"/>
          <a:chExt cx="0" cy="0"/>
        </a:xfrm>
      </p:grpSpPr>
      <p:pic>
        <p:nvPicPr>
          <p:cNvPr id="8194" name="Picture 5">
            <a:extLst>
              <a:ext uri="{FF2B5EF4-FFF2-40B4-BE49-F238E27FC236}">
                <a16:creationId xmlns:a16="http://schemas.microsoft.com/office/drawing/2014/main" id="{72AB0869-6318-DE2F-751A-F43D815600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70" r="37160" b="-2"/>
          <a:stretch>
            <a:fillRect/>
          </a:stretch>
        </p:blipFill>
        <p:spPr bwMode="auto">
          <a:xfrm>
            <a:off x="649288" y="1384300"/>
            <a:ext cx="432117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1BE450AD-6ADE-E1F5-0DD1-CD5BC7A6C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2800" y="1106488"/>
            <a:ext cx="5487988" cy="464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rrow: Left 3">
            <a:extLst>
              <a:ext uri="{FF2B5EF4-FFF2-40B4-BE49-F238E27FC236}">
                <a16:creationId xmlns:a16="http://schemas.microsoft.com/office/drawing/2014/main" id="{14A6BC8E-4FE7-2D51-1314-1A9B280F15C9}"/>
              </a:ext>
            </a:extLst>
          </p:cNvPr>
          <p:cNvSpPr>
            <a:spLocks/>
          </p:cNvSpPr>
          <p:nvPr/>
        </p:nvSpPr>
        <p:spPr bwMode="auto">
          <a:xfrm>
            <a:off x="9236075" y="1979613"/>
            <a:ext cx="2449513" cy="109537"/>
          </a:xfrm>
          <a:custGeom>
            <a:avLst/>
            <a:gdLst>
              <a:gd name="T0" fmla="*/ 2147483646 w 21600"/>
              <a:gd name="T1" fmla="*/ 0 h 21600"/>
              <a:gd name="T2" fmla="*/ 2147483646 w 21600"/>
              <a:gd name="T3" fmla="*/ 7129297 h 21600"/>
              <a:gd name="T4" fmla="*/ 2147483646 w 21600"/>
              <a:gd name="T5" fmla="*/ 14258588 h 21600"/>
              <a:gd name="T6" fmla="*/ 0 w 21600"/>
              <a:gd name="T7" fmla="*/ 7129297 h 21600"/>
              <a:gd name="T8" fmla="*/ 2147483646 w 21600"/>
              <a:gd name="T9" fmla="*/ 0 h 21600"/>
              <a:gd name="T10" fmla="*/ 2147483646 w 21600"/>
              <a:gd name="T11" fmla="*/ 14258588 h 21600"/>
              <a:gd name="T12" fmla="*/ 17694720 60000 65536"/>
              <a:gd name="T13" fmla="*/ 0 60000 65536"/>
              <a:gd name="T14" fmla="*/ 5898240 60000 65536"/>
              <a:gd name="T15" fmla="*/ 11796480 60000 65536"/>
              <a:gd name="T16" fmla="*/ 17694720 60000 65536"/>
              <a:gd name="T17" fmla="*/ 5898240 60000 65536"/>
              <a:gd name="T18" fmla="*/ 241 w 21600"/>
              <a:gd name="T19" fmla="*/ 5400 h 21600"/>
              <a:gd name="T20" fmla="*/ 21600 w 21600"/>
              <a:gd name="T21" fmla="*/ 162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1600" y="5400"/>
                </a:moveTo>
                <a:lnTo>
                  <a:pt x="482" y="5400"/>
                </a:lnTo>
                <a:lnTo>
                  <a:pt x="482" y="0"/>
                </a:lnTo>
                <a:lnTo>
                  <a:pt x="0" y="10800"/>
                </a:lnTo>
                <a:lnTo>
                  <a:pt x="482" y="21600"/>
                </a:lnTo>
                <a:lnTo>
                  <a:pt x="482" y="16200"/>
                </a:lnTo>
                <a:lnTo>
                  <a:pt x="21600" y="16200"/>
                </a:lnTo>
                <a:lnTo>
                  <a:pt x="21600" y="5400"/>
                </a:lnTo>
                <a:close/>
              </a:path>
            </a:pathLst>
          </a:custGeom>
          <a:solidFill>
            <a:srgbClr val="FF0000"/>
          </a:solidFill>
          <a:ln w="19046" cap="flat">
            <a:solidFill>
              <a:srgbClr val="FF0000"/>
            </a:solidFill>
            <a:prstDash val="solid"/>
            <a:miter lim="800000"/>
            <a:headEnd/>
            <a:tailEnd/>
          </a:ln>
        </p:spPr>
        <p:txBody>
          <a:bodyPr anchor="ctr" anchorCtr="1"/>
          <a:lstStyle/>
          <a:p>
            <a:endParaRPr lang="en-GB"/>
          </a:p>
        </p:txBody>
      </p:sp>
      <p:sp>
        <p:nvSpPr>
          <p:cNvPr id="5" name="Arrow: Left 4">
            <a:extLst>
              <a:ext uri="{FF2B5EF4-FFF2-40B4-BE49-F238E27FC236}">
                <a16:creationId xmlns:a16="http://schemas.microsoft.com/office/drawing/2014/main" id="{A899F1ED-9553-DD5A-7CD6-C1263527AC19}"/>
              </a:ext>
            </a:extLst>
          </p:cNvPr>
          <p:cNvSpPr>
            <a:spLocks/>
          </p:cNvSpPr>
          <p:nvPr/>
        </p:nvSpPr>
        <p:spPr bwMode="auto">
          <a:xfrm>
            <a:off x="8931275" y="2941638"/>
            <a:ext cx="2449513" cy="109537"/>
          </a:xfrm>
          <a:custGeom>
            <a:avLst/>
            <a:gdLst>
              <a:gd name="T0" fmla="*/ 2147483646 w 21600"/>
              <a:gd name="T1" fmla="*/ 0 h 21600"/>
              <a:gd name="T2" fmla="*/ 2147483646 w 21600"/>
              <a:gd name="T3" fmla="*/ 7129297 h 21600"/>
              <a:gd name="T4" fmla="*/ 2147483646 w 21600"/>
              <a:gd name="T5" fmla="*/ 14258588 h 21600"/>
              <a:gd name="T6" fmla="*/ 0 w 21600"/>
              <a:gd name="T7" fmla="*/ 7129297 h 21600"/>
              <a:gd name="T8" fmla="*/ 2147483646 w 21600"/>
              <a:gd name="T9" fmla="*/ 0 h 21600"/>
              <a:gd name="T10" fmla="*/ 2147483646 w 21600"/>
              <a:gd name="T11" fmla="*/ 14258588 h 21600"/>
              <a:gd name="T12" fmla="*/ 17694720 60000 65536"/>
              <a:gd name="T13" fmla="*/ 0 60000 65536"/>
              <a:gd name="T14" fmla="*/ 5898240 60000 65536"/>
              <a:gd name="T15" fmla="*/ 11796480 60000 65536"/>
              <a:gd name="T16" fmla="*/ 17694720 60000 65536"/>
              <a:gd name="T17" fmla="*/ 5898240 60000 65536"/>
              <a:gd name="T18" fmla="*/ 241 w 21600"/>
              <a:gd name="T19" fmla="*/ 5400 h 21600"/>
              <a:gd name="T20" fmla="*/ 21600 w 21600"/>
              <a:gd name="T21" fmla="*/ 162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1600" y="5400"/>
                </a:moveTo>
                <a:lnTo>
                  <a:pt x="482" y="5400"/>
                </a:lnTo>
                <a:lnTo>
                  <a:pt x="482" y="0"/>
                </a:lnTo>
                <a:lnTo>
                  <a:pt x="0" y="10800"/>
                </a:lnTo>
                <a:lnTo>
                  <a:pt x="482" y="21600"/>
                </a:lnTo>
                <a:lnTo>
                  <a:pt x="482" y="16200"/>
                </a:lnTo>
                <a:lnTo>
                  <a:pt x="21600" y="16200"/>
                </a:lnTo>
                <a:lnTo>
                  <a:pt x="21600" y="5400"/>
                </a:lnTo>
                <a:close/>
              </a:path>
            </a:pathLst>
          </a:custGeom>
          <a:solidFill>
            <a:srgbClr val="FF0000"/>
          </a:solidFill>
          <a:ln w="19046" cap="flat">
            <a:solidFill>
              <a:srgbClr val="FF0000"/>
            </a:solidFill>
            <a:prstDash val="solid"/>
            <a:miter lim="800000"/>
            <a:headEnd/>
            <a:tailEnd/>
          </a:ln>
        </p:spPr>
        <p:txBody>
          <a:bodyPr anchor="ctr" anchorCtr="1"/>
          <a:lstStyle/>
          <a:p>
            <a:endParaRPr lang="en-GB"/>
          </a:p>
        </p:txBody>
      </p:sp>
      <p:sp>
        <p:nvSpPr>
          <p:cNvPr id="8198" name="Slide Number Placeholder 1">
            <a:extLst>
              <a:ext uri="{FF2B5EF4-FFF2-40B4-BE49-F238E27FC236}">
                <a16:creationId xmlns:a16="http://schemas.microsoft.com/office/drawing/2014/main" id="{54B6A9F0-6543-8675-CD65-B7E44F48775E}"/>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F73FAF05-458F-4A8E-9410-3EB6D84DBD5D}" type="slidenum">
              <a:rPr lang="en-US" altLang="en-US" sz="1200">
                <a:solidFill>
                  <a:srgbClr val="767676"/>
                </a:solidFill>
              </a:rPr>
              <a:pPr algn="r" eaLnBrk="1" hangingPunct="1">
                <a:lnSpc>
                  <a:spcPct val="100000"/>
                </a:lnSpc>
                <a:spcBef>
                  <a:spcPct val="0"/>
                </a:spcBef>
                <a:buSzTx/>
                <a:buFontTx/>
                <a:buNone/>
              </a:pPr>
              <a:t>4</a:t>
            </a:fld>
            <a:endParaRPr lang="en-US" altLang="en-US" sz="1200">
              <a:solidFill>
                <a:srgbClr val="767676"/>
              </a:solidFill>
            </a:endParaRPr>
          </a:p>
        </p:txBody>
      </p:sp>
      <p:sp>
        <p:nvSpPr>
          <p:cNvPr id="8199" name="Slide Number Placeholder 6">
            <a:extLst>
              <a:ext uri="{FF2B5EF4-FFF2-40B4-BE49-F238E27FC236}">
                <a16:creationId xmlns:a16="http://schemas.microsoft.com/office/drawing/2014/main" id="{01280270-F2F6-8162-7A98-8D090DD74217}"/>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FC1AE5AC-C16B-4C58-8DD0-3F00B202E990}" type="slidenum">
              <a:rPr lang="en-US" altLang="en-US" sz="1200">
                <a:solidFill>
                  <a:srgbClr val="767676"/>
                </a:solidFill>
              </a:rPr>
              <a:pPr algn="r" eaLnBrk="1" hangingPunct="1">
                <a:lnSpc>
                  <a:spcPct val="100000"/>
                </a:lnSpc>
                <a:spcBef>
                  <a:spcPct val="0"/>
                </a:spcBef>
                <a:buSzTx/>
                <a:buFontTx/>
                <a:buNone/>
              </a:pPr>
              <a:t>4</a:t>
            </a:fld>
            <a:endParaRPr lang="en-US" altLang="en-US" sz="1200">
              <a:solidFill>
                <a:srgbClr val="767676"/>
              </a:solidFill>
            </a:endParaRPr>
          </a:p>
        </p:txBody>
      </p:sp>
      <p:sp>
        <p:nvSpPr>
          <p:cNvPr id="8200" name="Title 1">
            <a:extLst>
              <a:ext uri="{FF2B5EF4-FFF2-40B4-BE49-F238E27FC236}">
                <a16:creationId xmlns:a16="http://schemas.microsoft.com/office/drawing/2014/main" id="{FE792AFD-AE92-AE79-09DD-B0FAF3310EDE}"/>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Background: RNA Velocity</a:t>
            </a:r>
            <a:endParaRPr altLang="en-US">
              <a:latin typeface="Aptos Display" panose="020B0004020202020204" pitchFamily="34" charset="0"/>
            </a:endParaRPr>
          </a:p>
        </p:txBody>
      </p:sp>
      <p:sp>
        <p:nvSpPr>
          <p:cNvPr id="8201" name="TextBox 1">
            <a:extLst>
              <a:ext uri="{FF2B5EF4-FFF2-40B4-BE49-F238E27FC236}">
                <a16:creationId xmlns:a16="http://schemas.microsoft.com/office/drawing/2014/main" id="{F9D1FDF3-82AB-8BDB-8643-986C26A6ABF6}"/>
              </a:ext>
            </a:extLst>
          </p:cNvPr>
          <p:cNvSpPr txBox="1">
            <a:spLocks noChangeArrowheads="1"/>
          </p:cNvSpPr>
          <p:nvPr/>
        </p:nvSpPr>
        <p:spPr bwMode="auto">
          <a:xfrm>
            <a:off x="7199313" y="349250"/>
            <a:ext cx="4598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eaLnBrk="0" fontAlgn="base" hangingPunct="0">
              <a:spcBef>
                <a:spcPct val="0"/>
              </a:spcBef>
              <a:spcAft>
                <a:spcPct val="0"/>
              </a:spcAft>
              <a:defRPr>
                <a:solidFill>
                  <a:schemeClr val="tx1"/>
                </a:solidFill>
                <a:latin typeface="Aptos" panose="020B0004020202020204" pitchFamily="34" charset="0"/>
              </a:defRPr>
            </a:lvl6pPr>
            <a:lvl7pPr marL="2971800" indent="-228600" eaLnBrk="0" fontAlgn="base" hangingPunct="0">
              <a:spcBef>
                <a:spcPct val="0"/>
              </a:spcBef>
              <a:spcAft>
                <a:spcPct val="0"/>
              </a:spcAft>
              <a:defRPr>
                <a:solidFill>
                  <a:schemeClr val="tx1"/>
                </a:solidFill>
                <a:latin typeface="Aptos" panose="020B0004020202020204" pitchFamily="34" charset="0"/>
              </a:defRPr>
            </a:lvl7pPr>
            <a:lvl8pPr marL="3429000" indent="-228600" eaLnBrk="0" fontAlgn="base" hangingPunct="0">
              <a:spcBef>
                <a:spcPct val="0"/>
              </a:spcBef>
              <a:spcAft>
                <a:spcPct val="0"/>
              </a:spcAft>
              <a:defRPr>
                <a:solidFill>
                  <a:schemeClr val="tx1"/>
                </a:solidFill>
                <a:latin typeface="Aptos" panose="020B0004020202020204" pitchFamily="34" charset="0"/>
              </a:defRPr>
            </a:lvl8pPr>
            <a:lvl9pPr marL="3886200" indent="-228600" eaLnBrk="0" fontAlgn="base" hangingPunct="0">
              <a:spcBef>
                <a:spcPct val="0"/>
              </a:spcBef>
              <a:spcAft>
                <a:spcPct val="0"/>
              </a:spcAft>
              <a:defRPr>
                <a:solidFill>
                  <a:schemeClr val="tx1"/>
                </a:solidFill>
                <a:latin typeface="Aptos" panose="020B0004020202020204" pitchFamily="34" charset="0"/>
              </a:defRPr>
            </a:lvl9pPr>
          </a:lstStyle>
          <a:p>
            <a:pPr algn="r"/>
            <a:r>
              <a:rPr lang="en-GB" altLang="en-US" b="1"/>
              <a:t>Getting more out of transcriptomics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451">
    <p:spTree>
      <p:nvGrpSpPr>
        <p:cNvPr id="1" name=""/>
        <p:cNvGrpSpPr/>
        <p:nvPr/>
      </p:nvGrpSpPr>
      <p:grpSpPr>
        <a:xfrm>
          <a:off x="0" y="0"/>
          <a:ext cx="0" cy="0"/>
          <a:chOff x="0" y="0"/>
          <a:chExt cx="0" cy="0"/>
        </a:xfrm>
      </p:grpSpPr>
      <p:pic>
        <p:nvPicPr>
          <p:cNvPr id="9218" name="Picture 6">
            <a:extLst>
              <a:ext uri="{FF2B5EF4-FFF2-40B4-BE49-F238E27FC236}">
                <a16:creationId xmlns:a16="http://schemas.microsoft.com/office/drawing/2014/main" id="{1A1EE8FB-37B9-0953-6411-DFAE6AE65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1501775"/>
            <a:ext cx="10701338"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Box 2">
            <a:extLst>
              <a:ext uri="{FF2B5EF4-FFF2-40B4-BE49-F238E27FC236}">
                <a16:creationId xmlns:a16="http://schemas.microsoft.com/office/drawing/2014/main" id="{592CADFF-318C-47D4-FC9C-0C4733827061}"/>
              </a:ext>
            </a:extLst>
          </p:cNvPr>
          <p:cNvSpPr txBox="1">
            <a:spLocks noChangeArrowheads="1"/>
          </p:cNvSpPr>
          <p:nvPr/>
        </p:nvSpPr>
        <p:spPr bwMode="auto">
          <a:xfrm>
            <a:off x="7597775" y="4699000"/>
            <a:ext cx="358457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2200" b="1">
                <a:solidFill>
                  <a:srgbClr val="FF0000"/>
                </a:solidFill>
              </a:rPr>
              <a:t>(What we normally refer to when talking about mRNA)</a:t>
            </a:r>
          </a:p>
        </p:txBody>
      </p:sp>
      <p:sp>
        <p:nvSpPr>
          <p:cNvPr id="9220" name="Slide Number Placeholder 1">
            <a:extLst>
              <a:ext uri="{FF2B5EF4-FFF2-40B4-BE49-F238E27FC236}">
                <a16:creationId xmlns:a16="http://schemas.microsoft.com/office/drawing/2014/main" id="{ECE2DEFA-1B89-A25C-CEF9-637A0ABBC151}"/>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75632694-C88C-4AFB-9314-BF5FB8DBD5D9}" type="slidenum">
              <a:rPr lang="en-GB" altLang="en-US" sz="1200">
                <a:solidFill>
                  <a:srgbClr val="767676"/>
                </a:solidFill>
              </a:rPr>
              <a:pPr algn="r" eaLnBrk="1" hangingPunct="1">
                <a:lnSpc>
                  <a:spcPct val="100000"/>
                </a:lnSpc>
                <a:spcBef>
                  <a:spcPct val="0"/>
                </a:spcBef>
                <a:buSzTx/>
                <a:buFontTx/>
                <a:buNone/>
              </a:pPr>
              <a:t>5</a:t>
            </a:fld>
            <a:endParaRPr lang="en-GB" altLang="en-US" sz="1200">
              <a:solidFill>
                <a:srgbClr val="767676"/>
              </a:solidFill>
            </a:endParaRPr>
          </a:p>
        </p:txBody>
      </p:sp>
      <p:sp>
        <p:nvSpPr>
          <p:cNvPr id="9221" name="Slide Number Placeholder 4">
            <a:extLst>
              <a:ext uri="{FF2B5EF4-FFF2-40B4-BE49-F238E27FC236}">
                <a16:creationId xmlns:a16="http://schemas.microsoft.com/office/drawing/2014/main" id="{B0BC731C-9189-00A0-F611-4EF037274D04}"/>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CCC4B78F-57D9-4368-A51F-414E83ACACFE}" type="slidenum">
              <a:rPr lang="en-US" altLang="en-US" sz="1200">
                <a:solidFill>
                  <a:srgbClr val="767676"/>
                </a:solidFill>
              </a:rPr>
              <a:pPr algn="r" eaLnBrk="1" hangingPunct="1">
                <a:lnSpc>
                  <a:spcPct val="100000"/>
                </a:lnSpc>
                <a:spcBef>
                  <a:spcPct val="0"/>
                </a:spcBef>
                <a:buSzTx/>
                <a:buFontTx/>
                <a:buNone/>
              </a:pPr>
              <a:t>5</a:t>
            </a:fld>
            <a:endParaRPr lang="en-US" altLang="en-US" sz="1200">
              <a:solidFill>
                <a:srgbClr val="767676"/>
              </a:solidFill>
            </a:endParaRPr>
          </a:p>
        </p:txBody>
      </p:sp>
      <p:sp>
        <p:nvSpPr>
          <p:cNvPr id="9222" name="Title 1">
            <a:extLst>
              <a:ext uri="{FF2B5EF4-FFF2-40B4-BE49-F238E27FC236}">
                <a16:creationId xmlns:a16="http://schemas.microsoft.com/office/drawing/2014/main" id="{1C9AC9A7-021F-6CB9-C96F-100991C6C432}"/>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Background: RNA Velocity</a:t>
            </a:r>
            <a:endParaRPr altLang="en-US">
              <a:latin typeface="Aptos Display" panose="020B0004020202020204" pitchFamily="34"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name="Slide465">
    <p:spTree>
      <p:nvGrpSpPr>
        <p:cNvPr id="1" name=""/>
        <p:cNvGrpSpPr/>
        <p:nvPr/>
      </p:nvGrpSpPr>
      <p:grpSpPr>
        <a:xfrm>
          <a:off x="0" y="0"/>
          <a:ext cx="0" cy="0"/>
          <a:chOff x="0" y="0"/>
          <a:chExt cx="0" cy="0"/>
        </a:xfrm>
      </p:grpSpPr>
      <p:pic>
        <p:nvPicPr>
          <p:cNvPr id="11266" name="Picture 3">
            <a:extLst>
              <a:ext uri="{FF2B5EF4-FFF2-40B4-BE49-F238E27FC236}">
                <a16:creationId xmlns:a16="http://schemas.microsoft.com/office/drawing/2014/main" id="{C2457002-6131-F903-3537-434B5DE6BF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37" t="21852" r="43880" b="60741"/>
          <a:stretch>
            <a:fillRect/>
          </a:stretch>
        </p:blipFill>
        <p:spPr bwMode="auto">
          <a:xfrm>
            <a:off x="4946650" y="2438400"/>
            <a:ext cx="34956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11">
            <a:extLst>
              <a:ext uri="{FF2B5EF4-FFF2-40B4-BE49-F238E27FC236}">
                <a16:creationId xmlns:a16="http://schemas.microsoft.com/office/drawing/2014/main" id="{0C1DB504-4B28-E6A7-C560-6C832741B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55" t="34737" b="39745"/>
          <a:stretch>
            <a:fillRect/>
          </a:stretch>
        </p:blipFill>
        <p:spPr bwMode="auto">
          <a:xfrm>
            <a:off x="1720850" y="2387600"/>
            <a:ext cx="2306638"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4">
            <a:extLst>
              <a:ext uri="{FF2B5EF4-FFF2-40B4-BE49-F238E27FC236}">
                <a16:creationId xmlns:a16="http://schemas.microsoft.com/office/drawing/2014/main" id="{2F38203C-B40E-2BAC-8DBE-2F8E3A4BD782}"/>
              </a:ext>
            </a:extLst>
          </p:cNvPr>
          <p:cNvSpPr txBox="1">
            <a:spLocks noChangeArrowheads="1"/>
          </p:cNvSpPr>
          <p:nvPr/>
        </p:nvSpPr>
        <p:spPr bwMode="auto">
          <a:xfrm>
            <a:off x="8891588" y="3122613"/>
            <a:ext cx="25209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200" b="1">
                <a:solidFill>
                  <a:srgbClr val="FF0000"/>
                </a:solidFill>
                <a:latin typeface="Calibri" panose="020F0502020204030204" pitchFamily="34" charset="0"/>
                <a:cs typeface="Calibri" panose="020F0502020204030204" pitchFamily="34" charset="0"/>
              </a:rPr>
              <a:t>Positive Velocity</a:t>
            </a:r>
          </a:p>
        </p:txBody>
      </p:sp>
      <p:sp>
        <p:nvSpPr>
          <p:cNvPr id="11269" name="Rectangle 33">
            <a:extLst>
              <a:ext uri="{FF2B5EF4-FFF2-40B4-BE49-F238E27FC236}">
                <a16:creationId xmlns:a16="http://schemas.microsoft.com/office/drawing/2014/main" id="{AAF89C21-ED16-6F01-F79F-950042991047}"/>
              </a:ext>
            </a:extLst>
          </p:cNvPr>
          <p:cNvSpPr>
            <a:spLocks noChangeArrowheads="1"/>
          </p:cNvSpPr>
          <p:nvPr/>
        </p:nvSpPr>
        <p:spPr bwMode="auto">
          <a:xfrm>
            <a:off x="5153025" y="4108450"/>
            <a:ext cx="3738563" cy="145573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latin typeface="Calibri" panose="020F0502020204030204" pitchFamily="34" charset="0"/>
              <a:cs typeface="Calibri" panose="020F0502020204030204" pitchFamily="34" charset="0"/>
            </a:endParaRPr>
          </a:p>
        </p:txBody>
      </p:sp>
      <p:cxnSp>
        <p:nvCxnSpPr>
          <p:cNvPr id="6" name="Straight Arrow Connector 25">
            <a:extLst>
              <a:ext uri="{FF2B5EF4-FFF2-40B4-BE49-F238E27FC236}">
                <a16:creationId xmlns:a16="http://schemas.microsoft.com/office/drawing/2014/main" id="{2DDB7960-D690-E761-A643-3B8834631E06}"/>
              </a:ext>
            </a:extLst>
          </p:cNvPr>
          <p:cNvCxnSpPr>
            <a:cxnSpLocks noChangeShapeType="1"/>
          </p:cNvCxnSpPr>
          <p:nvPr/>
        </p:nvCxnSpPr>
        <p:spPr bwMode="auto">
          <a:xfrm flipV="1">
            <a:off x="9850438" y="3636963"/>
            <a:ext cx="0" cy="1758950"/>
          </a:xfrm>
          <a:prstGeom prst="straightConnector1">
            <a:avLst/>
          </a:prstGeom>
          <a:noFill/>
          <a:ln w="76196">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7" name="TextBox 1">
            <a:extLst>
              <a:ext uri="{FF2B5EF4-FFF2-40B4-BE49-F238E27FC236}">
                <a16:creationId xmlns:a16="http://schemas.microsoft.com/office/drawing/2014/main" id="{911ED872-B578-C53D-5E6D-327DE04004A0}"/>
              </a:ext>
            </a:extLst>
          </p:cNvPr>
          <p:cNvSpPr txBox="1">
            <a:spLocks noChangeArrowheads="1"/>
          </p:cNvSpPr>
          <p:nvPr/>
        </p:nvSpPr>
        <p:spPr bwMode="auto">
          <a:xfrm>
            <a:off x="10152063" y="4114800"/>
            <a:ext cx="14589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Gene expression</a:t>
            </a:r>
          </a:p>
        </p:txBody>
      </p:sp>
      <p:sp>
        <p:nvSpPr>
          <p:cNvPr id="11272" name="TextBox 5">
            <a:extLst>
              <a:ext uri="{FF2B5EF4-FFF2-40B4-BE49-F238E27FC236}">
                <a16:creationId xmlns:a16="http://schemas.microsoft.com/office/drawing/2014/main" id="{F99E6E0F-1EB4-4430-540D-6B043D182CEB}"/>
              </a:ext>
            </a:extLst>
          </p:cNvPr>
          <p:cNvSpPr txBox="1">
            <a:spLocks noChangeArrowheads="1"/>
          </p:cNvSpPr>
          <p:nvPr/>
        </p:nvSpPr>
        <p:spPr bwMode="auto">
          <a:xfrm>
            <a:off x="4195763" y="2255838"/>
            <a:ext cx="6858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4400" b="1">
                <a:solidFill>
                  <a:srgbClr val="FF0000"/>
                </a:solidFill>
                <a:latin typeface="Calibri" panose="020F0502020204030204" pitchFamily="34" charset="0"/>
                <a:cs typeface="Calibri" panose="020F0502020204030204" pitchFamily="34" charset="0"/>
              </a:rPr>
              <a:t>:</a:t>
            </a:r>
          </a:p>
        </p:txBody>
      </p:sp>
      <p:pic>
        <p:nvPicPr>
          <p:cNvPr id="9" name="Picture 4">
            <a:extLst>
              <a:ext uri="{FF2B5EF4-FFF2-40B4-BE49-F238E27FC236}">
                <a16:creationId xmlns:a16="http://schemas.microsoft.com/office/drawing/2014/main" id="{5F1FCBFF-69DC-957F-2A42-D73C39C71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284" r="44231" b="471"/>
          <a:stretch>
            <a:fillRect/>
          </a:stretch>
        </p:blipFill>
        <p:spPr bwMode="auto">
          <a:xfrm>
            <a:off x="5373688" y="3979863"/>
            <a:ext cx="2794000" cy="14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TextBox 8">
            <a:extLst>
              <a:ext uri="{FF2B5EF4-FFF2-40B4-BE49-F238E27FC236}">
                <a16:creationId xmlns:a16="http://schemas.microsoft.com/office/drawing/2014/main" id="{9C4F71A7-8A92-A433-C951-40904B837583}"/>
              </a:ext>
            </a:extLst>
          </p:cNvPr>
          <p:cNvSpPr txBox="1">
            <a:spLocks noChangeArrowheads="1"/>
          </p:cNvSpPr>
          <p:nvPr/>
        </p:nvSpPr>
        <p:spPr bwMode="auto">
          <a:xfrm>
            <a:off x="5410200" y="1312863"/>
            <a:ext cx="23447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Future</a:t>
            </a:r>
          </a:p>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unspliced</a:t>
            </a:r>
          </a:p>
        </p:txBody>
      </p:sp>
      <p:sp>
        <p:nvSpPr>
          <p:cNvPr id="11275" name="TextBox 9">
            <a:extLst>
              <a:ext uri="{FF2B5EF4-FFF2-40B4-BE49-F238E27FC236}">
                <a16:creationId xmlns:a16="http://schemas.microsoft.com/office/drawing/2014/main" id="{7454EE7B-E7F5-9FE6-4936-A5B0D243F4C6}"/>
              </a:ext>
            </a:extLst>
          </p:cNvPr>
          <p:cNvSpPr txBox="1">
            <a:spLocks noChangeArrowheads="1"/>
          </p:cNvSpPr>
          <p:nvPr/>
        </p:nvSpPr>
        <p:spPr bwMode="auto">
          <a:xfrm>
            <a:off x="1811338" y="1420813"/>
            <a:ext cx="21256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Current</a:t>
            </a:r>
            <a:endParaRPr lang="en-US" altLang="en-US" sz="1800"/>
          </a:p>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Spliced</a:t>
            </a:r>
          </a:p>
        </p:txBody>
      </p:sp>
      <p:pic>
        <p:nvPicPr>
          <p:cNvPr id="12" name="Picture 10">
            <a:extLst>
              <a:ext uri="{FF2B5EF4-FFF2-40B4-BE49-F238E27FC236}">
                <a16:creationId xmlns:a16="http://schemas.microsoft.com/office/drawing/2014/main" id="{6C02D8CD-3E98-4268-6ADD-E783F9410D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71" t="35065" b="16557"/>
          <a:stretch>
            <a:fillRect/>
          </a:stretch>
        </p:blipFill>
        <p:spPr bwMode="auto">
          <a:xfrm>
            <a:off x="1865313" y="4114800"/>
            <a:ext cx="2306637"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Slide Number Placeholder 2">
            <a:extLst>
              <a:ext uri="{FF2B5EF4-FFF2-40B4-BE49-F238E27FC236}">
                <a16:creationId xmlns:a16="http://schemas.microsoft.com/office/drawing/2014/main" id="{A18C9CA1-C1C5-FC4E-78AC-FDEB60E89456}"/>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D52D7326-9959-4833-A77A-307FF511662A}" type="slidenum">
              <a:rPr lang="en-US" altLang="en-US" sz="1200">
                <a:solidFill>
                  <a:srgbClr val="767676"/>
                </a:solidFill>
              </a:rPr>
              <a:pPr algn="r" eaLnBrk="1" hangingPunct="1">
                <a:lnSpc>
                  <a:spcPct val="100000"/>
                </a:lnSpc>
                <a:spcBef>
                  <a:spcPct val="0"/>
                </a:spcBef>
                <a:buSzTx/>
                <a:buFontTx/>
                <a:buNone/>
              </a:pPr>
              <a:t>6</a:t>
            </a:fld>
            <a:endParaRPr lang="en-US" altLang="en-US" sz="1200">
              <a:solidFill>
                <a:srgbClr val="767676"/>
              </a:solidFill>
            </a:endParaRPr>
          </a:p>
        </p:txBody>
      </p:sp>
      <p:sp>
        <p:nvSpPr>
          <p:cNvPr id="11278" name="Slide Number Placeholder 13">
            <a:extLst>
              <a:ext uri="{FF2B5EF4-FFF2-40B4-BE49-F238E27FC236}">
                <a16:creationId xmlns:a16="http://schemas.microsoft.com/office/drawing/2014/main" id="{8CEBEBD7-387B-264D-C64D-F6B04E4B11B5}"/>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69B986AA-91A2-4C99-BBA1-EE8F046C0330}" type="slidenum">
              <a:rPr lang="en-US" altLang="en-US" sz="1200">
                <a:solidFill>
                  <a:srgbClr val="767676"/>
                </a:solidFill>
              </a:rPr>
              <a:pPr algn="r" eaLnBrk="1" hangingPunct="1">
                <a:lnSpc>
                  <a:spcPct val="100000"/>
                </a:lnSpc>
                <a:spcBef>
                  <a:spcPct val="0"/>
                </a:spcBef>
                <a:buSzTx/>
                <a:buFontTx/>
                <a:buNone/>
              </a:pPr>
              <a:t>6</a:t>
            </a:fld>
            <a:endParaRPr lang="en-US" altLang="en-US" sz="1200">
              <a:solidFill>
                <a:srgbClr val="767676"/>
              </a:solidFill>
            </a:endParaRPr>
          </a:p>
        </p:txBody>
      </p:sp>
      <p:sp>
        <p:nvSpPr>
          <p:cNvPr id="11279" name="Title 1">
            <a:extLst>
              <a:ext uri="{FF2B5EF4-FFF2-40B4-BE49-F238E27FC236}">
                <a16:creationId xmlns:a16="http://schemas.microsoft.com/office/drawing/2014/main" id="{D64350C3-4029-3502-B764-2B06A9E060A3}"/>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Background: RNA Velocity</a:t>
            </a:r>
            <a:endParaRPr altLang="en-US">
              <a:latin typeface="Aptos Display" panose="020B00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523">
    <p:spTree>
      <p:nvGrpSpPr>
        <p:cNvPr id="1" name=""/>
        <p:cNvGrpSpPr/>
        <p:nvPr/>
      </p:nvGrpSpPr>
      <p:grpSpPr>
        <a:xfrm>
          <a:off x="0" y="0"/>
          <a:ext cx="0" cy="0"/>
          <a:chOff x="0" y="0"/>
          <a:chExt cx="0" cy="0"/>
        </a:xfrm>
      </p:grpSpPr>
      <p:sp>
        <p:nvSpPr>
          <p:cNvPr id="13314" name="Slide Number Placeholder 2">
            <a:extLst>
              <a:ext uri="{FF2B5EF4-FFF2-40B4-BE49-F238E27FC236}">
                <a16:creationId xmlns:a16="http://schemas.microsoft.com/office/drawing/2014/main" id="{EACB290C-506A-AD26-FA96-B4A60A6B79A5}"/>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DF307A15-DC9C-468C-AF8A-48205B30F46E}" type="slidenum">
              <a:rPr lang="en-US" altLang="en-US" sz="1200">
                <a:solidFill>
                  <a:srgbClr val="767676"/>
                </a:solidFill>
              </a:rPr>
              <a:pPr algn="r" eaLnBrk="1" hangingPunct="1">
                <a:lnSpc>
                  <a:spcPct val="100000"/>
                </a:lnSpc>
                <a:spcBef>
                  <a:spcPct val="0"/>
                </a:spcBef>
                <a:buSzTx/>
                <a:buFontTx/>
                <a:buNone/>
              </a:pPr>
              <a:t>7</a:t>
            </a:fld>
            <a:endParaRPr lang="en-US" altLang="en-US" sz="1200">
              <a:solidFill>
                <a:srgbClr val="767676"/>
              </a:solidFill>
            </a:endParaRPr>
          </a:p>
        </p:txBody>
      </p:sp>
      <p:sp>
        <p:nvSpPr>
          <p:cNvPr id="3" name="TextBox 7">
            <a:extLst>
              <a:ext uri="{FF2B5EF4-FFF2-40B4-BE49-F238E27FC236}">
                <a16:creationId xmlns:a16="http://schemas.microsoft.com/office/drawing/2014/main" id="{AC598323-5230-4524-DD9B-D849C46A7347}"/>
              </a:ext>
            </a:extLst>
          </p:cNvPr>
          <p:cNvSpPr txBox="1">
            <a:spLocks noChangeArrowheads="1"/>
          </p:cNvSpPr>
          <p:nvPr/>
        </p:nvSpPr>
        <p:spPr bwMode="auto">
          <a:xfrm>
            <a:off x="8923338" y="3124200"/>
            <a:ext cx="25209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200" b="1">
                <a:solidFill>
                  <a:srgbClr val="FF0000"/>
                </a:solidFill>
                <a:latin typeface="Calibri" panose="020F0502020204030204" pitchFamily="34" charset="0"/>
                <a:cs typeface="Calibri" panose="020F0502020204030204" pitchFamily="34" charset="0"/>
              </a:rPr>
              <a:t>Negative Velocity</a:t>
            </a:r>
          </a:p>
        </p:txBody>
      </p:sp>
      <p:cxnSp>
        <p:nvCxnSpPr>
          <p:cNvPr id="4" name="Straight Arrow Connector 13">
            <a:extLst>
              <a:ext uri="{FF2B5EF4-FFF2-40B4-BE49-F238E27FC236}">
                <a16:creationId xmlns:a16="http://schemas.microsoft.com/office/drawing/2014/main" id="{0DF67924-7617-44EB-5609-8F9598B55A21}"/>
              </a:ext>
            </a:extLst>
          </p:cNvPr>
          <p:cNvCxnSpPr>
            <a:cxnSpLocks noChangeShapeType="1"/>
          </p:cNvCxnSpPr>
          <p:nvPr/>
        </p:nvCxnSpPr>
        <p:spPr bwMode="auto">
          <a:xfrm>
            <a:off x="9985375" y="3668713"/>
            <a:ext cx="0" cy="1104900"/>
          </a:xfrm>
          <a:prstGeom prst="straightConnector1">
            <a:avLst/>
          </a:prstGeom>
          <a:noFill/>
          <a:ln w="76196">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5" name="Rectangle 15">
            <a:extLst>
              <a:ext uri="{FF2B5EF4-FFF2-40B4-BE49-F238E27FC236}">
                <a16:creationId xmlns:a16="http://schemas.microsoft.com/office/drawing/2014/main" id="{FAD8EBFE-2C0C-C285-20E7-7E9CEDB9A0ED}"/>
              </a:ext>
            </a:extLst>
          </p:cNvPr>
          <p:cNvSpPr>
            <a:spLocks noChangeArrowheads="1"/>
          </p:cNvSpPr>
          <p:nvPr/>
        </p:nvSpPr>
        <p:spPr bwMode="auto">
          <a:xfrm>
            <a:off x="4433888" y="4448175"/>
            <a:ext cx="3738562" cy="145573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latin typeface="Calibri" panose="020F0502020204030204" pitchFamily="34" charset="0"/>
              <a:cs typeface="Calibri" panose="020F0502020204030204" pitchFamily="34" charset="0"/>
            </a:endParaRPr>
          </a:p>
        </p:txBody>
      </p:sp>
      <p:sp>
        <p:nvSpPr>
          <p:cNvPr id="6" name="TextBox 17">
            <a:extLst>
              <a:ext uri="{FF2B5EF4-FFF2-40B4-BE49-F238E27FC236}">
                <a16:creationId xmlns:a16="http://schemas.microsoft.com/office/drawing/2014/main" id="{AF8C8713-1ACC-EC41-3C7E-94DEAE5CE9A2}"/>
              </a:ext>
            </a:extLst>
          </p:cNvPr>
          <p:cNvSpPr txBox="1">
            <a:spLocks noChangeArrowheads="1"/>
          </p:cNvSpPr>
          <p:nvPr/>
        </p:nvSpPr>
        <p:spPr bwMode="auto">
          <a:xfrm>
            <a:off x="10183813" y="3790950"/>
            <a:ext cx="1458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Gene expression</a:t>
            </a:r>
          </a:p>
        </p:txBody>
      </p:sp>
      <p:pic>
        <p:nvPicPr>
          <p:cNvPr id="7" name="Picture 19">
            <a:extLst>
              <a:ext uri="{FF2B5EF4-FFF2-40B4-BE49-F238E27FC236}">
                <a16:creationId xmlns:a16="http://schemas.microsoft.com/office/drawing/2014/main" id="{CFC036B7-7D51-ED67-B7D5-0EDA769D4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5453" r="42126"/>
          <a:stretch>
            <a:fillRect/>
          </a:stretch>
        </p:blipFill>
        <p:spPr bwMode="auto">
          <a:xfrm>
            <a:off x="5446713" y="4151313"/>
            <a:ext cx="2921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1">
            <a:extLst>
              <a:ext uri="{FF2B5EF4-FFF2-40B4-BE49-F238E27FC236}">
                <a16:creationId xmlns:a16="http://schemas.microsoft.com/office/drawing/2014/main" id="{C3805DEA-49E1-7D3C-D3D3-EC1AF1BED4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71" t="35065" b="16557"/>
          <a:stretch>
            <a:fillRect/>
          </a:stretch>
        </p:blipFill>
        <p:spPr bwMode="auto">
          <a:xfrm>
            <a:off x="1811338" y="3419475"/>
            <a:ext cx="2306637"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3">
            <a:extLst>
              <a:ext uri="{FF2B5EF4-FFF2-40B4-BE49-F238E27FC236}">
                <a16:creationId xmlns:a16="http://schemas.microsoft.com/office/drawing/2014/main" id="{603725CB-8110-1D2C-361E-22197A3C9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71" t="35065" b="39043"/>
          <a:stretch>
            <a:fillRect/>
          </a:stretch>
        </p:blipFill>
        <p:spPr bwMode="auto">
          <a:xfrm>
            <a:off x="1838325" y="4625975"/>
            <a:ext cx="2305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7">
            <a:extLst>
              <a:ext uri="{FF2B5EF4-FFF2-40B4-BE49-F238E27FC236}">
                <a16:creationId xmlns:a16="http://schemas.microsoft.com/office/drawing/2014/main" id="{1C19B896-81E4-B98D-56C3-43F1866BA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5453" r="42126"/>
          <a:stretch>
            <a:fillRect/>
          </a:stretch>
        </p:blipFill>
        <p:spPr bwMode="auto">
          <a:xfrm>
            <a:off x="5402263" y="4625975"/>
            <a:ext cx="2921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3" name="Slide Number Placeholder 15">
            <a:extLst>
              <a:ext uri="{FF2B5EF4-FFF2-40B4-BE49-F238E27FC236}">
                <a16:creationId xmlns:a16="http://schemas.microsoft.com/office/drawing/2014/main" id="{4C29359D-C28A-5A3B-8442-D8E6C587AB7A}"/>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085E5438-3539-4294-9CAE-04F5B9D5C20B}" type="slidenum">
              <a:rPr lang="en-US" altLang="en-US" sz="1200">
                <a:solidFill>
                  <a:srgbClr val="767676"/>
                </a:solidFill>
              </a:rPr>
              <a:pPr algn="r" eaLnBrk="1" hangingPunct="1">
                <a:lnSpc>
                  <a:spcPct val="100000"/>
                </a:lnSpc>
                <a:spcBef>
                  <a:spcPct val="0"/>
                </a:spcBef>
                <a:buSzTx/>
                <a:buFontTx/>
                <a:buNone/>
              </a:pPr>
              <a:t>7</a:t>
            </a:fld>
            <a:endParaRPr lang="en-US" altLang="en-US" sz="1200">
              <a:solidFill>
                <a:srgbClr val="767676"/>
              </a:solidFill>
            </a:endParaRPr>
          </a:p>
        </p:txBody>
      </p:sp>
      <p:sp>
        <p:nvSpPr>
          <p:cNvPr id="13324" name="Title 1">
            <a:extLst>
              <a:ext uri="{FF2B5EF4-FFF2-40B4-BE49-F238E27FC236}">
                <a16:creationId xmlns:a16="http://schemas.microsoft.com/office/drawing/2014/main" id="{963A3278-4609-34DD-8E3B-AAD02FEAF747}"/>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Background: RNA Velocity</a:t>
            </a:r>
            <a:endParaRPr altLang="en-US">
              <a:latin typeface="Aptos Display" panose="020B0004020202020204" pitchFamily="34" charset="0"/>
            </a:endParaRPr>
          </a:p>
        </p:txBody>
      </p:sp>
      <p:pic>
        <p:nvPicPr>
          <p:cNvPr id="13325" name="Picture 3">
            <a:extLst>
              <a:ext uri="{FF2B5EF4-FFF2-40B4-BE49-F238E27FC236}">
                <a16:creationId xmlns:a16="http://schemas.microsoft.com/office/drawing/2014/main" id="{DE8826A0-0097-1A5B-0D7C-AED390EA9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37" t="21852" r="43880" b="60741"/>
          <a:stretch>
            <a:fillRect/>
          </a:stretch>
        </p:blipFill>
        <p:spPr bwMode="auto">
          <a:xfrm>
            <a:off x="4946650" y="2438400"/>
            <a:ext cx="34956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6" name="Picture 11" descr="A close up of a label&#10;&#10;AI-generated content may be incorrect.">
            <a:extLst>
              <a:ext uri="{FF2B5EF4-FFF2-40B4-BE49-F238E27FC236}">
                <a16:creationId xmlns:a16="http://schemas.microsoft.com/office/drawing/2014/main" id="{B9039886-925A-B72D-9F8A-D07C55F69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755" t="34737" b="39745"/>
          <a:stretch>
            <a:fillRect/>
          </a:stretch>
        </p:blipFill>
        <p:spPr bwMode="auto">
          <a:xfrm>
            <a:off x="1720850" y="2387600"/>
            <a:ext cx="2306638"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TextBox 5">
            <a:extLst>
              <a:ext uri="{FF2B5EF4-FFF2-40B4-BE49-F238E27FC236}">
                <a16:creationId xmlns:a16="http://schemas.microsoft.com/office/drawing/2014/main" id="{3FAF59D6-DDC6-3037-D9F3-5C687172FD27}"/>
              </a:ext>
            </a:extLst>
          </p:cNvPr>
          <p:cNvSpPr txBox="1">
            <a:spLocks noChangeArrowheads="1"/>
          </p:cNvSpPr>
          <p:nvPr/>
        </p:nvSpPr>
        <p:spPr bwMode="auto">
          <a:xfrm>
            <a:off x="4195763" y="2255838"/>
            <a:ext cx="6858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4400" b="1">
                <a:solidFill>
                  <a:srgbClr val="FF0000"/>
                </a:solidFill>
                <a:latin typeface="Calibri" panose="020F0502020204030204" pitchFamily="34" charset="0"/>
                <a:cs typeface="Calibri" panose="020F0502020204030204" pitchFamily="34" charset="0"/>
              </a:rPr>
              <a:t>:</a:t>
            </a:r>
          </a:p>
        </p:txBody>
      </p:sp>
      <p:sp>
        <p:nvSpPr>
          <p:cNvPr id="13328" name="TextBox 8">
            <a:extLst>
              <a:ext uri="{FF2B5EF4-FFF2-40B4-BE49-F238E27FC236}">
                <a16:creationId xmlns:a16="http://schemas.microsoft.com/office/drawing/2014/main" id="{A6B9D924-4157-8C0C-A84A-B0EDBC5FCB7D}"/>
              </a:ext>
            </a:extLst>
          </p:cNvPr>
          <p:cNvSpPr txBox="1">
            <a:spLocks noChangeArrowheads="1"/>
          </p:cNvSpPr>
          <p:nvPr/>
        </p:nvSpPr>
        <p:spPr bwMode="auto">
          <a:xfrm>
            <a:off x="5410200" y="1312863"/>
            <a:ext cx="23447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Future</a:t>
            </a:r>
          </a:p>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unspliced</a:t>
            </a:r>
          </a:p>
        </p:txBody>
      </p:sp>
      <p:sp>
        <p:nvSpPr>
          <p:cNvPr id="13329" name="TextBox 9">
            <a:extLst>
              <a:ext uri="{FF2B5EF4-FFF2-40B4-BE49-F238E27FC236}">
                <a16:creationId xmlns:a16="http://schemas.microsoft.com/office/drawing/2014/main" id="{6DD191C2-7D65-3C33-C5DA-008A09C9C62E}"/>
              </a:ext>
            </a:extLst>
          </p:cNvPr>
          <p:cNvSpPr txBox="1">
            <a:spLocks noChangeArrowheads="1"/>
          </p:cNvSpPr>
          <p:nvPr/>
        </p:nvSpPr>
        <p:spPr bwMode="auto">
          <a:xfrm>
            <a:off x="1811338" y="1420813"/>
            <a:ext cx="21256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Current</a:t>
            </a:r>
            <a:endParaRPr lang="en-US" altLang="en-US" sz="1800"/>
          </a:p>
          <a:p>
            <a:pPr algn="ct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Spliced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372">
    <p:spTree>
      <p:nvGrpSpPr>
        <p:cNvPr id="1" name=""/>
        <p:cNvGrpSpPr/>
        <p:nvPr/>
      </p:nvGrpSpPr>
      <p:grpSpPr>
        <a:xfrm>
          <a:off x="0" y="0"/>
          <a:ext cx="0" cy="0"/>
          <a:chOff x="0" y="0"/>
          <a:chExt cx="0" cy="0"/>
        </a:xfrm>
      </p:grpSpPr>
      <p:pic>
        <p:nvPicPr>
          <p:cNvPr id="15362" name="Picture 9">
            <a:extLst>
              <a:ext uri="{FF2B5EF4-FFF2-40B4-BE49-F238E27FC236}">
                <a16:creationId xmlns:a16="http://schemas.microsoft.com/office/drawing/2014/main" id="{25FAA771-D46A-9312-4AC7-7F22067841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1065213"/>
            <a:ext cx="647858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10">
            <a:extLst>
              <a:ext uri="{FF2B5EF4-FFF2-40B4-BE49-F238E27FC236}">
                <a16:creationId xmlns:a16="http://schemas.microsoft.com/office/drawing/2014/main" id="{01759E69-392D-4805-BB8C-1159BFD871A6}"/>
              </a:ext>
            </a:extLst>
          </p:cNvPr>
          <p:cNvSpPr>
            <a:spLocks noChangeArrowheads="1"/>
          </p:cNvSpPr>
          <p:nvPr/>
        </p:nvSpPr>
        <p:spPr bwMode="auto">
          <a:xfrm>
            <a:off x="7059613" y="442913"/>
            <a:ext cx="590550" cy="573087"/>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15364" name="Rectangle 31">
            <a:extLst>
              <a:ext uri="{FF2B5EF4-FFF2-40B4-BE49-F238E27FC236}">
                <a16:creationId xmlns:a16="http://schemas.microsoft.com/office/drawing/2014/main" id="{072B31D4-1061-C337-8358-F77690FBBFF9}"/>
              </a:ext>
            </a:extLst>
          </p:cNvPr>
          <p:cNvSpPr>
            <a:spLocks noChangeArrowheads="1"/>
          </p:cNvSpPr>
          <p:nvPr/>
        </p:nvSpPr>
        <p:spPr bwMode="auto">
          <a:xfrm>
            <a:off x="8488363" y="1150938"/>
            <a:ext cx="592137" cy="573087"/>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latin typeface="Calibri" panose="020F0502020204030204" pitchFamily="34" charset="0"/>
              <a:cs typeface="Calibri" panose="020F0502020204030204" pitchFamily="34" charset="0"/>
            </a:endParaRPr>
          </a:p>
        </p:txBody>
      </p:sp>
      <p:sp>
        <p:nvSpPr>
          <p:cNvPr id="15365" name="TextBox 7">
            <a:extLst>
              <a:ext uri="{FF2B5EF4-FFF2-40B4-BE49-F238E27FC236}">
                <a16:creationId xmlns:a16="http://schemas.microsoft.com/office/drawing/2014/main" id="{EAC08757-43B5-EC2C-3297-E88BB247A976}"/>
              </a:ext>
            </a:extLst>
          </p:cNvPr>
          <p:cNvSpPr txBox="1">
            <a:spLocks noChangeArrowheads="1"/>
          </p:cNvSpPr>
          <p:nvPr/>
        </p:nvSpPr>
        <p:spPr bwMode="auto">
          <a:xfrm>
            <a:off x="4913313" y="1998663"/>
            <a:ext cx="2592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RNA Velocity fate map</a:t>
            </a:r>
          </a:p>
        </p:txBody>
      </p:sp>
      <p:sp>
        <p:nvSpPr>
          <p:cNvPr id="15366" name="TextBox 11">
            <a:extLst>
              <a:ext uri="{FF2B5EF4-FFF2-40B4-BE49-F238E27FC236}">
                <a16:creationId xmlns:a16="http://schemas.microsoft.com/office/drawing/2014/main" id="{ACF02D1E-43C4-2FC7-94BE-9F022823F86D}"/>
              </a:ext>
            </a:extLst>
          </p:cNvPr>
          <p:cNvSpPr txBox="1">
            <a:spLocks noChangeArrowheads="1"/>
          </p:cNvSpPr>
          <p:nvPr/>
        </p:nvSpPr>
        <p:spPr bwMode="auto">
          <a:xfrm>
            <a:off x="7027863" y="5792788"/>
            <a:ext cx="351472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50000"/>
              </a:lnSpc>
              <a:spcBef>
                <a:spcPct val="0"/>
              </a:spcBef>
              <a:buSzTx/>
              <a:buFontTx/>
              <a:buNone/>
            </a:pPr>
            <a:r>
              <a:rPr lang="en-GB" altLang="en-US" sz="1800">
                <a:latin typeface="Calibri" panose="020F0502020204030204" pitchFamily="34" charset="0"/>
                <a:cs typeface="Calibri" panose="020F0502020204030204" pitchFamily="34" charset="0"/>
              </a:rPr>
              <a:t>Without longitudinal sampling!</a:t>
            </a:r>
          </a:p>
        </p:txBody>
      </p:sp>
      <p:sp>
        <p:nvSpPr>
          <p:cNvPr id="15367" name="TextBox 4">
            <a:extLst>
              <a:ext uri="{FF2B5EF4-FFF2-40B4-BE49-F238E27FC236}">
                <a16:creationId xmlns:a16="http://schemas.microsoft.com/office/drawing/2014/main" id="{8AE216E6-E96D-DB82-1BA3-6EBFC4EB5ACF}"/>
              </a:ext>
            </a:extLst>
          </p:cNvPr>
          <p:cNvSpPr txBox="1">
            <a:spLocks noChangeArrowheads="1"/>
          </p:cNvSpPr>
          <p:nvPr/>
        </p:nvSpPr>
        <p:spPr bwMode="auto">
          <a:xfrm>
            <a:off x="7056438" y="4795838"/>
            <a:ext cx="2182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RNA velocity arrows</a:t>
            </a:r>
          </a:p>
        </p:txBody>
      </p:sp>
      <p:sp>
        <p:nvSpPr>
          <p:cNvPr id="15368" name="TextBox 3">
            <a:extLst>
              <a:ext uri="{FF2B5EF4-FFF2-40B4-BE49-F238E27FC236}">
                <a16:creationId xmlns:a16="http://schemas.microsoft.com/office/drawing/2014/main" id="{ACC77ED5-8E52-4DDF-09A5-DCB3D0AC5DEF}"/>
              </a:ext>
            </a:extLst>
          </p:cNvPr>
          <p:cNvSpPr txBox="1">
            <a:spLocks noChangeArrowheads="1"/>
          </p:cNvSpPr>
          <p:nvPr/>
        </p:nvSpPr>
        <p:spPr bwMode="auto">
          <a:xfrm>
            <a:off x="7056438" y="4303713"/>
            <a:ext cx="2182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Single cells</a:t>
            </a:r>
          </a:p>
        </p:txBody>
      </p:sp>
      <p:sp>
        <p:nvSpPr>
          <p:cNvPr id="15369" name="Rectangle 8">
            <a:extLst>
              <a:ext uri="{FF2B5EF4-FFF2-40B4-BE49-F238E27FC236}">
                <a16:creationId xmlns:a16="http://schemas.microsoft.com/office/drawing/2014/main" id="{D1696260-D245-850F-C680-03C3C62129F2}"/>
              </a:ext>
            </a:extLst>
          </p:cNvPr>
          <p:cNvSpPr>
            <a:spLocks noChangeArrowheads="1"/>
          </p:cNvSpPr>
          <p:nvPr/>
        </p:nvSpPr>
        <p:spPr bwMode="auto">
          <a:xfrm>
            <a:off x="2554288" y="355600"/>
            <a:ext cx="592137" cy="57308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latin typeface="Calibri" panose="020F0502020204030204" pitchFamily="34" charset="0"/>
              <a:cs typeface="Calibri" panose="020F0502020204030204" pitchFamily="34" charset="0"/>
            </a:endParaRPr>
          </a:p>
        </p:txBody>
      </p:sp>
      <p:sp>
        <p:nvSpPr>
          <p:cNvPr id="15370" name="TextBox 2">
            <a:extLst>
              <a:ext uri="{FF2B5EF4-FFF2-40B4-BE49-F238E27FC236}">
                <a16:creationId xmlns:a16="http://schemas.microsoft.com/office/drawing/2014/main" id="{5DE08F12-67A0-5A4E-101C-C811CE8ED5A3}"/>
              </a:ext>
            </a:extLst>
          </p:cNvPr>
          <p:cNvSpPr txBox="1">
            <a:spLocks noChangeArrowheads="1"/>
          </p:cNvSpPr>
          <p:nvPr/>
        </p:nvSpPr>
        <p:spPr bwMode="auto">
          <a:xfrm>
            <a:off x="106363" y="6170613"/>
            <a:ext cx="42037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900">
                <a:solidFill>
                  <a:srgbClr val="222222"/>
                </a:solidFill>
                <a:latin typeface="Arial" panose="020B0604020202020204" pitchFamily="34" charset="0"/>
              </a:rPr>
              <a:t>La Manno, G., Soldatov, R., Zeisel, A., Braun, E., Hochgerner, H., Petukhov, V., Lidschreiber, K., Kastriti, M.E., Lönnerberg, P., Furlan, A.&amp; Fan, J, (2018). RNA velocity of single cells. </a:t>
            </a:r>
            <a:r>
              <a:rPr lang="en-GB" altLang="en-US" sz="900" i="1">
                <a:solidFill>
                  <a:srgbClr val="222222"/>
                </a:solidFill>
                <a:latin typeface="Arial" panose="020B0604020202020204" pitchFamily="34" charset="0"/>
              </a:rPr>
              <a:t>Nature</a:t>
            </a:r>
            <a:r>
              <a:rPr lang="en-GB" altLang="en-US" sz="900">
                <a:solidFill>
                  <a:srgbClr val="222222"/>
                </a:solidFill>
                <a:latin typeface="Arial" panose="020B0604020202020204" pitchFamily="34" charset="0"/>
              </a:rPr>
              <a:t>, </a:t>
            </a:r>
            <a:r>
              <a:rPr lang="en-GB" altLang="en-US" sz="900" i="1">
                <a:solidFill>
                  <a:srgbClr val="222222"/>
                </a:solidFill>
                <a:latin typeface="Arial" panose="020B0604020202020204" pitchFamily="34" charset="0"/>
              </a:rPr>
              <a:t>560 </a:t>
            </a:r>
            <a:r>
              <a:rPr lang="en-GB" altLang="en-US" sz="900">
                <a:solidFill>
                  <a:srgbClr val="222222"/>
                </a:solidFill>
                <a:latin typeface="Arial" panose="020B0604020202020204" pitchFamily="34" charset="0"/>
              </a:rPr>
              <a:t>(7719), 494-498.</a:t>
            </a:r>
            <a:endParaRPr lang="en-GB" altLang="en-US" sz="900"/>
          </a:p>
        </p:txBody>
      </p:sp>
      <p:sp>
        <p:nvSpPr>
          <p:cNvPr id="15371" name="Rectangle 1">
            <a:extLst>
              <a:ext uri="{FF2B5EF4-FFF2-40B4-BE49-F238E27FC236}">
                <a16:creationId xmlns:a16="http://schemas.microsoft.com/office/drawing/2014/main" id="{3359E531-F14A-9C46-B9ED-96FD08ECA2F6}"/>
              </a:ext>
            </a:extLst>
          </p:cNvPr>
          <p:cNvSpPr>
            <a:spLocks noChangeArrowheads="1"/>
          </p:cNvSpPr>
          <p:nvPr/>
        </p:nvSpPr>
        <p:spPr bwMode="auto">
          <a:xfrm>
            <a:off x="8208963" y="136525"/>
            <a:ext cx="823912" cy="792163"/>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15372" name="TextBox 5">
            <a:extLst>
              <a:ext uri="{FF2B5EF4-FFF2-40B4-BE49-F238E27FC236}">
                <a16:creationId xmlns:a16="http://schemas.microsoft.com/office/drawing/2014/main" id="{23D17F61-F8F9-7DF3-977B-1B8F7B1F9A6D}"/>
              </a:ext>
            </a:extLst>
          </p:cNvPr>
          <p:cNvSpPr txBox="1">
            <a:spLocks noChangeArrowheads="1"/>
          </p:cNvSpPr>
          <p:nvPr/>
        </p:nvSpPr>
        <p:spPr bwMode="auto">
          <a:xfrm>
            <a:off x="6557963" y="923925"/>
            <a:ext cx="6051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400" b="1"/>
              <a:t>PCA – Principal Component Analysis</a:t>
            </a:r>
          </a:p>
        </p:txBody>
      </p:sp>
      <p:sp>
        <p:nvSpPr>
          <p:cNvPr id="15373" name="Slide Number Placeholder 6">
            <a:extLst>
              <a:ext uri="{FF2B5EF4-FFF2-40B4-BE49-F238E27FC236}">
                <a16:creationId xmlns:a16="http://schemas.microsoft.com/office/drawing/2014/main" id="{12E4BE55-58A4-348D-6E52-B6D13EB9FA17}"/>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A9C2A4D6-CC5E-4696-A1CE-431D3CF8B892}" type="slidenum">
              <a:rPr lang="en-US" altLang="en-US" sz="1200">
                <a:solidFill>
                  <a:srgbClr val="767676"/>
                </a:solidFill>
              </a:rPr>
              <a:pPr algn="r" eaLnBrk="1" hangingPunct="1">
                <a:lnSpc>
                  <a:spcPct val="100000"/>
                </a:lnSpc>
                <a:spcBef>
                  <a:spcPct val="0"/>
                </a:spcBef>
                <a:buSzTx/>
                <a:buFontTx/>
                <a:buNone/>
              </a:pPr>
              <a:t>8</a:t>
            </a:fld>
            <a:endParaRPr lang="en-US" altLang="en-US" sz="1200">
              <a:solidFill>
                <a:srgbClr val="767676"/>
              </a:solidFill>
            </a:endParaRPr>
          </a:p>
        </p:txBody>
      </p:sp>
      <p:sp>
        <p:nvSpPr>
          <p:cNvPr id="15374" name="Slide Number Placeholder 13">
            <a:extLst>
              <a:ext uri="{FF2B5EF4-FFF2-40B4-BE49-F238E27FC236}">
                <a16:creationId xmlns:a16="http://schemas.microsoft.com/office/drawing/2014/main" id="{65ECC8F1-DA51-DE23-9079-742F1363ADFF}"/>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04E0E9F7-76E6-4C99-82E9-7E6AA5029FD5}" type="slidenum">
              <a:rPr lang="en-US" altLang="en-US" sz="1200">
                <a:solidFill>
                  <a:srgbClr val="767676"/>
                </a:solidFill>
              </a:rPr>
              <a:pPr algn="r" eaLnBrk="1" hangingPunct="1">
                <a:lnSpc>
                  <a:spcPct val="100000"/>
                </a:lnSpc>
                <a:spcBef>
                  <a:spcPct val="0"/>
                </a:spcBef>
                <a:buSzTx/>
                <a:buFontTx/>
                <a:buNone/>
              </a:pPr>
              <a:t>8</a:t>
            </a:fld>
            <a:endParaRPr lang="en-US" altLang="en-US" sz="1200">
              <a:solidFill>
                <a:srgbClr val="767676"/>
              </a:solidFill>
            </a:endParaRPr>
          </a:p>
        </p:txBody>
      </p:sp>
      <p:sp>
        <p:nvSpPr>
          <p:cNvPr id="15375" name="Title 1">
            <a:extLst>
              <a:ext uri="{FF2B5EF4-FFF2-40B4-BE49-F238E27FC236}">
                <a16:creationId xmlns:a16="http://schemas.microsoft.com/office/drawing/2014/main" id="{CC05C439-C3EF-6CEC-CE20-82493A20C7E2}"/>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Background: RNA Velocity</a:t>
            </a:r>
            <a:endParaRPr altLang="en-US">
              <a:latin typeface="Aptos Display" panose="020B0004020202020204" pitchFamily="34" charset="0"/>
            </a:endParaRPr>
          </a:p>
        </p:txBody>
      </p:sp>
      <p:sp>
        <p:nvSpPr>
          <p:cNvPr id="15376" name="Rectangle 28">
            <a:extLst>
              <a:ext uri="{FF2B5EF4-FFF2-40B4-BE49-F238E27FC236}">
                <a16:creationId xmlns:a16="http://schemas.microsoft.com/office/drawing/2014/main" id="{48381DBD-1318-7F5E-8BD9-941EEE2C2328}"/>
              </a:ext>
            </a:extLst>
          </p:cNvPr>
          <p:cNvSpPr>
            <a:spLocks noChangeArrowheads="1"/>
          </p:cNvSpPr>
          <p:nvPr/>
        </p:nvSpPr>
        <p:spPr bwMode="auto">
          <a:xfrm>
            <a:off x="2317750" y="1033463"/>
            <a:ext cx="919163" cy="376237"/>
          </a:xfrm>
          <a:prstGeom prst="rect">
            <a:avLst/>
          </a:prstGeom>
          <a:solidFill>
            <a:srgbClr val="FFFFFF"/>
          </a:solidFill>
          <a:ln w="12701">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US" altLang="en-US" sz="1800">
              <a:solidFill>
                <a:srgbClr val="FFFFFF"/>
              </a:solidFill>
              <a:latin typeface="Calibri" panose="020F0502020204030204" pitchFamily="34" charset="0"/>
            </a:endParaRPr>
          </a:p>
        </p:txBody>
      </p:sp>
      <p:sp>
        <p:nvSpPr>
          <p:cNvPr id="2" name="TextBox 3">
            <a:extLst>
              <a:ext uri="{FF2B5EF4-FFF2-40B4-BE49-F238E27FC236}">
                <a16:creationId xmlns:a16="http://schemas.microsoft.com/office/drawing/2014/main" id="{F694BA38-367D-44AF-AAF1-EA9C557F5D27}"/>
              </a:ext>
            </a:extLst>
          </p:cNvPr>
          <p:cNvSpPr txBox="1">
            <a:spLocks noChangeArrowheads="1"/>
          </p:cNvSpPr>
          <p:nvPr/>
        </p:nvSpPr>
        <p:spPr bwMode="auto">
          <a:xfrm>
            <a:off x="9080500" y="4324350"/>
            <a:ext cx="2182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Patient samples</a:t>
            </a:r>
          </a:p>
        </p:txBody>
      </p:sp>
      <p:cxnSp>
        <p:nvCxnSpPr>
          <p:cNvPr id="4" name="Straight Arrow Connector 3">
            <a:extLst>
              <a:ext uri="{FF2B5EF4-FFF2-40B4-BE49-F238E27FC236}">
                <a16:creationId xmlns:a16="http://schemas.microsoft.com/office/drawing/2014/main" id="{4375E106-4E4E-231D-4A0B-F5BB448FCE94}"/>
              </a:ext>
            </a:extLst>
          </p:cNvPr>
          <p:cNvCxnSpPr/>
          <p:nvPr/>
        </p:nvCxnSpPr>
        <p:spPr>
          <a:xfrm>
            <a:off x="8326438" y="4513263"/>
            <a:ext cx="754062" cy="0"/>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5" name="Rectangle 4">
            <a:extLst>
              <a:ext uri="{FF2B5EF4-FFF2-40B4-BE49-F238E27FC236}">
                <a16:creationId xmlns:a16="http://schemas.microsoft.com/office/drawing/2014/main" id="{6C751992-91ED-9D3C-467D-901F36359642}"/>
              </a:ext>
            </a:extLst>
          </p:cNvPr>
          <p:cNvSpPr/>
          <p:nvPr/>
        </p:nvSpPr>
        <p:spPr>
          <a:xfrm>
            <a:off x="6773863" y="4070350"/>
            <a:ext cx="4248150" cy="84613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GB"/>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486">
    <p:spTree>
      <p:nvGrpSpPr>
        <p:cNvPr id="1" name=""/>
        <p:cNvGrpSpPr/>
        <p:nvPr/>
      </p:nvGrpSpPr>
      <p:grpSpPr>
        <a:xfrm>
          <a:off x="0" y="0"/>
          <a:ext cx="0" cy="0"/>
          <a:chOff x="0" y="0"/>
          <a:chExt cx="0" cy="0"/>
        </a:xfrm>
      </p:grpSpPr>
      <p:sp>
        <p:nvSpPr>
          <p:cNvPr id="17410" name="Oval 6">
            <a:extLst>
              <a:ext uri="{FF2B5EF4-FFF2-40B4-BE49-F238E27FC236}">
                <a16:creationId xmlns:a16="http://schemas.microsoft.com/office/drawing/2014/main" id="{A1A20984-75F0-4886-A78B-BB77905C1278}"/>
              </a:ext>
            </a:extLst>
          </p:cNvPr>
          <p:cNvSpPr>
            <a:spLocks/>
          </p:cNvSpPr>
          <p:nvPr/>
        </p:nvSpPr>
        <p:spPr bwMode="auto">
          <a:xfrm>
            <a:off x="1816100" y="171132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7411" name="Oval 7">
            <a:extLst>
              <a:ext uri="{FF2B5EF4-FFF2-40B4-BE49-F238E27FC236}">
                <a16:creationId xmlns:a16="http://schemas.microsoft.com/office/drawing/2014/main" id="{6985507C-5849-D166-7113-AC287735640F}"/>
              </a:ext>
            </a:extLst>
          </p:cNvPr>
          <p:cNvSpPr>
            <a:spLocks/>
          </p:cNvSpPr>
          <p:nvPr/>
        </p:nvSpPr>
        <p:spPr bwMode="auto">
          <a:xfrm>
            <a:off x="2006600" y="220027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7412" name="Oval 8">
            <a:extLst>
              <a:ext uri="{FF2B5EF4-FFF2-40B4-BE49-F238E27FC236}">
                <a16:creationId xmlns:a16="http://schemas.microsoft.com/office/drawing/2014/main" id="{6AF2DB52-1079-D463-DB22-AD952916EAC0}"/>
              </a:ext>
            </a:extLst>
          </p:cNvPr>
          <p:cNvSpPr>
            <a:spLocks/>
          </p:cNvSpPr>
          <p:nvPr/>
        </p:nvSpPr>
        <p:spPr bwMode="auto">
          <a:xfrm>
            <a:off x="2476500" y="207962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7413" name="Oval 9">
            <a:extLst>
              <a:ext uri="{FF2B5EF4-FFF2-40B4-BE49-F238E27FC236}">
                <a16:creationId xmlns:a16="http://schemas.microsoft.com/office/drawing/2014/main" id="{BD875088-5934-6036-9A66-F59D8FDC79B9}"/>
              </a:ext>
            </a:extLst>
          </p:cNvPr>
          <p:cNvSpPr>
            <a:spLocks/>
          </p:cNvSpPr>
          <p:nvPr/>
        </p:nvSpPr>
        <p:spPr bwMode="auto">
          <a:xfrm>
            <a:off x="2276475" y="25685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7414" name="Oval 10">
            <a:extLst>
              <a:ext uri="{FF2B5EF4-FFF2-40B4-BE49-F238E27FC236}">
                <a16:creationId xmlns:a16="http://schemas.microsoft.com/office/drawing/2014/main" id="{78B50B2F-EEBB-26D0-7D87-B04F3361A8A0}"/>
              </a:ext>
            </a:extLst>
          </p:cNvPr>
          <p:cNvSpPr>
            <a:spLocks/>
          </p:cNvSpPr>
          <p:nvPr/>
        </p:nvSpPr>
        <p:spPr bwMode="auto">
          <a:xfrm>
            <a:off x="2782888" y="26701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7" name="Oval 11">
            <a:extLst>
              <a:ext uri="{FF2B5EF4-FFF2-40B4-BE49-F238E27FC236}">
                <a16:creationId xmlns:a16="http://schemas.microsoft.com/office/drawing/2014/main" id="{A8C0BCB3-9120-D75E-A622-5F74163E94A0}"/>
              </a:ext>
            </a:extLst>
          </p:cNvPr>
          <p:cNvSpPr>
            <a:spLocks/>
          </p:cNvSpPr>
          <p:nvPr/>
        </p:nvSpPr>
        <p:spPr bwMode="auto">
          <a:xfrm>
            <a:off x="3698875" y="3270250"/>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009E73"/>
          </a:solidFill>
          <a:ln w="12701" cap="flat">
            <a:solidFill>
              <a:srgbClr val="009E73"/>
            </a:solidFill>
            <a:prstDash val="solid"/>
            <a:miter lim="800000"/>
            <a:headEnd/>
            <a:tailEnd/>
          </a:ln>
        </p:spPr>
        <p:txBody>
          <a:bodyPr anchor="ctr" anchorCtr="1"/>
          <a:lstStyle/>
          <a:p>
            <a:endParaRPr lang="en-GB"/>
          </a:p>
        </p:txBody>
      </p:sp>
      <p:sp>
        <p:nvSpPr>
          <p:cNvPr id="17416" name="Oval 12">
            <a:extLst>
              <a:ext uri="{FF2B5EF4-FFF2-40B4-BE49-F238E27FC236}">
                <a16:creationId xmlns:a16="http://schemas.microsoft.com/office/drawing/2014/main" id="{E87A52D3-A4D1-D78C-DFAB-DBF4537E5400}"/>
              </a:ext>
            </a:extLst>
          </p:cNvPr>
          <p:cNvSpPr>
            <a:spLocks/>
          </p:cNvSpPr>
          <p:nvPr/>
        </p:nvSpPr>
        <p:spPr bwMode="auto">
          <a:xfrm>
            <a:off x="4433888" y="26447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7417" name="Oval 13">
            <a:extLst>
              <a:ext uri="{FF2B5EF4-FFF2-40B4-BE49-F238E27FC236}">
                <a16:creationId xmlns:a16="http://schemas.microsoft.com/office/drawing/2014/main" id="{AE5B6752-30E0-3A69-397D-FBAD5308122C}"/>
              </a:ext>
            </a:extLst>
          </p:cNvPr>
          <p:cNvSpPr>
            <a:spLocks/>
          </p:cNvSpPr>
          <p:nvPr/>
        </p:nvSpPr>
        <p:spPr bwMode="auto">
          <a:xfrm>
            <a:off x="4814888" y="246062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7418" name="Oval 14">
            <a:extLst>
              <a:ext uri="{FF2B5EF4-FFF2-40B4-BE49-F238E27FC236}">
                <a16:creationId xmlns:a16="http://schemas.microsoft.com/office/drawing/2014/main" id="{64B5EB6D-7481-6DB9-F1E3-D1A43B9C5449}"/>
              </a:ext>
            </a:extLst>
          </p:cNvPr>
          <p:cNvSpPr>
            <a:spLocks/>
          </p:cNvSpPr>
          <p:nvPr/>
        </p:nvSpPr>
        <p:spPr bwMode="auto">
          <a:xfrm>
            <a:off x="5284788" y="227647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7419" name="Oval 15">
            <a:extLst>
              <a:ext uri="{FF2B5EF4-FFF2-40B4-BE49-F238E27FC236}">
                <a16:creationId xmlns:a16="http://schemas.microsoft.com/office/drawing/2014/main" id="{995FA15D-14A0-FC79-4D64-B126F2F42E5A}"/>
              </a:ext>
            </a:extLst>
          </p:cNvPr>
          <p:cNvSpPr>
            <a:spLocks/>
          </p:cNvSpPr>
          <p:nvPr/>
        </p:nvSpPr>
        <p:spPr bwMode="auto">
          <a:xfrm>
            <a:off x="5027613" y="1847850"/>
            <a:ext cx="382587" cy="366713"/>
          </a:xfrm>
          <a:custGeom>
            <a:avLst/>
            <a:gdLst>
              <a:gd name="T0" fmla="*/ 191929 w 381954"/>
              <a:gd name="T1" fmla="*/ 0 h 368009"/>
              <a:gd name="T2" fmla="*/ 383856 w 381954"/>
              <a:gd name="T3" fmla="*/ 182068 h 368009"/>
              <a:gd name="T4" fmla="*/ 191929 w 381954"/>
              <a:gd name="T5" fmla="*/ 364135 h 368009"/>
              <a:gd name="T6" fmla="*/ 0 w 381954"/>
              <a:gd name="T7" fmla="*/ 182068 h 368009"/>
              <a:gd name="T8" fmla="*/ 56215 w 381954"/>
              <a:gd name="T9" fmla="*/ 53327 h 368009"/>
              <a:gd name="T10" fmla="*/ 56215 w 381954"/>
              <a:gd name="T11" fmla="*/ 310809 h 368009"/>
              <a:gd name="T12" fmla="*/ 327641 w 381954"/>
              <a:gd name="T13" fmla="*/ 310809 h 368009"/>
              <a:gd name="T14" fmla="*/ 327641 w 381954"/>
              <a:gd name="T15" fmla="*/ 53327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7420" name="Oval 16">
            <a:extLst>
              <a:ext uri="{FF2B5EF4-FFF2-40B4-BE49-F238E27FC236}">
                <a16:creationId xmlns:a16="http://schemas.microsoft.com/office/drawing/2014/main" id="{08819A7A-D785-AC46-7F98-8D4C09D24B50}"/>
              </a:ext>
            </a:extLst>
          </p:cNvPr>
          <p:cNvSpPr>
            <a:spLocks/>
          </p:cNvSpPr>
          <p:nvPr/>
        </p:nvSpPr>
        <p:spPr bwMode="auto">
          <a:xfrm>
            <a:off x="5497513" y="18954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3" name="Oval 17">
            <a:extLst>
              <a:ext uri="{FF2B5EF4-FFF2-40B4-BE49-F238E27FC236}">
                <a16:creationId xmlns:a16="http://schemas.microsoft.com/office/drawing/2014/main" id="{097F7C25-0465-1DAB-1FC8-068C0C541570}"/>
              </a:ext>
            </a:extLst>
          </p:cNvPr>
          <p:cNvSpPr>
            <a:spLocks/>
          </p:cNvSpPr>
          <p:nvPr/>
        </p:nvSpPr>
        <p:spPr bwMode="auto">
          <a:xfrm>
            <a:off x="7132638" y="177482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4" name="Oval 18">
            <a:extLst>
              <a:ext uri="{FF2B5EF4-FFF2-40B4-BE49-F238E27FC236}">
                <a16:creationId xmlns:a16="http://schemas.microsoft.com/office/drawing/2014/main" id="{40EE5F16-8DB3-C8A3-3922-1F20CA55EBA0}"/>
              </a:ext>
            </a:extLst>
          </p:cNvPr>
          <p:cNvSpPr>
            <a:spLocks/>
          </p:cNvSpPr>
          <p:nvPr/>
        </p:nvSpPr>
        <p:spPr bwMode="auto">
          <a:xfrm>
            <a:off x="7324725" y="22637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5" name="Oval 19">
            <a:extLst>
              <a:ext uri="{FF2B5EF4-FFF2-40B4-BE49-F238E27FC236}">
                <a16:creationId xmlns:a16="http://schemas.microsoft.com/office/drawing/2014/main" id="{13181490-5F4A-F23F-C451-046319D05B95}"/>
              </a:ext>
            </a:extLst>
          </p:cNvPr>
          <p:cNvSpPr>
            <a:spLocks/>
          </p:cNvSpPr>
          <p:nvPr/>
        </p:nvSpPr>
        <p:spPr bwMode="auto">
          <a:xfrm>
            <a:off x="7793038" y="214312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6" name="Oval 20">
            <a:extLst>
              <a:ext uri="{FF2B5EF4-FFF2-40B4-BE49-F238E27FC236}">
                <a16:creationId xmlns:a16="http://schemas.microsoft.com/office/drawing/2014/main" id="{877172D5-3C89-9943-FD5B-21680330166A}"/>
              </a:ext>
            </a:extLst>
          </p:cNvPr>
          <p:cNvSpPr>
            <a:spLocks/>
          </p:cNvSpPr>
          <p:nvPr/>
        </p:nvSpPr>
        <p:spPr bwMode="auto">
          <a:xfrm>
            <a:off x="7593013" y="263207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7" name="Oval 21">
            <a:extLst>
              <a:ext uri="{FF2B5EF4-FFF2-40B4-BE49-F238E27FC236}">
                <a16:creationId xmlns:a16="http://schemas.microsoft.com/office/drawing/2014/main" id="{308D56EE-7CA5-629B-8633-68118045F061}"/>
              </a:ext>
            </a:extLst>
          </p:cNvPr>
          <p:cNvSpPr>
            <a:spLocks/>
          </p:cNvSpPr>
          <p:nvPr/>
        </p:nvSpPr>
        <p:spPr bwMode="auto">
          <a:xfrm>
            <a:off x="8099425" y="273367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18" name="Oval 22">
            <a:extLst>
              <a:ext uri="{FF2B5EF4-FFF2-40B4-BE49-F238E27FC236}">
                <a16:creationId xmlns:a16="http://schemas.microsoft.com/office/drawing/2014/main" id="{DBB59B54-A67C-FDD9-1CE6-B329C74E5C5E}"/>
              </a:ext>
            </a:extLst>
          </p:cNvPr>
          <p:cNvSpPr>
            <a:spLocks/>
          </p:cNvSpPr>
          <p:nvPr/>
        </p:nvSpPr>
        <p:spPr bwMode="auto">
          <a:xfrm>
            <a:off x="8986838" y="3360738"/>
            <a:ext cx="381000" cy="366712"/>
          </a:xfrm>
          <a:custGeom>
            <a:avLst/>
            <a:gdLst>
              <a:gd name="T0" fmla="*/ 189549 w 381954"/>
              <a:gd name="T1" fmla="*/ 0 h 368009"/>
              <a:gd name="T2" fmla="*/ 379099 w 381954"/>
              <a:gd name="T3" fmla="*/ 182066 h 368009"/>
              <a:gd name="T4" fmla="*/ 189549 w 381954"/>
              <a:gd name="T5" fmla="*/ 364132 h 368009"/>
              <a:gd name="T6" fmla="*/ 0 w 381954"/>
              <a:gd name="T7" fmla="*/ 182066 h 368009"/>
              <a:gd name="T8" fmla="*/ 55518 w 381954"/>
              <a:gd name="T9" fmla="*/ 53326 h 368009"/>
              <a:gd name="T10" fmla="*/ 55518 w 381954"/>
              <a:gd name="T11" fmla="*/ 310806 h 368009"/>
              <a:gd name="T12" fmla="*/ 323582 w 381954"/>
              <a:gd name="T13" fmla="*/ 310806 h 368009"/>
              <a:gd name="T14" fmla="*/ 323582 w 381954"/>
              <a:gd name="T15" fmla="*/ 53326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009E73"/>
          </a:solidFill>
          <a:ln w="12701" cap="flat">
            <a:solidFill>
              <a:srgbClr val="009E73"/>
            </a:solidFill>
            <a:prstDash val="solid"/>
            <a:miter lim="800000"/>
            <a:headEnd/>
            <a:tailEnd/>
          </a:ln>
        </p:spPr>
        <p:txBody>
          <a:bodyPr anchor="ctr" anchorCtr="1"/>
          <a:lstStyle/>
          <a:p>
            <a:endParaRPr lang="en-GB"/>
          </a:p>
        </p:txBody>
      </p:sp>
      <p:sp>
        <p:nvSpPr>
          <p:cNvPr id="19" name="Oval 23">
            <a:extLst>
              <a:ext uri="{FF2B5EF4-FFF2-40B4-BE49-F238E27FC236}">
                <a16:creationId xmlns:a16="http://schemas.microsoft.com/office/drawing/2014/main" id="{E8F6FDF6-8689-E239-1C2C-EA6BC58B37DC}"/>
              </a:ext>
            </a:extLst>
          </p:cNvPr>
          <p:cNvSpPr>
            <a:spLocks/>
          </p:cNvSpPr>
          <p:nvPr/>
        </p:nvSpPr>
        <p:spPr bwMode="auto">
          <a:xfrm>
            <a:off x="9750425" y="270827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0" name="Oval 24">
            <a:extLst>
              <a:ext uri="{FF2B5EF4-FFF2-40B4-BE49-F238E27FC236}">
                <a16:creationId xmlns:a16="http://schemas.microsoft.com/office/drawing/2014/main" id="{3658D1DC-A746-6100-D530-F8CDBA953BCF}"/>
              </a:ext>
            </a:extLst>
          </p:cNvPr>
          <p:cNvSpPr>
            <a:spLocks/>
          </p:cNvSpPr>
          <p:nvPr/>
        </p:nvSpPr>
        <p:spPr bwMode="auto">
          <a:xfrm>
            <a:off x="10133013" y="2524125"/>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1" name="Oval 25">
            <a:extLst>
              <a:ext uri="{FF2B5EF4-FFF2-40B4-BE49-F238E27FC236}">
                <a16:creationId xmlns:a16="http://schemas.microsoft.com/office/drawing/2014/main" id="{C5DBEE05-70AF-9AAC-D406-F355F98000C6}"/>
              </a:ext>
            </a:extLst>
          </p:cNvPr>
          <p:cNvSpPr>
            <a:spLocks/>
          </p:cNvSpPr>
          <p:nvPr/>
        </p:nvSpPr>
        <p:spPr bwMode="auto">
          <a:xfrm>
            <a:off x="10602913" y="23399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2" name="Oval 26">
            <a:extLst>
              <a:ext uri="{FF2B5EF4-FFF2-40B4-BE49-F238E27FC236}">
                <a16:creationId xmlns:a16="http://schemas.microsoft.com/office/drawing/2014/main" id="{DCA64569-57BF-CB74-43EF-6EC9E63465BC}"/>
              </a:ext>
            </a:extLst>
          </p:cNvPr>
          <p:cNvSpPr>
            <a:spLocks/>
          </p:cNvSpPr>
          <p:nvPr/>
        </p:nvSpPr>
        <p:spPr bwMode="auto">
          <a:xfrm>
            <a:off x="10344150" y="1911350"/>
            <a:ext cx="382588" cy="366713"/>
          </a:xfrm>
          <a:custGeom>
            <a:avLst/>
            <a:gdLst>
              <a:gd name="T0" fmla="*/ 191930 w 381954"/>
              <a:gd name="T1" fmla="*/ 0 h 368009"/>
              <a:gd name="T2" fmla="*/ 383859 w 381954"/>
              <a:gd name="T3" fmla="*/ 182068 h 368009"/>
              <a:gd name="T4" fmla="*/ 191930 w 381954"/>
              <a:gd name="T5" fmla="*/ 364135 h 368009"/>
              <a:gd name="T6" fmla="*/ 0 w 381954"/>
              <a:gd name="T7" fmla="*/ 182068 h 368009"/>
              <a:gd name="T8" fmla="*/ 56215 w 381954"/>
              <a:gd name="T9" fmla="*/ 53327 h 368009"/>
              <a:gd name="T10" fmla="*/ 56215 w 381954"/>
              <a:gd name="T11" fmla="*/ 310809 h 368009"/>
              <a:gd name="T12" fmla="*/ 327644 w 381954"/>
              <a:gd name="T13" fmla="*/ 310809 h 368009"/>
              <a:gd name="T14" fmla="*/ 327644 w 381954"/>
              <a:gd name="T15" fmla="*/ 53327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3" name="Oval 27">
            <a:extLst>
              <a:ext uri="{FF2B5EF4-FFF2-40B4-BE49-F238E27FC236}">
                <a16:creationId xmlns:a16="http://schemas.microsoft.com/office/drawing/2014/main" id="{C0F899D4-F0D1-C714-1F65-90DFBA3FCFCA}"/>
              </a:ext>
            </a:extLst>
          </p:cNvPr>
          <p:cNvSpPr>
            <a:spLocks/>
          </p:cNvSpPr>
          <p:nvPr/>
        </p:nvSpPr>
        <p:spPr bwMode="auto">
          <a:xfrm>
            <a:off x="10814050" y="195897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cxnSp>
        <p:nvCxnSpPr>
          <p:cNvPr id="24" name="Straight Arrow Connector 28">
            <a:extLst>
              <a:ext uri="{FF2B5EF4-FFF2-40B4-BE49-F238E27FC236}">
                <a16:creationId xmlns:a16="http://schemas.microsoft.com/office/drawing/2014/main" id="{FDA6BD7D-7ED3-DF43-1DAF-814458E1289D}"/>
              </a:ext>
            </a:extLst>
          </p:cNvPr>
          <p:cNvCxnSpPr>
            <a:cxnSpLocks noChangeShapeType="1"/>
          </p:cNvCxnSpPr>
          <p:nvPr/>
        </p:nvCxnSpPr>
        <p:spPr bwMode="auto">
          <a:xfrm flipH="1" flipV="1">
            <a:off x="8039100" y="2638425"/>
            <a:ext cx="298450" cy="254000"/>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5" name="Straight Arrow Connector 29">
            <a:extLst>
              <a:ext uri="{FF2B5EF4-FFF2-40B4-BE49-F238E27FC236}">
                <a16:creationId xmlns:a16="http://schemas.microsoft.com/office/drawing/2014/main" id="{1F0F8440-EB92-A13E-23A1-A36608C2D870}"/>
              </a:ext>
            </a:extLst>
          </p:cNvPr>
          <p:cNvCxnSpPr>
            <a:cxnSpLocks noChangeShapeType="1"/>
          </p:cNvCxnSpPr>
          <p:nvPr/>
        </p:nvCxnSpPr>
        <p:spPr bwMode="auto">
          <a:xfrm flipH="1" flipV="1">
            <a:off x="7508875" y="2581275"/>
            <a:ext cx="298450" cy="254000"/>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6" name="Straight Arrow Connector 30">
            <a:extLst>
              <a:ext uri="{FF2B5EF4-FFF2-40B4-BE49-F238E27FC236}">
                <a16:creationId xmlns:a16="http://schemas.microsoft.com/office/drawing/2014/main" id="{2FB1C73C-EF7D-5845-5EDA-296875718142}"/>
              </a:ext>
            </a:extLst>
          </p:cNvPr>
          <p:cNvCxnSpPr>
            <a:cxnSpLocks noChangeShapeType="1"/>
          </p:cNvCxnSpPr>
          <p:nvPr/>
        </p:nvCxnSpPr>
        <p:spPr bwMode="auto">
          <a:xfrm flipH="1" flipV="1">
            <a:off x="7210425" y="2211388"/>
            <a:ext cx="298450" cy="254000"/>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7" name="Straight Arrow Connector 31">
            <a:extLst>
              <a:ext uri="{FF2B5EF4-FFF2-40B4-BE49-F238E27FC236}">
                <a16:creationId xmlns:a16="http://schemas.microsoft.com/office/drawing/2014/main" id="{DF768643-BB0E-A908-FCE8-E2F9F4B02CBE}"/>
              </a:ext>
            </a:extLst>
          </p:cNvPr>
          <p:cNvCxnSpPr>
            <a:cxnSpLocks noChangeShapeType="1"/>
          </p:cNvCxnSpPr>
          <p:nvPr/>
        </p:nvCxnSpPr>
        <p:spPr bwMode="auto">
          <a:xfrm flipH="1" flipV="1">
            <a:off x="7045325" y="1727200"/>
            <a:ext cx="298450" cy="254000"/>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8" name="Straight Arrow Connector 32">
            <a:extLst>
              <a:ext uri="{FF2B5EF4-FFF2-40B4-BE49-F238E27FC236}">
                <a16:creationId xmlns:a16="http://schemas.microsoft.com/office/drawing/2014/main" id="{C0A8EA5D-54BB-029D-2AE0-0A7443794F5F}"/>
              </a:ext>
            </a:extLst>
          </p:cNvPr>
          <p:cNvCxnSpPr>
            <a:cxnSpLocks noChangeShapeType="1"/>
          </p:cNvCxnSpPr>
          <p:nvPr/>
        </p:nvCxnSpPr>
        <p:spPr bwMode="auto">
          <a:xfrm flipH="1" flipV="1">
            <a:off x="7705725" y="2139950"/>
            <a:ext cx="298450" cy="254000"/>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9" name="Straight Arrow Connector 33">
            <a:extLst>
              <a:ext uri="{FF2B5EF4-FFF2-40B4-BE49-F238E27FC236}">
                <a16:creationId xmlns:a16="http://schemas.microsoft.com/office/drawing/2014/main" id="{ADF47522-0E56-8B66-F9F0-B89411E2B7DA}"/>
              </a:ext>
            </a:extLst>
          </p:cNvPr>
          <p:cNvCxnSpPr>
            <a:cxnSpLocks noChangeShapeType="1"/>
            <a:endCxn id="20" idx="3"/>
          </p:cNvCxnSpPr>
          <p:nvPr/>
        </p:nvCxnSpPr>
        <p:spPr bwMode="auto">
          <a:xfrm flipV="1">
            <a:off x="9910763" y="2708275"/>
            <a:ext cx="222250" cy="225425"/>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30" name="Straight Arrow Connector 34">
            <a:extLst>
              <a:ext uri="{FF2B5EF4-FFF2-40B4-BE49-F238E27FC236}">
                <a16:creationId xmlns:a16="http://schemas.microsoft.com/office/drawing/2014/main" id="{5F7CC4BD-970F-209D-96A0-8143587976FC}"/>
              </a:ext>
            </a:extLst>
          </p:cNvPr>
          <p:cNvCxnSpPr>
            <a:cxnSpLocks noChangeShapeType="1"/>
          </p:cNvCxnSpPr>
          <p:nvPr/>
        </p:nvCxnSpPr>
        <p:spPr bwMode="auto">
          <a:xfrm flipV="1">
            <a:off x="10301288" y="2432050"/>
            <a:ext cx="292100" cy="319088"/>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31" name="Straight Arrow Connector 35">
            <a:extLst>
              <a:ext uri="{FF2B5EF4-FFF2-40B4-BE49-F238E27FC236}">
                <a16:creationId xmlns:a16="http://schemas.microsoft.com/office/drawing/2014/main" id="{34D853B5-705D-2A4B-FACC-7CD920063070}"/>
              </a:ext>
            </a:extLst>
          </p:cNvPr>
          <p:cNvCxnSpPr>
            <a:cxnSpLocks noChangeShapeType="1"/>
          </p:cNvCxnSpPr>
          <p:nvPr/>
        </p:nvCxnSpPr>
        <p:spPr bwMode="auto">
          <a:xfrm flipV="1">
            <a:off x="10515600" y="1768475"/>
            <a:ext cx="290513" cy="320675"/>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32" name="Straight Arrow Connector 36">
            <a:extLst>
              <a:ext uri="{FF2B5EF4-FFF2-40B4-BE49-F238E27FC236}">
                <a16:creationId xmlns:a16="http://schemas.microsoft.com/office/drawing/2014/main" id="{79122DC9-B416-3C4A-2EFA-C30576C9BFED}"/>
              </a:ext>
            </a:extLst>
          </p:cNvPr>
          <p:cNvCxnSpPr>
            <a:cxnSpLocks noChangeShapeType="1"/>
          </p:cNvCxnSpPr>
          <p:nvPr/>
        </p:nvCxnSpPr>
        <p:spPr bwMode="auto">
          <a:xfrm flipV="1">
            <a:off x="11029950" y="1911350"/>
            <a:ext cx="174625" cy="265113"/>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33" name="Straight Arrow Connector 37">
            <a:extLst>
              <a:ext uri="{FF2B5EF4-FFF2-40B4-BE49-F238E27FC236}">
                <a16:creationId xmlns:a16="http://schemas.microsoft.com/office/drawing/2014/main" id="{831702B5-0AFC-9293-71FE-4D8DB0A15B01}"/>
              </a:ext>
            </a:extLst>
          </p:cNvPr>
          <p:cNvCxnSpPr>
            <a:cxnSpLocks noChangeShapeType="1"/>
          </p:cNvCxnSpPr>
          <p:nvPr/>
        </p:nvCxnSpPr>
        <p:spPr bwMode="auto">
          <a:xfrm flipV="1">
            <a:off x="10771188" y="2239963"/>
            <a:ext cx="290512" cy="320675"/>
          </a:xfrm>
          <a:prstGeom prst="straightConnector1">
            <a:avLst/>
          </a:prstGeom>
          <a:noFill/>
          <a:ln w="57150">
            <a:solidFill>
              <a:srgbClr val="000000"/>
            </a:solidFill>
            <a:miter lim="800000"/>
            <a:headEnd/>
            <a:tailEnd type="arrow" w="med" len="med"/>
          </a:ln>
          <a:extLst>
            <a:ext uri="{909E8E84-426E-40DD-AFC4-6F175D3DCCD1}">
              <a14:hiddenFill xmlns:a14="http://schemas.microsoft.com/office/drawing/2010/main">
                <a:noFill/>
              </a14:hiddenFill>
            </a:ext>
          </a:extLst>
        </p:spPr>
      </p:cxnSp>
      <p:sp>
        <p:nvSpPr>
          <p:cNvPr id="34" name="TextBox 40">
            <a:extLst>
              <a:ext uri="{FF2B5EF4-FFF2-40B4-BE49-F238E27FC236}">
                <a16:creationId xmlns:a16="http://schemas.microsoft.com/office/drawing/2014/main" id="{DD05D0ED-0873-85CB-930E-5BE298A5AE9B}"/>
              </a:ext>
            </a:extLst>
          </p:cNvPr>
          <p:cNvSpPr txBox="1">
            <a:spLocks noChangeArrowheads="1"/>
          </p:cNvSpPr>
          <p:nvPr/>
        </p:nvSpPr>
        <p:spPr bwMode="auto">
          <a:xfrm>
            <a:off x="2344738" y="3727450"/>
            <a:ext cx="307498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New patient </a:t>
            </a:r>
          </a:p>
        </p:txBody>
      </p:sp>
      <p:sp>
        <p:nvSpPr>
          <p:cNvPr id="17443" name="TextBox 41">
            <a:extLst>
              <a:ext uri="{FF2B5EF4-FFF2-40B4-BE49-F238E27FC236}">
                <a16:creationId xmlns:a16="http://schemas.microsoft.com/office/drawing/2014/main" id="{9661E0BA-AE5B-3687-BBB7-FEF41BDB04C5}"/>
              </a:ext>
            </a:extLst>
          </p:cNvPr>
          <p:cNvSpPr txBox="1">
            <a:spLocks noChangeArrowheads="1"/>
          </p:cNvSpPr>
          <p:nvPr/>
        </p:nvSpPr>
        <p:spPr bwMode="auto">
          <a:xfrm>
            <a:off x="392113" y="2568575"/>
            <a:ext cx="20018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“Patients with fatal outcomes”</a:t>
            </a:r>
          </a:p>
        </p:txBody>
      </p:sp>
      <p:sp>
        <p:nvSpPr>
          <p:cNvPr id="17444" name="TextBox 42">
            <a:extLst>
              <a:ext uri="{FF2B5EF4-FFF2-40B4-BE49-F238E27FC236}">
                <a16:creationId xmlns:a16="http://schemas.microsoft.com/office/drawing/2014/main" id="{C64DCCB1-0889-6136-0902-3B246D43D5E1}"/>
              </a:ext>
            </a:extLst>
          </p:cNvPr>
          <p:cNvSpPr txBox="1">
            <a:spLocks noChangeArrowheads="1"/>
          </p:cNvSpPr>
          <p:nvPr/>
        </p:nvSpPr>
        <p:spPr bwMode="auto">
          <a:xfrm>
            <a:off x="4935538" y="2849563"/>
            <a:ext cx="23812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“Patients with non-fatal outcomes”</a:t>
            </a:r>
          </a:p>
        </p:txBody>
      </p:sp>
      <p:cxnSp>
        <p:nvCxnSpPr>
          <p:cNvPr id="37" name="Straight Arrow Connector 43">
            <a:extLst>
              <a:ext uri="{FF2B5EF4-FFF2-40B4-BE49-F238E27FC236}">
                <a16:creationId xmlns:a16="http://schemas.microsoft.com/office/drawing/2014/main" id="{1881B9B3-8538-296B-19AA-9A8405798155}"/>
              </a:ext>
            </a:extLst>
          </p:cNvPr>
          <p:cNvCxnSpPr>
            <a:cxnSpLocks noChangeShapeType="1"/>
          </p:cNvCxnSpPr>
          <p:nvPr/>
        </p:nvCxnSpPr>
        <p:spPr bwMode="auto">
          <a:xfrm flipH="1" flipV="1">
            <a:off x="8532813" y="3076575"/>
            <a:ext cx="692150" cy="519113"/>
          </a:xfrm>
          <a:prstGeom prst="straightConnector1">
            <a:avLst/>
          </a:prstGeom>
          <a:noFill/>
          <a:ln w="76196">
            <a:solidFill>
              <a:srgbClr val="CC79A7"/>
            </a:solidFill>
            <a:miter lim="800000"/>
            <a:headEnd/>
            <a:tailEnd type="arrow" w="med" len="med"/>
          </a:ln>
          <a:extLst>
            <a:ext uri="{909E8E84-426E-40DD-AFC4-6F175D3DCCD1}">
              <a14:hiddenFill xmlns:a14="http://schemas.microsoft.com/office/drawing/2010/main">
                <a:noFill/>
              </a14:hiddenFill>
            </a:ext>
          </a:extLst>
        </p:spPr>
      </p:cxnSp>
      <p:sp>
        <p:nvSpPr>
          <p:cNvPr id="38" name="TextBox 44">
            <a:extLst>
              <a:ext uri="{FF2B5EF4-FFF2-40B4-BE49-F238E27FC236}">
                <a16:creationId xmlns:a16="http://schemas.microsoft.com/office/drawing/2014/main" id="{9ABC7001-5DDE-26C5-2FAB-05A07E66E160}"/>
              </a:ext>
            </a:extLst>
          </p:cNvPr>
          <p:cNvSpPr txBox="1">
            <a:spLocks noChangeArrowheads="1"/>
          </p:cNvSpPr>
          <p:nvPr/>
        </p:nvSpPr>
        <p:spPr bwMode="auto">
          <a:xfrm>
            <a:off x="8937625" y="2722563"/>
            <a:ext cx="563563"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3800" b="1">
                <a:solidFill>
                  <a:srgbClr val="CC79A7"/>
                </a:solidFill>
                <a:latin typeface="Calibri" panose="020F0502020204030204" pitchFamily="34" charset="0"/>
                <a:cs typeface="Calibri" panose="020F0502020204030204" pitchFamily="34" charset="0"/>
              </a:rPr>
              <a:t>?</a:t>
            </a:r>
          </a:p>
        </p:txBody>
      </p:sp>
      <p:cxnSp>
        <p:nvCxnSpPr>
          <p:cNvPr id="39" name="Straight Arrow Connector 45">
            <a:extLst>
              <a:ext uri="{FF2B5EF4-FFF2-40B4-BE49-F238E27FC236}">
                <a16:creationId xmlns:a16="http://schemas.microsoft.com/office/drawing/2014/main" id="{65C15DBE-8F57-55BF-9ADC-D0E9041EC61E}"/>
              </a:ext>
            </a:extLst>
          </p:cNvPr>
          <p:cNvCxnSpPr>
            <a:cxnSpLocks noChangeShapeType="1"/>
          </p:cNvCxnSpPr>
          <p:nvPr/>
        </p:nvCxnSpPr>
        <p:spPr bwMode="auto">
          <a:xfrm flipV="1">
            <a:off x="9199563" y="3046413"/>
            <a:ext cx="528637" cy="547687"/>
          </a:xfrm>
          <a:prstGeom prst="straightConnector1">
            <a:avLst/>
          </a:prstGeom>
          <a:noFill/>
          <a:ln w="76196">
            <a:solidFill>
              <a:srgbClr val="CC79A7"/>
            </a:solidFill>
            <a:miter lim="800000"/>
            <a:headEnd/>
            <a:tailEnd type="arrow" w="med" len="med"/>
          </a:ln>
          <a:extLst>
            <a:ext uri="{909E8E84-426E-40DD-AFC4-6F175D3DCCD1}">
              <a14:hiddenFill xmlns:a14="http://schemas.microsoft.com/office/drawing/2010/main">
                <a:noFill/>
              </a14:hiddenFill>
            </a:ext>
          </a:extLst>
        </p:spPr>
      </p:cxnSp>
      <p:sp>
        <p:nvSpPr>
          <p:cNvPr id="40" name="TextBox 46">
            <a:extLst>
              <a:ext uri="{FF2B5EF4-FFF2-40B4-BE49-F238E27FC236}">
                <a16:creationId xmlns:a16="http://schemas.microsoft.com/office/drawing/2014/main" id="{FD445F85-1CD3-585A-9CC2-22E58F635F45}"/>
              </a:ext>
            </a:extLst>
          </p:cNvPr>
          <p:cNvSpPr txBox="1"/>
          <p:nvPr/>
        </p:nvSpPr>
        <p:spPr>
          <a:xfrm>
            <a:off x="1041400" y="4983163"/>
            <a:ext cx="3563938" cy="908050"/>
          </a:xfrm>
          <a:prstGeom prst="rect">
            <a:avLst/>
          </a:prstGeom>
          <a:noFill/>
          <a:ln cap="flat">
            <a:noFill/>
          </a:ln>
        </p:spPr>
        <p:txBody>
          <a:bodyPr>
            <a:spAutoFit/>
          </a:bodyPr>
          <a:lstStyle/>
          <a:p>
            <a:pPr eaLnBrk="1" fontAlgn="auto" hangingPunct="1">
              <a:spcBef>
                <a:spcPts val="0"/>
              </a:spcBef>
              <a:spcAft>
                <a:spcPts val="0"/>
              </a:spcAft>
              <a:defRPr sz="1800" b="0" i="0" u="none" strike="noStrike" kern="0" cap="none" spc="0" baseline="0">
                <a:solidFill>
                  <a:srgbClr val="000000"/>
                </a:solidFill>
                <a:uFillTx/>
              </a:defRPr>
            </a:pPr>
            <a:r>
              <a:rPr lang="en-GB" sz="2400" kern="0">
                <a:solidFill>
                  <a:srgbClr val="000000"/>
                </a:solidFill>
                <a:latin typeface="Calibri"/>
                <a:ea typeface="Calibri"/>
                <a:cs typeface="Calibri"/>
              </a:rPr>
              <a:t>Probability(       --&gt;</a:t>
            </a:r>
            <a:r>
              <a:rPr lang="en-GB" sz="2400" b="1" kern="0">
                <a:solidFill>
                  <a:srgbClr val="CC79A7"/>
                </a:solidFill>
                <a:latin typeface="Calibri"/>
                <a:ea typeface="Calibri"/>
                <a:cs typeface="Calibri"/>
              </a:rPr>
              <a:t>   </a:t>
            </a:r>
            <a:r>
              <a:rPr lang="en-GB" sz="2400" kern="0">
                <a:solidFill>
                  <a:srgbClr val="000000"/>
                </a:solidFill>
                <a:latin typeface="Calibri"/>
                <a:ea typeface="Calibri"/>
                <a:cs typeface="Calibri"/>
              </a:rPr>
              <a:t>   )</a:t>
            </a:r>
          </a:p>
          <a:p>
            <a:pPr eaLnBrk="1" fontAlgn="auto" hangingPunct="1">
              <a:spcBef>
                <a:spcPts val="0"/>
              </a:spcBef>
              <a:spcAft>
                <a:spcPts val="0"/>
              </a:spcAft>
              <a:defRPr sz="1800" b="0" i="0" u="none" strike="noStrike" kern="0" cap="none" spc="0" baseline="0">
                <a:solidFill>
                  <a:srgbClr val="000000"/>
                </a:solidFill>
                <a:uFillTx/>
              </a:defRPr>
            </a:pPr>
            <a:endParaRPr lang="en-GB" sz="500" kern="0">
              <a:solidFill>
                <a:srgbClr val="000000"/>
              </a:solidFill>
              <a:latin typeface="Calibri" pitchFamily="34"/>
              <a:ea typeface="Calibri" pitchFamily="34"/>
              <a:cs typeface="Calibri" pitchFamily="34"/>
            </a:endParaRPr>
          </a:p>
          <a:p>
            <a:pPr eaLnBrk="1" fontAlgn="auto" hangingPunct="1">
              <a:spcBef>
                <a:spcPts val="0"/>
              </a:spcBef>
              <a:spcAft>
                <a:spcPts val="0"/>
              </a:spcAft>
              <a:defRPr sz="1800" b="0" i="0" u="none" strike="noStrike" kern="0" cap="none" spc="0" baseline="0">
                <a:solidFill>
                  <a:srgbClr val="000000"/>
                </a:solidFill>
                <a:uFillTx/>
              </a:defRPr>
            </a:pPr>
            <a:r>
              <a:rPr lang="en-GB" sz="2400" kern="0">
                <a:solidFill>
                  <a:srgbClr val="000000"/>
                </a:solidFill>
                <a:latin typeface="Calibri"/>
                <a:ea typeface="Calibri"/>
                <a:cs typeface="Calibri"/>
              </a:rPr>
              <a:t>Probability(       --&gt;      )</a:t>
            </a:r>
          </a:p>
        </p:txBody>
      </p:sp>
      <p:sp>
        <p:nvSpPr>
          <p:cNvPr id="41" name="Oval 47">
            <a:extLst>
              <a:ext uri="{FF2B5EF4-FFF2-40B4-BE49-F238E27FC236}">
                <a16:creationId xmlns:a16="http://schemas.microsoft.com/office/drawing/2014/main" id="{4F037167-879B-3095-7621-0B1167B1E150}"/>
              </a:ext>
            </a:extLst>
          </p:cNvPr>
          <p:cNvSpPr>
            <a:spLocks/>
          </p:cNvSpPr>
          <p:nvPr/>
        </p:nvSpPr>
        <p:spPr bwMode="auto">
          <a:xfrm>
            <a:off x="2632075" y="5060950"/>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009E73"/>
          </a:solidFill>
          <a:ln w="12701" cap="flat">
            <a:solidFill>
              <a:srgbClr val="009E73"/>
            </a:solidFill>
            <a:prstDash val="solid"/>
            <a:miter lim="800000"/>
            <a:headEnd/>
            <a:tailEnd/>
          </a:ln>
        </p:spPr>
        <p:txBody>
          <a:bodyPr anchor="ctr" anchorCtr="1"/>
          <a:lstStyle/>
          <a:p>
            <a:endParaRPr lang="en-GB"/>
          </a:p>
        </p:txBody>
      </p:sp>
      <p:sp>
        <p:nvSpPr>
          <p:cNvPr id="42" name="Oval 48">
            <a:extLst>
              <a:ext uri="{FF2B5EF4-FFF2-40B4-BE49-F238E27FC236}">
                <a16:creationId xmlns:a16="http://schemas.microsoft.com/office/drawing/2014/main" id="{E4A4A716-B149-2265-C08F-1A6489CBB7D7}"/>
              </a:ext>
            </a:extLst>
          </p:cNvPr>
          <p:cNvSpPr>
            <a:spLocks/>
          </p:cNvSpPr>
          <p:nvPr/>
        </p:nvSpPr>
        <p:spPr bwMode="auto">
          <a:xfrm>
            <a:off x="3408363" y="5060950"/>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FFC000"/>
            </a:solidFill>
            <a:prstDash val="solid"/>
            <a:miter lim="800000"/>
            <a:headEnd/>
            <a:tailEnd/>
          </a:ln>
        </p:spPr>
        <p:txBody>
          <a:bodyPr anchor="ctr" anchorCtr="1"/>
          <a:lstStyle/>
          <a:p>
            <a:endParaRPr lang="en-GB"/>
          </a:p>
        </p:txBody>
      </p:sp>
      <p:sp>
        <p:nvSpPr>
          <p:cNvPr id="43" name="Oval 49">
            <a:extLst>
              <a:ext uri="{FF2B5EF4-FFF2-40B4-BE49-F238E27FC236}">
                <a16:creationId xmlns:a16="http://schemas.microsoft.com/office/drawing/2014/main" id="{43B7C007-7D29-E1BB-931D-6C56EB0C429B}"/>
              </a:ext>
            </a:extLst>
          </p:cNvPr>
          <p:cNvSpPr>
            <a:spLocks/>
          </p:cNvSpPr>
          <p:nvPr/>
        </p:nvSpPr>
        <p:spPr bwMode="auto">
          <a:xfrm>
            <a:off x="2644775" y="5522913"/>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009E73"/>
          </a:solidFill>
          <a:ln w="12701" cap="flat">
            <a:solidFill>
              <a:srgbClr val="009E73"/>
            </a:solidFill>
            <a:prstDash val="solid"/>
            <a:miter lim="800000"/>
            <a:headEnd/>
            <a:tailEnd/>
          </a:ln>
        </p:spPr>
        <p:txBody>
          <a:bodyPr anchor="ctr" anchorCtr="1"/>
          <a:lstStyle/>
          <a:p>
            <a:endParaRPr lang="en-GB"/>
          </a:p>
        </p:txBody>
      </p:sp>
      <p:sp>
        <p:nvSpPr>
          <p:cNvPr id="44" name="Oval 50">
            <a:extLst>
              <a:ext uri="{FF2B5EF4-FFF2-40B4-BE49-F238E27FC236}">
                <a16:creationId xmlns:a16="http://schemas.microsoft.com/office/drawing/2014/main" id="{26C54380-27AC-8F6D-8A12-FAB2E34347FC}"/>
              </a:ext>
            </a:extLst>
          </p:cNvPr>
          <p:cNvSpPr>
            <a:spLocks/>
          </p:cNvSpPr>
          <p:nvPr/>
        </p:nvSpPr>
        <p:spPr bwMode="auto">
          <a:xfrm>
            <a:off x="3408363" y="5522913"/>
            <a:ext cx="382587" cy="368300"/>
          </a:xfrm>
          <a:custGeom>
            <a:avLst/>
            <a:gdLst>
              <a:gd name="T0" fmla="*/ 191929 w 381954"/>
              <a:gd name="T1" fmla="*/ 0 h 368009"/>
              <a:gd name="T2" fmla="*/ 383856 w 381954"/>
              <a:gd name="T3" fmla="*/ 184443 h 368009"/>
              <a:gd name="T4" fmla="*/ 191929 w 381954"/>
              <a:gd name="T5" fmla="*/ 368882 h 368009"/>
              <a:gd name="T6" fmla="*/ 0 w 381954"/>
              <a:gd name="T7" fmla="*/ 184443 h 368009"/>
              <a:gd name="T8" fmla="*/ 56215 w 381954"/>
              <a:gd name="T9" fmla="*/ 54023 h 368009"/>
              <a:gd name="T10" fmla="*/ 56215 w 381954"/>
              <a:gd name="T11" fmla="*/ 314861 h 368009"/>
              <a:gd name="T12" fmla="*/ 327641 w 381954"/>
              <a:gd name="T13" fmla="*/ 314861 h 368009"/>
              <a:gd name="T14" fmla="*/ 327641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45" name="TextBox 51">
            <a:extLst>
              <a:ext uri="{FF2B5EF4-FFF2-40B4-BE49-F238E27FC236}">
                <a16:creationId xmlns:a16="http://schemas.microsoft.com/office/drawing/2014/main" id="{13B47101-A7BB-9B63-944C-4F292A6ED6DE}"/>
              </a:ext>
            </a:extLst>
          </p:cNvPr>
          <p:cNvSpPr txBox="1">
            <a:spLocks noChangeArrowheads="1"/>
          </p:cNvSpPr>
          <p:nvPr/>
        </p:nvSpPr>
        <p:spPr bwMode="auto">
          <a:xfrm>
            <a:off x="3729038" y="3221038"/>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400" b="1">
                <a:latin typeface="Calibri" panose="020F0502020204030204" pitchFamily="34" charset="0"/>
                <a:cs typeface="Calibri" panose="020F0502020204030204" pitchFamily="34" charset="0"/>
              </a:rPr>
              <a:t>?</a:t>
            </a:r>
          </a:p>
        </p:txBody>
      </p:sp>
      <p:cxnSp>
        <p:nvCxnSpPr>
          <p:cNvPr id="46" name="Straight Arrow Connector 54">
            <a:extLst>
              <a:ext uri="{FF2B5EF4-FFF2-40B4-BE49-F238E27FC236}">
                <a16:creationId xmlns:a16="http://schemas.microsoft.com/office/drawing/2014/main" id="{705D0EE4-016B-9F48-093F-41CC91F661E2}"/>
              </a:ext>
            </a:extLst>
          </p:cNvPr>
          <p:cNvCxnSpPr>
            <a:cxnSpLocks noChangeShapeType="1"/>
          </p:cNvCxnSpPr>
          <p:nvPr/>
        </p:nvCxnSpPr>
        <p:spPr bwMode="auto">
          <a:xfrm>
            <a:off x="4348163" y="5429250"/>
            <a:ext cx="814387" cy="0"/>
          </a:xfrm>
          <a:prstGeom prst="straightConnector1">
            <a:avLst/>
          </a:prstGeom>
          <a:noFill/>
          <a:ln w="38103">
            <a:solidFill>
              <a:srgbClr val="000000"/>
            </a:solidFill>
            <a:miter lim="800000"/>
            <a:headEnd/>
            <a:tailEnd type="arrow" w="med" len="med"/>
          </a:ln>
          <a:extLst>
            <a:ext uri="{909E8E84-426E-40DD-AFC4-6F175D3DCCD1}">
              <a14:hiddenFill xmlns:a14="http://schemas.microsoft.com/office/drawing/2010/main">
                <a:noFill/>
              </a14:hiddenFill>
            </a:ext>
          </a:extLst>
        </p:spPr>
      </p:cxnSp>
      <p:sp>
        <p:nvSpPr>
          <p:cNvPr id="47" name="TextBox 56">
            <a:extLst>
              <a:ext uri="{FF2B5EF4-FFF2-40B4-BE49-F238E27FC236}">
                <a16:creationId xmlns:a16="http://schemas.microsoft.com/office/drawing/2014/main" id="{2DAD2A95-81ED-C5DC-54AF-9F8540DAEEA5}"/>
              </a:ext>
            </a:extLst>
          </p:cNvPr>
          <p:cNvSpPr txBox="1">
            <a:spLocks noChangeArrowheads="1"/>
          </p:cNvSpPr>
          <p:nvPr/>
        </p:nvSpPr>
        <p:spPr bwMode="auto">
          <a:xfrm>
            <a:off x="5305425" y="5232400"/>
            <a:ext cx="3016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Probability threshold</a:t>
            </a:r>
          </a:p>
        </p:txBody>
      </p:sp>
      <p:cxnSp>
        <p:nvCxnSpPr>
          <p:cNvPr id="48" name="Straight Arrow Connector 59">
            <a:extLst>
              <a:ext uri="{FF2B5EF4-FFF2-40B4-BE49-F238E27FC236}">
                <a16:creationId xmlns:a16="http://schemas.microsoft.com/office/drawing/2014/main" id="{75403F16-9312-7D74-99E7-573BD0F1DD9B}"/>
              </a:ext>
            </a:extLst>
          </p:cNvPr>
          <p:cNvCxnSpPr>
            <a:cxnSpLocks noChangeShapeType="1"/>
          </p:cNvCxnSpPr>
          <p:nvPr/>
        </p:nvCxnSpPr>
        <p:spPr bwMode="auto">
          <a:xfrm>
            <a:off x="7658100" y="5384800"/>
            <a:ext cx="815975" cy="0"/>
          </a:xfrm>
          <a:prstGeom prst="straightConnector1">
            <a:avLst/>
          </a:prstGeom>
          <a:noFill/>
          <a:ln w="38103">
            <a:solidFill>
              <a:srgbClr val="000000"/>
            </a:solidFill>
            <a:miter lim="800000"/>
            <a:headEnd/>
            <a:tailEnd type="arrow" w="med" len="med"/>
          </a:ln>
          <a:extLst>
            <a:ext uri="{909E8E84-426E-40DD-AFC4-6F175D3DCCD1}">
              <a14:hiddenFill xmlns:a14="http://schemas.microsoft.com/office/drawing/2010/main">
                <a:noFill/>
              </a14:hiddenFill>
            </a:ext>
          </a:extLst>
        </p:spPr>
      </p:cxnSp>
      <p:sp>
        <p:nvSpPr>
          <p:cNvPr id="49" name="TextBox 60">
            <a:extLst>
              <a:ext uri="{FF2B5EF4-FFF2-40B4-BE49-F238E27FC236}">
                <a16:creationId xmlns:a16="http://schemas.microsoft.com/office/drawing/2014/main" id="{F1A02B61-41EE-EBC3-1C8E-63A80DE2024B}"/>
              </a:ext>
            </a:extLst>
          </p:cNvPr>
          <p:cNvSpPr txBox="1">
            <a:spLocks noChangeArrowheads="1"/>
          </p:cNvSpPr>
          <p:nvPr/>
        </p:nvSpPr>
        <p:spPr bwMode="auto">
          <a:xfrm>
            <a:off x="8697913" y="5210175"/>
            <a:ext cx="3016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latin typeface="Calibri" panose="020F0502020204030204" pitchFamily="34" charset="0"/>
                <a:cs typeface="Calibri" panose="020F0502020204030204" pitchFamily="34" charset="0"/>
              </a:rPr>
              <a:t>Predicted trajectory</a:t>
            </a:r>
          </a:p>
        </p:txBody>
      </p:sp>
      <p:sp>
        <p:nvSpPr>
          <p:cNvPr id="17458" name="TextBox 1">
            <a:extLst>
              <a:ext uri="{FF2B5EF4-FFF2-40B4-BE49-F238E27FC236}">
                <a16:creationId xmlns:a16="http://schemas.microsoft.com/office/drawing/2014/main" id="{6B3CBF8E-E749-CA0B-B5A0-1F7C62D6E53D}"/>
              </a:ext>
            </a:extLst>
          </p:cNvPr>
          <p:cNvSpPr txBox="1">
            <a:spLocks noChangeArrowheads="1"/>
          </p:cNvSpPr>
          <p:nvPr/>
        </p:nvSpPr>
        <p:spPr bwMode="auto">
          <a:xfrm>
            <a:off x="2633663" y="1096963"/>
            <a:ext cx="3706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t>A theoretical example</a:t>
            </a:r>
          </a:p>
        </p:txBody>
      </p:sp>
      <p:sp>
        <p:nvSpPr>
          <p:cNvPr id="17459" name="Slide Number Placeholder 2">
            <a:extLst>
              <a:ext uri="{FF2B5EF4-FFF2-40B4-BE49-F238E27FC236}">
                <a16:creationId xmlns:a16="http://schemas.microsoft.com/office/drawing/2014/main" id="{2BEBCF88-E0BA-5E89-9925-536BD1E6CB60}"/>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B4524ABB-CE13-4AA4-A30D-A85CD5D8982C}" type="slidenum">
              <a:rPr lang="en-US" altLang="en-US" sz="1200">
                <a:solidFill>
                  <a:srgbClr val="767676"/>
                </a:solidFill>
              </a:rPr>
              <a:pPr algn="r" eaLnBrk="1" hangingPunct="1">
                <a:lnSpc>
                  <a:spcPct val="100000"/>
                </a:lnSpc>
                <a:spcBef>
                  <a:spcPct val="0"/>
                </a:spcBef>
                <a:buSzTx/>
                <a:buFontTx/>
                <a:buNone/>
              </a:pPr>
              <a:t>9</a:t>
            </a:fld>
            <a:endParaRPr lang="en-US" altLang="en-US" sz="1200">
              <a:solidFill>
                <a:srgbClr val="767676"/>
              </a:solidFill>
            </a:endParaRPr>
          </a:p>
        </p:txBody>
      </p:sp>
      <p:sp>
        <p:nvSpPr>
          <p:cNvPr id="17460" name="Slide Number Placeholder 52">
            <a:extLst>
              <a:ext uri="{FF2B5EF4-FFF2-40B4-BE49-F238E27FC236}">
                <a16:creationId xmlns:a16="http://schemas.microsoft.com/office/drawing/2014/main" id="{06CE8A1C-3EF9-BA48-49E2-7EC8E047686B}"/>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CBE53281-CE1F-477F-9111-28E0AF70A5F7}" type="slidenum">
              <a:rPr lang="en-US" altLang="en-US" sz="1200">
                <a:solidFill>
                  <a:srgbClr val="767676"/>
                </a:solidFill>
              </a:rPr>
              <a:pPr algn="r" eaLnBrk="1" hangingPunct="1">
                <a:lnSpc>
                  <a:spcPct val="100000"/>
                </a:lnSpc>
                <a:spcBef>
                  <a:spcPct val="0"/>
                </a:spcBef>
                <a:buSzTx/>
                <a:buFontTx/>
                <a:buNone/>
              </a:pPr>
              <a:t>9</a:t>
            </a:fld>
            <a:endParaRPr lang="en-US" altLang="en-US" sz="1200">
              <a:solidFill>
                <a:srgbClr val="767676"/>
              </a:solidFill>
            </a:endParaRPr>
          </a:p>
        </p:txBody>
      </p:sp>
      <p:sp>
        <p:nvSpPr>
          <p:cNvPr id="17461" name="Title 1">
            <a:extLst>
              <a:ext uri="{FF2B5EF4-FFF2-40B4-BE49-F238E27FC236}">
                <a16:creationId xmlns:a16="http://schemas.microsoft.com/office/drawing/2014/main" id="{4F7D30A2-A732-50E4-4453-F06871F43BCF}"/>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VeloCD</a:t>
            </a:r>
            <a:endParaRPr altLang="en-US">
              <a:latin typeface="Aptos Display" panose="020B00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40" grpId="0"/>
      <p:bldP spid="45" grpId="0"/>
      <p:bldP spid="47"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506">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D87177E0-6595-2DDE-6634-43911F5EBF62}"/>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364A82AB-0407-4A75-B48C-B4F297DC52E8}" type="slidenum">
              <a:rPr lang="en-US" altLang="en-US" sz="1200">
                <a:solidFill>
                  <a:srgbClr val="767676"/>
                </a:solidFill>
              </a:rPr>
              <a:pPr algn="r" eaLnBrk="1" hangingPunct="1">
                <a:lnSpc>
                  <a:spcPct val="100000"/>
                </a:lnSpc>
                <a:spcBef>
                  <a:spcPct val="0"/>
                </a:spcBef>
                <a:buSzTx/>
                <a:buFontTx/>
                <a:buNone/>
              </a:pPr>
              <a:t>10</a:t>
            </a:fld>
            <a:endParaRPr lang="en-US" altLang="en-US" sz="1200">
              <a:solidFill>
                <a:srgbClr val="767676"/>
              </a:solidFill>
            </a:endParaRPr>
          </a:p>
        </p:txBody>
      </p:sp>
      <p:pic>
        <p:nvPicPr>
          <p:cNvPr id="19459" name="Picture 5">
            <a:extLst>
              <a:ext uri="{FF2B5EF4-FFF2-40B4-BE49-F238E27FC236}">
                <a16:creationId xmlns:a16="http://schemas.microsoft.com/office/drawing/2014/main" id="{C1307F3D-59DF-C355-6BAB-B3359CCCC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7161"/>
          <a:stretch>
            <a:fillRect/>
          </a:stretch>
        </p:blipFill>
        <p:spPr bwMode="auto">
          <a:xfrm>
            <a:off x="639763" y="1674813"/>
            <a:ext cx="4983162" cy="1889125"/>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7">
            <a:extLst>
              <a:ext uri="{FF2B5EF4-FFF2-40B4-BE49-F238E27FC236}">
                <a16:creationId xmlns:a16="http://schemas.microsoft.com/office/drawing/2014/main" id="{15C120C6-F89E-B20A-A29A-E6A21094A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100" y="3589338"/>
            <a:ext cx="4513263" cy="2066925"/>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9">
            <a:extLst>
              <a:ext uri="{FF2B5EF4-FFF2-40B4-BE49-F238E27FC236}">
                <a16:creationId xmlns:a16="http://schemas.microsoft.com/office/drawing/2014/main" id="{002C9FD1-EDA2-B068-840B-8852F16BD1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0075" y="1522413"/>
            <a:ext cx="5705475" cy="1690687"/>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11">
            <a:extLst>
              <a:ext uri="{FF2B5EF4-FFF2-40B4-BE49-F238E27FC236}">
                <a16:creationId xmlns:a16="http://schemas.microsoft.com/office/drawing/2014/main" id="{5EDFC456-BFB3-7380-1590-887E2807DC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0075" y="3346450"/>
            <a:ext cx="5705475" cy="1938338"/>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5">
            <a:extLst>
              <a:ext uri="{FF2B5EF4-FFF2-40B4-BE49-F238E27FC236}">
                <a16:creationId xmlns:a16="http://schemas.microsoft.com/office/drawing/2014/main" id="{230E85BF-A080-4115-2335-6FB61BC6FD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0538" y="2439988"/>
            <a:ext cx="6772275" cy="1400175"/>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7">
            <a:extLst>
              <a:ext uri="{FF2B5EF4-FFF2-40B4-BE49-F238E27FC236}">
                <a16:creationId xmlns:a16="http://schemas.microsoft.com/office/drawing/2014/main" id="{DBD883DB-B877-AE1A-0350-994B03DFFC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7125" y="4213225"/>
            <a:ext cx="6448425" cy="1790700"/>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9">
            <a:extLst>
              <a:ext uri="{FF2B5EF4-FFF2-40B4-BE49-F238E27FC236}">
                <a16:creationId xmlns:a16="http://schemas.microsoft.com/office/drawing/2014/main" id="{F8CE52A2-AD59-F78B-5905-823FC5B3E6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613" y="4079875"/>
            <a:ext cx="7697787" cy="1773238"/>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3">
            <a:extLst>
              <a:ext uri="{FF2B5EF4-FFF2-40B4-BE49-F238E27FC236}">
                <a16:creationId xmlns:a16="http://schemas.microsoft.com/office/drawing/2014/main" id="{E6AC0B32-4CE3-069A-EEFF-07673ABADB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4100" y="3000375"/>
            <a:ext cx="5705475" cy="3211513"/>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1">
            <a:extLst>
              <a:ext uri="{FF2B5EF4-FFF2-40B4-BE49-F238E27FC236}">
                <a16:creationId xmlns:a16="http://schemas.microsoft.com/office/drawing/2014/main" id="{ED68EA39-8FA6-829D-E457-062E29C000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33713" y="1743075"/>
            <a:ext cx="5548312" cy="3817938"/>
          </a:xfrm>
          <a:prstGeom prst="rect">
            <a:avLst/>
          </a:prstGeom>
          <a:noFill/>
          <a:ln>
            <a:noFill/>
          </a:ln>
          <a:effectLst>
            <a:outerShdw dist="139699" dir="2700000" algn="tl" rotWithShape="0">
              <a:srgbClr val="333333">
                <a:alpha val="64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8" name="Slide Number Placeholder 12">
            <a:extLst>
              <a:ext uri="{FF2B5EF4-FFF2-40B4-BE49-F238E27FC236}">
                <a16:creationId xmlns:a16="http://schemas.microsoft.com/office/drawing/2014/main" id="{3139677F-3DD1-F160-6E01-2B7A1D59A201}"/>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70D3E883-2F21-4058-968A-F79914B53FD6}" type="slidenum">
              <a:rPr lang="en-US" altLang="en-US" sz="1200">
                <a:solidFill>
                  <a:srgbClr val="767676"/>
                </a:solidFill>
              </a:rPr>
              <a:pPr algn="r" eaLnBrk="1" hangingPunct="1">
                <a:lnSpc>
                  <a:spcPct val="100000"/>
                </a:lnSpc>
                <a:spcBef>
                  <a:spcPct val="0"/>
                </a:spcBef>
                <a:buSzTx/>
                <a:buFontTx/>
                <a:buNone/>
              </a:pPr>
              <a:t>10</a:t>
            </a:fld>
            <a:endParaRPr lang="en-US" altLang="en-US" sz="1200">
              <a:solidFill>
                <a:srgbClr val="767676"/>
              </a:solidFill>
            </a:endParaRPr>
          </a:p>
        </p:txBody>
      </p:sp>
      <p:sp>
        <p:nvSpPr>
          <p:cNvPr id="19469" name="Title 1">
            <a:extLst>
              <a:ext uri="{FF2B5EF4-FFF2-40B4-BE49-F238E27FC236}">
                <a16:creationId xmlns:a16="http://schemas.microsoft.com/office/drawing/2014/main" id="{65C2BEBE-E915-EE8C-A735-06D2900799DF}"/>
              </a:ext>
            </a:extLst>
          </p:cNvPr>
          <p:cNvSpPr txBox="1">
            <a:spLocks noChangeArrowheads="1"/>
          </p:cNvSpPr>
          <p:nvPr/>
        </p:nvSpPr>
        <p:spPr bwMode="auto">
          <a:xfrm>
            <a:off x="506413" y="3175"/>
            <a:ext cx="118427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Assumption 1: current disease states == current transcriptomic state</a:t>
            </a:r>
          </a:p>
        </p:txBody>
      </p:sp>
      <p:sp>
        <p:nvSpPr>
          <p:cNvPr id="3" name="TextBox 2">
            <a:extLst>
              <a:ext uri="{FF2B5EF4-FFF2-40B4-BE49-F238E27FC236}">
                <a16:creationId xmlns:a16="http://schemas.microsoft.com/office/drawing/2014/main" id="{F75E84A5-CB48-A49D-2F91-13F09513FD08}"/>
              </a:ext>
            </a:extLst>
          </p:cNvPr>
          <p:cNvSpPr txBox="1">
            <a:spLocks noChangeArrowheads="1"/>
          </p:cNvSpPr>
          <p:nvPr/>
        </p:nvSpPr>
        <p:spPr bwMode="auto">
          <a:xfrm>
            <a:off x="252413" y="912813"/>
            <a:ext cx="116855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3000" b="1">
                <a:solidFill>
                  <a:srgbClr val="FF0000"/>
                </a:solidFill>
                <a:latin typeface="Calibri" panose="020F0502020204030204" pitchFamily="34" charset="0"/>
                <a:cs typeface="Calibri" panose="020F0502020204030204" pitchFamily="34" charset="0"/>
              </a:rPr>
              <a:t>Assumption 2: future disease trajectories == future transcriptomic states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495">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5BABA499-CAC6-20E9-A214-67342B748B3E}"/>
              </a:ext>
            </a:extLst>
          </p:cNvPr>
          <p:cNvSpPr>
            <a:spLocks noChangeArrowheads="1"/>
          </p:cNvSpPr>
          <p:nvPr/>
        </p:nvSpPr>
        <p:spPr bwMode="auto">
          <a:xfrm>
            <a:off x="8150225" y="1504950"/>
            <a:ext cx="1909763" cy="177323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0483" name="Rectangle 4">
            <a:extLst>
              <a:ext uri="{FF2B5EF4-FFF2-40B4-BE49-F238E27FC236}">
                <a16:creationId xmlns:a16="http://schemas.microsoft.com/office/drawing/2014/main" id="{31823290-7E28-1C2B-F9A3-B13C0777527E}"/>
              </a:ext>
            </a:extLst>
          </p:cNvPr>
          <p:cNvSpPr>
            <a:spLocks noChangeArrowheads="1"/>
          </p:cNvSpPr>
          <p:nvPr/>
        </p:nvSpPr>
        <p:spPr bwMode="auto">
          <a:xfrm>
            <a:off x="9378950" y="1522413"/>
            <a:ext cx="766763" cy="657225"/>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0484" name="Rectangle 5">
            <a:extLst>
              <a:ext uri="{FF2B5EF4-FFF2-40B4-BE49-F238E27FC236}">
                <a16:creationId xmlns:a16="http://schemas.microsoft.com/office/drawing/2014/main" id="{68AF2823-9A1E-6177-B082-3C572CB626AC}"/>
              </a:ext>
            </a:extLst>
          </p:cNvPr>
          <p:cNvSpPr>
            <a:spLocks noChangeArrowheads="1"/>
          </p:cNvSpPr>
          <p:nvPr/>
        </p:nvSpPr>
        <p:spPr bwMode="auto">
          <a:xfrm>
            <a:off x="7705725" y="2924175"/>
            <a:ext cx="766763" cy="65563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0485" name="Rectangle 6">
            <a:extLst>
              <a:ext uri="{FF2B5EF4-FFF2-40B4-BE49-F238E27FC236}">
                <a16:creationId xmlns:a16="http://schemas.microsoft.com/office/drawing/2014/main" id="{66734F26-C9CB-6D7C-74B6-C791888762D3}"/>
              </a:ext>
            </a:extLst>
          </p:cNvPr>
          <p:cNvSpPr>
            <a:spLocks noChangeArrowheads="1"/>
          </p:cNvSpPr>
          <p:nvPr/>
        </p:nvSpPr>
        <p:spPr bwMode="auto">
          <a:xfrm>
            <a:off x="9696450" y="2863850"/>
            <a:ext cx="455613" cy="657225"/>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6" name="Content Placeholder 2">
            <a:extLst>
              <a:ext uri="{FF2B5EF4-FFF2-40B4-BE49-F238E27FC236}">
                <a16:creationId xmlns:a16="http://schemas.microsoft.com/office/drawing/2014/main" id="{B25203AC-2927-9F1A-1685-96294604CDB8}"/>
              </a:ext>
            </a:extLst>
          </p:cNvPr>
          <p:cNvSpPr txBox="1">
            <a:spLocks noGrp="1" noChangeArrowheads="1"/>
          </p:cNvSpPr>
          <p:nvPr>
            <p:ph idx="1"/>
          </p:nvPr>
        </p:nvSpPr>
        <p:spPr>
          <a:xfrm>
            <a:off x="659453" y="1404938"/>
            <a:ext cx="10508610" cy="4183558"/>
          </a:xfrm>
        </p:spPr>
        <p:txBody>
          <a:bodyPr/>
          <a:lstStyle/>
          <a:p>
            <a:pPr marL="0" indent="0" eaLnBrk="1" hangingPunct="1">
              <a:lnSpc>
                <a:spcPct val="120000"/>
              </a:lnSpc>
              <a:buFont typeface="Arial" panose="020B0604020202020204" pitchFamily="34" charset="0"/>
              <a:buNone/>
            </a:pPr>
            <a:r>
              <a:rPr lang="en-GB" altLang="en-US" sz="1600">
                <a:latin typeface="Calibri"/>
                <a:ea typeface="Calibri"/>
                <a:cs typeface="Calibri"/>
              </a:rPr>
              <a:t>1. Development in time-course datasets of simple biological processes – circadian rhythm and </a:t>
            </a:r>
            <a:r>
              <a:rPr lang="en-GB" altLang="en-US" sz="1600" i="1">
                <a:latin typeface="Calibri"/>
                <a:ea typeface="Calibri"/>
                <a:cs typeface="Calibri"/>
              </a:rPr>
              <a:t>Plasmodium</a:t>
            </a:r>
            <a:r>
              <a:rPr lang="en-GB" altLang="en-US" sz="1600">
                <a:latin typeface="Calibri"/>
                <a:ea typeface="Calibri"/>
                <a:cs typeface="Calibri"/>
              </a:rPr>
              <a:t> intraerythrocytic life cycle stages --&gt;</a:t>
            </a:r>
            <a:r>
              <a:rPr lang="en-GB" altLang="en-US" sz="1600" dirty="0">
                <a:cs typeface="Calibri"/>
              </a:rPr>
              <a:t> </a:t>
            </a:r>
            <a:r>
              <a:rPr lang="en-GB" altLang="en-US" sz="1600">
                <a:latin typeface="Calibri"/>
                <a:ea typeface="Calibri"/>
                <a:cs typeface="Calibri"/>
              </a:rPr>
              <a:t>My PhD thesis </a:t>
            </a:r>
          </a:p>
          <a:p>
            <a:pPr marL="0" indent="0" eaLnBrk="1" hangingPunct="1">
              <a:lnSpc>
                <a:spcPct val="120000"/>
              </a:lnSpc>
              <a:buFont typeface="Arial" panose="020B0604020202020204" pitchFamily="34" charset="0"/>
              <a:buNone/>
            </a:pPr>
            <a:r>
              <a:rPr lang="en-GB" altLang="en-US" sz="1600">
                <a:latin typeface="Calibri" panose="020F0502020204030204" pitchFamily="34" charset="0"/>
                <a:cs typeface="Calibri" panose="020F0502020204030204" pitchFamily="34" charset="0"/>
              </a:rPr>
              <a:t>2. Demonstration of use in time-course clinical datasets of whole-blood, predicting the future onset of:</a:t>
            </a:r>
          </a:p>
          <a:p>
            <a:pPr marL="0" indent="0" eaLnBrk="1" hangingPunct="1">
              <a:lnSpc>
                <a:spcPct val="120000"/>
              </a:lnSpc>
              <a:buFont typeface="Arial" panose="020B0604020202020204" pitchFamily="34" charset="0"/>
              <a:buNone/>
            </a:pPr>
            <a:r>
              <a:rPr lang="en-GB" altLang="en-US" sz="1600">
                <a:latin typeface="Calibri" panose="020F0502020204030204" pitchFamily="34" charset="0"/>
                <a:cs typeface="Calibri" panose="020F0502020204030204" pitchFamily="34" charset="0"/>
              </a:rPr>
              <a:t>a) Influenza A</a:t>
            </a:r>
          </a:p>
          <a:p>
            <a:pPr marL="0" indent="0" eaLnBrk="1" hangingPunct="1">
              <a:lnSpc>
                <a:spcPct val="120000"/>
              </a:lnSpc>
              <a:buFont typeface="Arial" panose="020B0604020202020204" pitchFamily="34" charset="0"/>
              <a:buNone/>
            </a:pPr>
            <a:r>
              <a:rPr lang="en-GB" altLang="en-US" sz="1600">
                <a:latin typeface="Calibri" panose="020F0502020204030204" pitchFamily="34" charset="0"/>
                <a:cs typeface="Calibri" panose="020F0502020204030204" pitchFamily="34" charset="0"/>
              </a:rPr>
              <a:t>b) SARS-CoV-2</a:t>
            </a:r>
          </a:p>
          <a:p>
            <a:pPr marL="0" indent="0" eaLnBrk="1" hangingPunct="1">
              <a:lnSpc>
                <a:spcPct val="120000"/>
              </a:lnSpc>
              <a:buFont typeface="Arial" panose="020B0604020202020204" pitchFamily="34" charset="0"/>
              <a:buNone/>
            </a:pPr>
            <a:r>
              <a:rPr lang="en-GB" altLang="en-US" sz="1600">
                <a:latin typeface="Calibri" panose="020F0502020204030204" pitchFamily="34" charset="0"/>
                <a:cs typeface="Calibri" panose="020F0502020204030204" pitchFamily="34" charset="0"/>
              </a:rPr>
              <a:t>3. Single time-point dataset: TB-IRIS	</a:t>
            </a:r>
            <a:endParaRPr lang="en-GB" altLang="en-US" sz="1600" b="1">
              <a:latin typeface="Calibri" panose="020F0502020204030204" pitchFamily="34" charset="0"/>
              <a:cs typeface="Calibri" panose="020F0502020204030204" pitchFamily="34" charset="0"/>
            </a:endParaRPr>
          </a:p>
          <a:p>
            <a:pPr marL="0" indent="0" eaLnBrk="1" hangingPunct="1">
              <a:lnSpc>
                <a:spcPct val="120000"/>
              </a:lnSpc>
              <a:buFont typeface="Arial" panose="020B0604020202020204" pitchFamily="34" charset="0"/>
              <a:buNone/>
            </a:pPr>
            <a:r>
              <a:rPr lang="en-GB" altLang="en-US" sz="1600">
                <a:latin typeface="Calibri" panose="020F0502020204030204" pitchFamily="34" charset="0"/>
                <a:cs typeface="Calibri" panose="020F0502020204030204" pitchFamily="34" charset="0"/>
              </a:rPr>
              <a:t>4. Demonstration of use in  a large time-point clinical datasets: </a:t>
            </a:r>
            <a:r>
              <a:rPr lang="en-GB" altLang="en-US" sz="1600" b="1">
                <a:latin typeface="Calibri" panose="020F0502020204030204" pitchFamily="34" charset="0"/>
                <a:cs typeface="Calibri" panose="020F0502020204030204" pitchFamily="34" charset="0"/>
              </a:rPr>
              <a:t>PERFORM</a:t>
            </a:r>
          </a:p>
          <a:p>
            <a:pPr marL="0" indent="0" eaLnBrk="1" hangingPunct="1">
              <a:lnSpc>
                <a:spcPct val="120000"/>
              </a:lnSpc>
              <a:buFont typeface="Arial" panose="020B0604020202020204" pitchFamily="34" charset="0"/>
              <a:buNone/>
            </a:pPr>
            <a:r>
              <a:rPr lang="en-GB" altLang="en-US" sz="1600" dirty="0">
                <a:latin typeface="Calibri"/>
                <a:ea typeface="Calibri"/>
                <a:cs typeface="Calibri"/>
              </a:rPr>
              <a:t>5. Reviewer demands: analysis of an additional SARS-CoV-2 and non-infectious disease datasets</a:t>
            </a:r>
          </a:p>
          <a:p>
            <a:pPr marL="0" indent="0">
              <a:lnSpc>
                <a:spcPct val="120000"/>
              </a:lnSpc>
              <a:buNone/>
            </a:pPr>
            <a:r>
              <a:rPr lang="en-GB" altLang="en-US" sz="1600">
                <a:latin typeface="Calibri"/>
                <a:ea typeface="Calibri"/>
                <a:cs typeface="Calibri"/>
              </a:rPr>
              <a:t>6. Application to sepsis  -  ongoing work</a:t>
            </a:r>
            <a:endParaRPr lang="en-GB" altLang="en-US" sz="1600" dirty="0">
              <a:latin typeface="Calibri" panose="020F0502020204030204" pitchFamily="34" charset="0"/>
              <a:ea typeface="Calibri"/>
              <a:cs typeface="Calibri" panose="020F0502020204030204" pitchFamily="34" charset="0"/>
            </a:endParaRPr>
          </a:p>
          <a:p>
            <a:pPr marL="0" indent="0">
              <a:lnSpc>
                <a:spcPct val="120000"/>
              </a:lnSpc>
              <a:buNone/>
            </a:pPr>
            <a:r>
              <a:rPr lang="en-GB" altLang="en-US" sz="1600">
                <a:latin typeface="Calibri"/>
                <a:ea typeface="Calibri"/>
                <a:cs typeface="Calibri"/>
              </a:rPr>
              <a:t>7. Algorithm  further development – PhD application in progress </a:t>
            </a:r>
            <a:endParaRPr lang="en-GB" altLang="en-US" sz="1600" dirty="0">
              <a:latin typeface="Calibri" panose="020F0502020204030204" pitchFamily="34" charset="0"/>
              <a:ea typeface="Calibri"/>
              <a:cs typeface="Calibri" panose="020F0502020204030204" pitchFamily="34" charset="0"/>
            </a:endParaRPr>
          </a:p>
          <a:p>
            <a:pPr marL="0" indent="0">
              <a:lnSpc>
                <a:spcPct val="120000"/>
              </a:lnSpc>
              <a:buNone/>
            </a:pPr>
            <a:endParaRPr lang="en-GB" altLang="en-US" sz="900" dirty="0">
              <a:latin typeface="Calibri"/>
              <a:ea typeface="Calibri"/>
              <a:cs typeface="Calibri"/>
            </a:endParaRPr>
          </a:p>
          <a:p>
            <a:pPr marL="0" indent="0" algn="ctr" eaLnBrk="1" hangingPunct="1">
              <a:buFont typeface="Arial" panose="020B0604020202020204" pitchFamily="34" charset="0"/>
              <a:buNone/>
            </a:pPr>
            <a:r>
              <a:rPr lang="en-GB" altLang="en-US" sz="1800" b="1" dirty="0">
                <a:latin typeface="Calibri"/>
                <a:ea typeface="Calibri"/>
                <a:cs typeface="Calibri"/>
              </a:rPr>
              <a:t>For each dataset we demonstrated how the algorithms assumptions are met and then performed prediction analysis.</a:t>
            </a:r>
            <a:endParaRPr lang="en-GB" altLang="en-US" sz="1400" b="1">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0487" name="Slide Number Placeholder 7">
            <a:extLst>
              <a:ext uri="{FF2B5EF4-FFF2-40B4-BE49-F238E27FC236}">
                <a16:creationId xmlns:a16="http://schemas.microsoft.com/office/drawing/2014/main" id="{91B6BD13-4129-7D3C-FEAB-F9D490F13AA3}"/>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7F93402C-EAE6-4ED2-A449-E3660959DA31}" type="slidenum">
              <a:rPr lang="en-US" altLang="en-US" sz="1200">
                <a:solidFill>
                  <a:srgbClr val="767676"/>
                </a:solidFill>
              </a:rPr>
              <a:pPr algn="r" eaLnBrk="1" hangingPunct="1">
                <a:lnSpc>
                  <a:spcPct val="100000"/>
                </a:lnSpc>
                <a:spcBef>
                  <a:spcPct val="0"/>
                </a:spcBef>
                <a:buSzTx/>
                <a:buFontTx/>
                <a:buNone/>
              </a:pPr>
              <a:t>11</a:t>
            </a:fld>
            <a:endParaRPr lang="en-US" altLang="en-US" sz="1200">
              <a:solidFill>
                <a:srgbClr val="767676"/>
              </a:solidFill>
            </a:endParaRPr>
          </a:p>
        </p:txBody>
      </p:sp>
      <p:sp>
        <p:nvSpPr>
          <p:cNvPr id="20488" name="Slide Number Placeholder 8">
            <a:extLst>
              <a:ext uri="{FF2B5EF4-FFF2-40B4-BE49-F238E27FC236}">
                <a16:creationId xmlns:a16="http://schemas.microsoft.com/office/drawing/2014/main" id="{808A067D-4FBD-8FBC-6A37-278E9C61CA1D}"/>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B8EF8640-6446-4DD0-8F8C-A7D87651E6A2}" type="slidenum">
              <a:rPr lang="en-US" altLang="en-US" sz="1200">
                <a:solidFill>
                  <a:srgbClr val="767676"/>
                </a:solidFill>
              </a:rPr>
              <a:pPr algn="r" eaLnBrk="1" hangingPunct="1">
                <a:lnSpc>
                  <a:spcPct val="100000"/>
                </a:lnSpc>
                <a:spcBef>
                  <a:spcPct val="0"/>
                </a:spcBef>
                <a:buSzTx/>
                <a:buFontTx/>
                <a:buNone/>
              </a:pPr>
              <a:t>11</a:t>
            </a:fld>
            <a:endParaRPr lang="en-US" altLang="en-US" sz="1200">
              <a:solidFill>
                <a:srgbClr val="767676"/>
              </a:solidFill>
            </a:endParaRPr>
          </a:p>
        </p:txBody>
      </p:sp>
      <p:sp>
        <p:nvSpPr>
          <p:cNvPr id="20489" name="Title 1">
            <a:extLst>
              <a:ext uri="{FF2B5EF4-FFF2-40B4-BE49-F238E27FC236}">
                <a16:creationId xmlns:a16="http://schemas.microsoft.com/office/drawing/2014/main" id="{0783936C-1662-27B7-9B0D-222CE24CE507}"/>
              </a:ext>
            </a:extLst>
          </p:cNvPr>
          <p:cNvSpPr txBox="1">
            <a:spLocks noChangeArrowheads="1"/>
          </p:cNvSpPr>
          <p:nvPr/>
        </p:nvSpPr>
        <p:spPr bwMode="auto">
          <a:xfrm>
            <a:off x="658813" y="2143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Project development timeline</a:t>
            </a:r>
            <a:endParaRPr lang="en-US" altLang="en-US" sz="4400">
              <a:latin typeface="Aptos Display" panose="020B0004020202020204" pitchFamily="34" charset="0"/>
            </a:endParaRPr>
          </a:p>
        </p:txBody>
      </p:sp>
      <p:sp>
        <p:nvSpPr>
          <p:cNvPr id="2" name="Rectangle 1">
            <a:extLst>
              <a:ext uri="{FF2B5EF4-FFF2-40B4-BE49-F238E27FC236}">
                <a16:creationId xmlns:a16="http://schemas.microsoft.com/office/drawing/2014/main" id="{45DABEE2-CE51-4B2C-8227-40D4A5A90E60}"/>
              </a:ext>
            </a:extLst>
          </p:cNvPr>
          <p:cNvSpPr/>
          <p:nvPr/>
        </p:nvSpPr>
        <p:spPr>
          <a:xfrm>
            <a:off x="672044" y="2170141"/>
            <a:ext cx="9100594" cy="24501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61A04318-48F5-A44B-FC17-AAFCAAA451A1}"/>
              </a:ext>
            </a:extLst>
          </p:cNvPr>
          <p:cNvSpPr txBox="1"/>
          <p:nvPr/>
        </p:nvSpPr>
        <p:spPr>
          <a:xfrm>
            <a:off x="9856644" y="2296149"/>
            <a:ext cx="17781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dirty="0">
                <a:latin typeface="Aptos"/>
              </a:rPr>
              <a:t>Nat Comms</a:t>
            </a:r>
            <a:r>
              <a:rPr lang="en-GB" dirty="0">
                <a:latin typeface="Aptos"/>
              </a:rPr>
              <a:t> </a:t>
            </a:r>
            <a:r>
              <a:rPr lang="en-GB">
                <a:latin typeface="Aptos"/>
              </a:rPr>
              <a:t>publication</a:t>
            </a:r>
            <a:endParaRPr lang="en-GB"/>
          </a:p>
        </p:txBody>
      </p:sp>
      <p:sp>
        <p:nvSpPr>
          <p:cNvPr id="4" name="Arrow: Left 3">
            <a:extLst>
              <a:ext uri="{FF2B5EF4-FFF2-40B4-BE49-F238E27FC236}">
                <a16:creationId xmlns:a16="http://schemas.microsoft.com/office/drawing/2014/main" id="{65A14E22-4F63-C33F-72A9-2EC9FF725151}"/>
              </a:ext>
            </a:extLst>
          </p:cNvPr>
          <p:cNvSpPr/>
          <p:nvPr/>
        </p:nvSpPr>
        <p:spPr>
          <a:xfrm>
            <a:off x="6902451" y="3802606"/>
            <a:ext cx="1820118" cy="322021"/>
          </a:xfrm>
          <a:prstGeom prst="lef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496">
    <p:spTree>
      <p:nvGrpSpPr>
        <p:cNvPr id="1" name=""/>
        <p:cNvGrpSpPr/>
        <p:nvPr/>
      </p:nvGrpSpPr>
      <p:grpSpPr>
        <a:xfrm>
          <a:off x="0" y="0"/>
          <a:ext cx="0" cy="0"/>
          <a:chOff x="0" y="0"/>
          <a:chExt cx="0" cy="0"/>
        </a:xfrm>
      </p:grpSpPr>
      <p:pic>
        <p:nvPicPr>
          <p:cNvPr id="21506" name="Picture 2" descr="A screenshot of a computer&#10;&#10;Description automatically generated">
            <a:extLst>
              <a:ext uri="{FF2B5EF4-FFF2-40B4-BE49-F238E27FC236}">
                <a16:creationId xmlns:a16="http://schemas.microsoft.com/office/drawing/2014/main" id="{A956AE46-D60C-6FFC-35A7-A2414088D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288" y="160338"/>
            <a:ext cx="4494212"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Box 5">
            <a:extLst>
              <a:ext uri="{FF2B5EF4-FFF2-40B4-BE49-F238E27FC236}">
                <a16:creationId xmlns:a16="http://schemas.microsoft.com/office/drawing/2014/main" id="{EC095CFE-9A8C-442C-B07F-CCBC88D8276E}"/>
              </a:ext>
            </a:extLst>
          </p:cNvPr>
          <p:cNvSpPr txBox="1">
            <a:spLocks noChangeArrowheads="1"/>
          </p:cNvSpPr>
          <p:nvPr/>
        </p:nvSpPr>
        <p:spPr bwMode="auto">
          <a:xfrm>
            <a:off x="638175" y="1282700"/>
            <a:ext cx="5133975"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400" b="1"/>
              <a:t>The PERFORM study</a:t>
            </a:r>
          </a:p>
          <a:p>
            <a:pPr eaLnBrk="1" hangingPunct="1">
              <a:lnSpc>
                <a:spcPct val="100000"/>
              </a:lnSpc>
              <a:spcBef>
                <a:spcPct val="0"/>
              </a:spcBef>
              <a:buSzTx/>
              <a:buFontTx/>
              <a:buNone/>
            </a:pPr>
            <a:endParaRPr lang="en-GB" altLang="en-US" sz="1800"/>
          </a:p>
          <a:p>
            <a:pPr eaLnBrk="1" hangingPunct="1">
              <a:lnSpc>
                <a:spcPct val="100000"/>
              </a:lnSpc>
              <a:spcBef>
                <a:spcPct val="0"/>
              </a:spcBef>
              <a:buSzTx/>
              <a:buFontTx/>
              <a:buNone/>
            </a:pPr>
            <a:r>
              <a:rPr lang="en-GB" altLang="en-US" sz="1800"/>
              <a:t>“F</a:t>
            </a:r>
            <a:r>
              <a:rPr lang="en-GB" altLang="en-US" sz="1800">
                <a:latin typeface="Calibri" panose="020F0502020204030204" pitchFamily="34" charset="0"/>
              </a:rPr>
              <a:t>ebrile illness to Optimize Real-life Management across the European Union”</a:t>
            </a:r>
          </a:p>
          <a:p>
            <a:pPr eaLnBrk="1" hangingPunct="1">
              <a:lnSpc>
                <a:spcPct val="100000"/>
              </a:lnSpc>
              <a:spcBef>
                <a:spcPct val="0"/>
              </a:spcBef>
              <a:buSzTx/>
              <a:buFontTx/>
              <a:buNone/>
            </a:pPr>
            <a:endParaRPr lang="en-GB" altLang="en-US" sz="1800">
              <a:latin typeface="Calibri" panose="020F0502020204030204" pitchFamily="34" charset="0"/>
            </a:endParaRPr>
          </a:p>
          <a:p>
            <a:pPr eaLnBrk="1" hangingPunct="1">
              <a:lnSpc>
                <a:spcPct val="100000"/>
              </a:lnSpc>
              <a:spcBef>
                <a:spcPct val="0"/>
              </a:spcBef>
              <a:buSzTx/>
              <a:buFontTx/>
              <a:buNone/>
            </a:pPr>
            <a:r>
              <a:rPr lang="en-GB" altLang="en-US" sz="1800">
                <a:latin typeface="Calibri" panose="020F0502020204030204" pitchFamily="34" charset="0"/>
              </a:rPr>
              <a:t>Subset with bacterial or viral diagnosis (n=399)</a:t>
            </a:r>
          </a:p>
          <a:p>
            <a:pPr eaLnBrk="1" hangingPunct="1">
              <a:lnSpc>
                <a:spcPct val="100000"/>
              </a:lnSpc>
              <a:spcBef>
                <a:spcPct val="0"/>
              </a:spcBef>
              <a:buSzTx/>
              <a:buFontTx/>
              <a:buNone/>
            </a:pPr>
            <a:r>
              <a:rPr lang="en-GB" altLang="en-US" sz="1800">
                <a:latin typeface="Calibri" panose="020F0502020204030204" pitchFamily="34" charset="0"/>
              </a:rPr>
              <a:t>Recruited in the emergency department (ED) or PICU</a:t>
            </a:r>
          </a:p>
          <a:p>
            <a:pPr eaLnBrk="1" hangingPunct="1">
              <a:lnSpc>
                <a:spcPct val="100000"/>
              </a:lnSpc>
              <a:spcBef>
                <a:spcPct val="0"/>
              </a:spcBef>
              <a:buSzTx/>
              <a:buFontTx/>
              <a:buNone/>
            </a:pPr>
            <a:r>
              <a:rPr lang="en-GB" altLang="en-US" sz="1800">
                <a:latin typeface="Calibri" panose="020F0502020204030204" pitchFamily="34" charset="0"/>
              </a:rPr>
              <a:t>Divided the patients by severity: mild, moderate and severe</a:t>
            </a:r>
          </a:p>
          <a:p>
            <a:pPr eaLnBrk="1" hangingPunct="1">
              <a:lnSpc>
                <a:spcPct val="100000"/>
              </a:lnSpc>
              <a:spcBef>
                <a:spcPct val="0"/>
              </a:spcBef>
              <a:buSzTx/>
              <a:buFontTx/>
              <a:buNone/>
            </a:pPr>
            <a:endParaRPr lang="en-GB" altLang="en-US" sz="1800">
              <a:latin typeface="Calibri" panose="020F0502020204030204" pitchFamily="34" charset="0"/>
            </a:endParaRPr>
          </a:p>
          <a:p>
            <a:pPr eaLnBrk="1" hangingPunct="1">
              <a:lnSpc>
                <a:spcPct val="100000"/>
              </a:lnSpc>
              <a:spcBef>
                <a:spcPct val="0"/>
              </a:spcBef>
              <a:buSzTx/>
              <a:buFontTx/>
              <a:buNone/>
            </a:pPr>
            <a:r>
              <a:rPr lang="en-GB" altLang="en-US" sz="1800">
                <a:latin typeface="Calibri" panose="020F0502020204030204" pitchFamily="34" charset="0"/>
              </a:rPr>
              <a:t>Hospital recruited healthy controls also available</a:t>
            </a:r>
          </a:p>
          <a:p>
            <a:pPr eaLnBrk="1" hangingPunct="1">
              <a:lnSpc>
                <a:spcPct val="100000"/>
              </a:lnSpc>
              <a:spcBef>
                <a:spcPct val="0"/>
              </a:spcBef>
              <a:buSzTx/>
              <a:buFontTx/>
              <a:buNone/>
            </a:pPr>
            <a:endParaRPr lang="en-GB" altLang="en-US" sz="1800">
              <a:latin typeface="Calibri" panose="020F0502020204030204" pitchFamily="34" charset="0"/>
            </a:endParaRPr>
          </a:p>
          <a:p>
            <a:pPr eaLnBrk="1" hangingPunct="1">
              <a:lnSpc>
                <a:spcPct val="100000"/>
              </a:lnSpc>
              <a:spcBef>
                <a:spcPct val="0"/>
              </a:spcBef>
              <a:buSzTx/>
              <a:buFontTx/>
              <a:buNone/>
            </a:pPr>
            <a:r>
              <a:rPr lang="en-GB" altLang="en-US" sz="1800" b="1">
                <a:latin typeface="Calibri" panose="020F0502020204030204" pitchFamily="34" charset="0"/>
              </a:rPr>
              <a:t>Definitions</a:t>
            </a:r>
          </a:p>
          <a:p>
            <a:pPr eaLnBrk="1" hangingPunct="1">
              <a:lnSpc>
                <a:spcPct val="100000"/>
              </a:lnSpc>
              <a:spcBef>
                <a:spcPct val="0"/>
              </a:spcBef>
              <a:buSzTx/>
              <a:buFontTx/>
              <a:buNone/>
            </a:pPr>
            <a:r>
              <a:rPr lang="en-GB" altLang="en-US" sz="1800">
                <a:latin typeface="Calibri" panose="020F0502020204030204" pitchFamily="34" charset="0"/>
              </a:rPr>
              <a:t>Mild – sent </a:t>
            </a:r>
            <a:r>
              <a:rPr lang="en-GB" altLang="en-US" sz="1800">
                <a:solidFill>
                  <a:srgbClr val="FF0000"/>
                </a:solidFill>
                <a:latin typeface="Calibri" panose="020F0502020204030204" pitchFamily="34" charset="0"/>
              </a:rPr>
              <a:t>home</a:t>
            </a:r>
            <a:r>
              <a:rPr lang="en-GB" altLang="en-US" sz="1800">
                <a:latin typeface="Calibri" panose="020F0502020204030204" pitchFamily="34" charset="0"/>
              </a:rPr>
              <a:t> post-recruitment (recruitment was in the ED)</a:t>
            </a:r>
          </a:p>
          <a:p>
            <a:pPr eaLnBrk="1" hangingPunct="1">
              <a:lnSpc>
                <a:spcPct val="100000"/>
              </a:lnSpc>
              <a:spcBef>
                <a:spcPct val="0"/>
              </a:spcBef>
              <a:buSzTx/>
              <a:buFontTx/>
              <a:buNone/>
            </a:pPr>
            <a:r>
              <a:rPr lang="en-GB" altLang="en-US" sz="1800">
                <a:latin typeface="Calibri" panose="020F0502020204030204" pitchFamily="34" charset="0"/>
              </a:rPr>
              <a:t>Moderate – sent to the </a:t>
            </a:r>
            <a:r>
              <a:rPr lang="en-GB" altLang="en-US" sz="1800">
                <a:solidFill>
                  <a:srgbClr val="FF0000"/>
                </a:solidFill>
                <a:latin typeface="Calibri" panose="020F0502020204030204" pitchFamily="34" charset="0"/>
              </a:rPr>
              <a:t>ward</a:t>
            </a:r>
            <a:r>
              <a:rPr lang="en-GB" altLang="en-US" sz="1800">
                <a:latin typeface="Calibri" panose="020F0502020204030204" pitchFamily="34" charset="0"/>
              </a:rPr>
              <a:t> (recruitment in the ED)</a:t>
            </a:r>
          </a:p>
          <a:p>
            <a:pPr eaLnBrk="1" hangingPunct="1">
              <a:lnSpc>
                <a:spcPct val="100000"/>
              </a:lnSpc>
              <a:spcBef>
                <a:spcPct val="0"/>
              </a:spcBef>
              <a:buSzTx/>
              <a:buFontTx/>
              <a:buNone/>
            </a:pPr>
            <a:r>
              <a:rPr lang="en-GB" altLang="en-US" sz="1800">
                <a:latin typeface="Calibri" panose="020F0502020204030204" pitchFamily="34" charset="0"/>
              </a:rPr>
              <a:t>Severe – in the </a:t>
            </a:r>
            <a:r>
              <a:rPr lang="en-GB" altLang="en-US" sz="1800">
                <a:solidFill>
                  <a:srgbClr val="FF0000"/>
                </a:solidFill>
                <a:latin typeface="Calibri" panose="020F0502020204030204" pitchFamily="34" charset="0"/>
              </a:rPr>
              <a:t>PICU</a:t>
            </a:r>
            <a:r>
              <a:rPr lang="en-GB" altLang="en-US" sz="1800">
                <a:latin typeface="Calibri" panose="020F0502020204030204" pitchFamily="34" charset="0"/>
              </a:rPr>
              <a:t> (recruited in the PICU or ED)</a:t>
            </a:r>
          </a:p>
          <a:p>
            <a:pPr eaLnBrk="1" hangingPunct="1">
              <a:lnSpc>
                <a:spcPct val="100000"/>
              </a:lnSpc>
              <a:spcBef>
                <a:spcPct val="0"/>
              </a:spcBef>
              <a:buSzTx/>
              <a:buFontTx/>
              <a:buNone/>
            </a:pPr>
            <a:endParaRPr lang="en-GB" altLang="en-US" sz="1800">
              <a:latin typeface="Calibri" panose="020F0502020204030204" pitchFamily="34" charset="0"/>
            </a:endParaRPr>
          </a:p>
        </p:txBody>
      </p:sp>
      <p:sp>
        <p:nvSpPr>
          <p:cNvPr id="21508" name="Slide Number Placeholder 1">
            <a:extLst>
              <a:ext uri="{FF2B5EF4-FFF2-40B4-BE49-F238E27FC236}">
                <a16:creationId xmlns:a16="http://schemas.microsoft.com/office/drawing/2014/main" id="{CC8B7388-8564-EFB4-E6A6-2B9312ACC3F2}"/>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2D36E215-6451-4CD3-8721-A811C0ABEAE7}" type="slidenum">
              <a:rPr lang="en-US" altLang="en-US" sz="1200">
                <a:solidFill>
                  <a:srgbClr val="767676"/>
                </a:solidFill>
              </a:rPr>
              <a:pPr algn="r" eaLnBrk="1" hangingPunct="1">
                <a:lnSpc>
                  <a:spcPct val="100000"/>
                </a:lnSpc>
                <a:spcBef>
                  <a:spcPct val="0"/>
                </a:spcBef>
                <a:buSzTx/>
                <a:buFontTx/>
                <a:buNone/>
              </a:pPr>
              <a:t>12</a:t>
            </a:fld>
            <a:endParaRPr lang="en-US" altLang="en-US" sz="1200">
              <a:solidFill>
                <a:srgbClr val="767676"/>
              </a:solidFill>
            </a:endParaRPr>
          </a:p>
        </p:txBody>
      </p:sp>
      <p:sp>
        <p:nvSpPr>
          <p:cNvPr id="21509" name="Slide Number Placeholder 4">
            <a:extLst>
              <a:ext uri="{FF2B5EF4-FFF2-40B4-BE49-F238E27FC236}">
                <a16:creationId xmlns:a16="http://schemas.microsoft.com/office/drawing/2014/main" id="{C6C698A4-AFB6-6260-0D45-CC3FB701553F}"/>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1DC3BB74-C7B1-4A64-85E4-490D66812E53}" type="slidenum">
              <a:rPr lang="en-US" altLang="en-US" sz="1200">
                <a:solidFill>
                  <a:srgbClr val="767676"/>
                </a:solidFill>
              </a:rPr>
              <a:pPr algn="r" eaLnBrk="1" hangingPunct="1">
                <a:lnSpc>
                  <a:spcPct val="100000"/>
                </a:lnSpc>
                <a:spcBef>
                  <a:spcPct val="0"/>
                </a:spcBef>
                <a:buSzTx/>
                <a:buFontTx/>
                <a:buNone/>
              </a:pPr>
              <a:t>12</a:t>
            </a:fld>
            <a:endParaRPr lang="en-US" altLang="en-US" sz="1200">
              <a:solidFill>
                <a:srgbClr val="767676"/>
              </a:solidFill>
            </a:endParaRPr>
          </a:p>
        </p:txBody>
      </p:sp>
      <p:sp>
        <p:nvSpPr>
          <p:cNvPr id="21510" name="Title 1">
            <a:extLst>
              <a:ext uri="{FF2B5EF4-FFF2-40B4-BE49-F238E27FC236}">
                <a16:creationId xmlns:a16="http://schemas.microsoft.com/office/drawing/2014/main" id="{2D1C1DFD-AADE-15FA-88F7-24FDC31DB97C}"/>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Results</a:t>
            </a:r>
            <a:endParaRPr altLang="en-US">
              <a:latin typeface="Aptos Display" panose="020B0004020202020204" pitchFamily="34"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name="Slide498">
    <p:spTree>
      <p:nvGrpSpPr>
        <p:cNvPr id="1" name=""/>
        <p:cNvGrpSpPr/>
        <p:nvPr/>
      </p:nvGrpSpPr>
      <p:grpSpPr>
        <a:xfrm>
          <a:off x="0" y="0"/>
          <a:ext cx="0" cy="0"/>
          <a:chOff x="0" y="0"/>
          <a:chExt cx="0" cy="0"/>
        </a:xfrm>
      </p:grpSpPr>
      <p:sp>
        <p:nvSpPr>
          <p:cNvPr id="22530" name="Oval 6">
            <a:extLst>
              <a:ext uri="{FF2B5EF4-FFF2-40B4-BE49-F238E27FC236}">
                <a16:creationId xmlns:a16="http://schemas.microsoft.com/office/drawing/2014/main" id="{35B7BA67-65A3-A615-EF90-C4B16C3A5677}"/>
              </a:ext>
            </a:extLst>
          </p:cNvPr>
          <p:cNvSpPr>
            <a:spLocks/>
          </p:cNvSpPr>
          <p:nvPr/>
        </p:nvSpPr>
        <p:spPr bwMode="auto">
          <a:xfrm>
            <a:off x="4183063" y="2366963"/>
            <a:ext cx="381000" cy="366712"/>
          </a:xfrm>
          <a:custGeom>
            <a:avLst/>
            <a:gdLst>
              <a:gd name="T0" fmla="*/ 189549 w 381954"/>
              <a:gd name="T1" fmla="*/ 0 h 368009"/>
              <a:gd name="T2" fmla="*/ 379099 w 381954"/>
              <a:gd name="T3" fmla="*/ 182066 h 368009"/>
              <a:gd name="T4" fmla="*/ 189549 w 381954"/>
              <a:gd name="T5" fmla="*/ 364132 h 368009"/>
              <a:gd name="T6" fmla="*/ 0 w 381954"/>
              <a:gd name="T7" fmla="*/ 182066 h 368009"/>
              <a:gd name="T8" fmla="*/ 55518 w 381954"/>
              <a:gd name="T9" fmla="*/ 53326 h 368009"/>
              <a:gd name="T10" fmla="*/ 55518 w 381954"/>
              <a:gd name="T11" fmla="*/ 310806 h 368009"/>
              <a:gd name="T12" fmla="*/ 323582 w 381954"/>
              <a:gd name="T13" fmla="*/ 310806 h 368009"/>
              <a:gd name="T14" fmla="*/ 323582 w 381954"/>
              <a:gd name="T15" fmla="*/ 53326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08739C"/>
            </a:solidFill>
            <a:prstDash val="solid"/>
            <a:miter lim="800000"/>
            <a:headEnd/>
            <a:tailEnd/>
          </a:ln>
        </p:spPr>
        <p:txBody>
          <a:bodyPr anchor="ctr" anchorCtr="1"/>
          <a:lstStyle/>
          <a:p>
            <a:endParaRPr lang="en-GB"/>
          </a:p>
        </p:txBody>
      </p:sp>
      <p:sp>
        <p:nvSpPr>
          <p:cNvPr id="22531" name="Oval 7">
            <a:extLst>
              <a:ext uri="{FF2B5EF4-FFF2-40B4-BE49-F238E27FC236}">
                <a16:creationId xmlns:a16="http://schemas.microsoft.com/office/drawing/2014/main" id="{90013B5F-A668-C0E1-2111-9AC999EE30FD}"/>
              </a:ext>
            </a:extLst>
          </p:cNvPr>
          <p:cNvSpPr>
            <a:spLocks/>
          </p:cNvSpPr>
          <p:nvPr/>
        </p:nvSpPr>
        <p:spPr bwMode="auto">
          <a:xfrm>
            <a:off x="4373563" y="2855913"/>
            <a:ext cx="382587" cy="366712"/>
          </a:xfrm>
          <a:custGeom>
            <a:avLst/>
            <a:gdLst>
              <a:gd name="T0" fmla="*/ 191929 w 381954"/>
              <a:gd name="T1" fmla="*/ 0 h 368009"/>
              <a:gd name="T2" fmla="*/ 383856 w 381954"/>
              <a:gd name="T3" fmla="*/ 182066 h 368009"/>
              <a:gd name="T4" fmla="*/ 191929 w 381954"/>
              <a:gd name="T5" fmla="*/ 364132 h 368009"/>
              <a:gd name="T6" fmla="*/ 0 w 381954"/>
              <a:gd name="T7" fmla="*/ 182066 h 368009"/>
              <a:gd name="T8" fmla="*/ 56215 w 381954"/>
              <a:gd name="T9" fmla="*/ 53326 h 368009"/>
              <a:gd name="T10" fmla="*/ 56215 w 381954"/>
              <a:gd name="T11" fmla="*/ 310806 h 368009"/>
              <a:gd name="T12" fmla="*/ 327641 w 381954"/>
              <a:gd name="T13" fmla="*/ 310806 h 368009"/>
              <a:gd name="T14" fmla="*/ 327641 w 381954"/>
              <a:gd name="T15" fmla="*/ 53326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08739C"/>
            </a:solidFill>
            <a:prstDash val="solid"/>
            <a:miter lim="800000"/>
            <a:headEnd/>
            <a:tailEnd/>
          </a:ln>
        </p:spPr>
        <p:txBody>
          <a:bodyPr anchor="ctr" anchorCtr="1"/>
          <a:lstStyle/>
          <a:p>
            <a:endParaRPr lang="en-GB"/>
          </a:p>
        </p:txBody>
      </p:sp>
      <p:sp>
        <p:nvSpPr>
          <p:cNvPr id="22532" name="Oval 8">
            <a:extLst>
              <a:ext uri="{FF2B5EF4-FFF2-40B4-BE49-F238E27FC236}">
                <a16:creationId xmlns:a16="http://schemas.microsoft.com/office/drawing/2014/main" id="{1329497F-1878-F8B0-E1C6-B56F13912C41}"/>
              </a:ext>
            </a:extLst>
          </p:cNvPr>
          <p:cNvSpPr>
            <a:spLocks/>
          </p:cNvSpPr>
          <p:nvPr/>
        </p:nvSpPr>
        <p:spPr bwMode="auto">
          <a:xfrm>
            <a:off x="4843463" y="273367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08739C"/>
            </a:solidFill>
            <a:prstDash val="solid"/>
            <a:miter lim="800000"/>
            <a:headEnd/>
            <a:tailEnd/>
          </a:ln>
        </p:spPr>
        <p:txBody>
          <a:bodyPr anchor="ctr" anchorCtr="1"/>
          <a:lstStyle/>
          <a:p>
            <a:endParaRPr lang="en-GB"/>
          </a:p>
        </p:txBody>
      </p:sp>
      <p:sp>
        <p:nvSpPr>
          <p:cNvPr id="22533" name="Oval 9">
            <a:extLst>
              <a:ext uri="{FF2B5EF4-FFF2-40B4-BE49-F238E27FC236}">
                <a16:creationId xmlns:a16="http://schemas.microsoft.com/office/drawing/2014/main" id="{C6306B02-8497-2A1A-F4EC-78350E8774B5}"/>
              </a:ext>
            </a:extLst>
          </p:cNvPr>
          <p:cNvSpPr>
            <a:spLocks/>
          </p:cNvSpPr>
          <p:nvPr/>
        </p:nvSpPr>
        <p:spPr bwMode="auto">
          <a:xfrm>
            <a:off x="4643438" y="322262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08739C"/>
            </a:solidFill>
            <a:prstDash val="solid"/>
            <a:miter lim="800000"/>
            <a:headEnd/>
            <a:tailEnd/>
          </a:ln>
        </p:spPr>
        <p:txBody>
          <a:bodyPr anchor="ctr" anchorCtr="1"/>
          <a:lstStyle/>
          <a:p>
            <a:endParaRPr lang="en-GB"/>
          </a:p>
        </p:txBody>
      </p:sp>
      <p:sp>
        <p:nvSpPr>
          <p:cNvPr id="22534" name="Oval 10">
            <a:extLst>
              <a:ext uri="{FF2B5EF4-FFF2-40B4-BE49-F238E27FC236}">
                <a16:creationId xmlns:a16="http://schemas.microsoft.com/office/drawing/2014/main" id="{5C92F713-0B05-3769-276B-23F7F0077D09}"/>
              </a:ext>
            </a:extLst>
          </p:cNvPr>
          <p:cNvSpPr>
            <a:spLocks/>
          </p:cNvSpPr>
          <p:nvPr/>
        </p:nvSpPr>
        <p:spPr bwMode="auto">
          <a:xfrm>
            <a:off x="5149850" y="3325813"/>
            <a:ext cx="381000" cy="366712"/>
          </a:xfrm>
          <a:custGeom>
            <a:avLst/>
            <a:gdLst>
              <a:gd name="T0" fmla="*/ 189549 w 381954"/>
              <a:gd name="T1" fmla="*/ 0 h 368009"/>
              <a:gd name="T2" fmla="*/ 379099 w 381954"/>
              <a:gd name="T3" fmla="*/ 182066 h 368009"/>
              <a:gd name="T4" fmla="*/ 189549 w 381954"/>
              <a:gd name="T5" fmla="*/ 364132 h 368009"/>
              <a:gd name="T6" fmla="*/ 0 w 381954"/>
              <a:gd name="T7" fmla="*/ 182066 h 368009"/>
              <a:gd name="T8" fmla="*/ 55518 w 381954"/>
              <a:gd name="T9" fmla="*/ 53326 h 368009"/>
              <a:gd name="T10" fmla="*/ 55518 w 381954"/>
              <a:gd name="T11" fmla="*/ 310806 h 368009"/>
              <a:gd name="T12" fmla="*/ 323582 w 381954"/>
              <a:gd name="T13" fmla="*/ 310806 h 368009"/>
              <a:gd name="T14" fmla="*/ 323582 w 381954"/>
              <a:gd name="T15" fmla="*/ 53326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F0E442"/>
          </a:solidFill>
          <a:ln w="19046" cap="flat">
            <a:solidFill>
              <a:srgbClr val="08739C"/>
            </a:solidFill>
            <a:prstDash val="solid"/>
            <a:miter lim="800000"/>
            <a:headEnd/>
            <a:tailEnd/>
          </a:ln>
        </p:spPr>
        <p:txBody>
          <a:bodyPr anchor="ctr" anchorCtr="1"/>
          <a:lstStyle/>
          <a:p>
            <a:endParaRPr lang="en-GB"/>
          </a:p>
        </p:txBody>
      </p:sp>
      <p:sp>
        <p:nvSpPr>
          <p:cNvPr id="7" name="Oval 11">
            <a:extLst>
              <a:ext uri="{FF2B5EF4-FFF2-40B4-BE49-F238E27FC236}">
                <a16:creationId xmlns:a16="http://schemas.microsoft.com/office/drawing/2014/main" id="{C6DAE623-968D-2FF0-2F32-28E1E24C2E33}"/>
              </a:ext>
            </a:extLst>
          </p:cNvPr>
          <p:cNvSpPr>
            <a:spLocks/>
          </p:cNvSpPr>
          <p:nvPr/>
        </p:nvSpPr>
        <p:spPr bwMode="auto">
          <a:xfrm>
            <a:off x="6065838" y="3924300"/>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009E73"/>
          </a:solidFill>
          <a:ln w="12701" cap="flat">
            <a:solidFill>
              <a:srgbClr val="009E73"/>
            </a:solidFill>
            <a:prstDash val="solid"/>
            <a:miter lim="800000"/>
            <a:headEnd/>
            <a:tailEnd/>
          </a:ln>
        </p:spPr>
        <p:txBody>
          <a:bodyPr anchor="ctr" anchorCtr="1"/>
          <a:lstStyle/>
          <a:p>
            <a:endParaRPr lang="en-GB"/>
          </a:p>
        </p:txBody>
      </p:sp>
      <p:sp>
        <p:nvSpPr>
          <p:cNvPr id="22536" name="Oval 12">
            <a:extLst>
              <a:ext uri="{FF2B5EF4-FFF2-40B4-BE49-F238E27FC236}">
                <a16:creationId xmlns:a16="http://schemas.microsoft.com/office/drawing/2014/main" id="{3601FB80-52CD-13F8-525B-C5A8F56D88D2}"/>
              </a:ext>
            </a:extLst>
          </p:cNvPr>
          <p:cNvSpPr>
            <a:spLocks/>
          </p:cNvSpPr>
          <p:nvPr/>
        </p:nvSpPr>
        <p:spPr bwMode="auto">
          <a:xfrm>
            <a:off x="6800850" y="3298825"/>
            <a:ext cx="381000" cy="368300"/>
          </a:xfrm>
          <a:custGeom>
            <a:avLst/>
            <a:gdLst>
              <a:gd name="T0" fmla="*/ 189549 w 381954"/>
              <a:gd name="T1" fmla="*/ 0 h 368009"/>
              <a:gd name="T2" fmla="*/ 379099 w 381954"/>
              <a:gd name="T3" fmla="*/ 184443 h 368009"/>
              <a:gd name="T4" fmla="*/ 189549 w 381954"/>
              <a:gd name="T5" fmla="*/ 368882 h 368009"/>
              <a:gd name="T6" fmla="*/ 0 w 381954"/>
              <a:gd name="T7" fmla="*/ 184443 h 368009"/>
              <a:gd name="T8" fmla="*/ 55518 w 381954"/>
              <a:gd name="T9" fmla="*/ 54023 h 368009"/>
              <a:gd name="T10" fmla="*/ 55518 w 381954"/>
              <a:gd name="T11" fmla="*/ 314861 h 368009"/>
              <a:gd name="T12" fmla="*/ 323582 w 381954"/>
              <a:gd name="T13" fmla="*/ 314861 h 368009"/>
              <a:gd name="T14" fmla="*/ 323582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2537" name="Oval 13">
            <a:extLst>
              <a:ext uri="{FF2B5EF4-FFF2-40B4-BE49-F238E27FC236}">
                <a16:creationId xmlns:a16="http://schemas.microsoft.com/office/drawing/2014/main" id="{142D83EA-D616-597B-FDB7-D79C7FD3288E}"/>
              </a:ext>
            </a:extLst>
          </p:cNvPr>
          <p:cNvSpPr>
            <a:spLocks/>
          </p:cNvSpPr>
          <p:nvPr/>
        </p:nvSpPr>
        <p:spPr bwMode="auto">
          <a:xfrm>
            <a:off x="7181850" y="311467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2538" name="Oval 14">
            <a:extLst>
              <a:ext uri="{FF2B5EF4-FFF2-40B4-BE49-F238E27FC236}">
                <a16:creationId xmlns:a16="http://schemas.microsoft.com/office/drawing/2014/main" id="{082DB2B5-7FB2-2041-398E-7007A22DB21C}"/>
              </a:ext>
            </a:extLst>
          </p:cNvPr>
          <p:cNvSpPr>
            <a:spLocks/>
          </p:cNvSpPr>
          <p:nvPr/>
        </p:nvSpPr>
        <p:spPr bwMode="auto">
          <a:xfrm>
            <a:off x="7651750" y="2930525"/>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2539" name="Oval 15">
            <a:extLst>
              <a:ext uri="{FF2B5EF4-FFF2-40B4-BE49-F238E27FC236}">
                <a16:creationId xmlns:a16="http://schemas.microsoft.com/office/drawing/2014/main" id="{A4F6A9A5-BEED-B72E-C6A0-6872FB0BA35F}"/>
              </a:ext>
            </a:extLst>
          </p:cNvPr>
          <p:cNvSpPr>
            <a:spLocks/>
          </p:cNvSpPr>
          <p:nvPr/>
        </p:nvSpPr>
        <p:spPr bwMode="auto">
          <a:xfrm>
            <a:off x="7394575" y="2501900"/>
            <a:ext cx="382588" cy="368300"/>
          </a:xfrm>
          <a:custGeom>
            <a:avLst/>
            <a:gdLst>
              <a:gd name="T0" fmla="*/ 191930 w 381954"/>
              <a:gd name="T1" fmla="*/ 0 h 368009"/>
              <a:gd name="T2" fmla="*/ 383859 w 381954"/>
              <a:gd name="T3" fmla="*/ 184443 h 368009"/>
              <a:gd name="T4" fmla="*/ 191930 w 381954"/>
              <a:gd name="T5" fmla="*/ 368882 h 368009"/>
              <a:gd name="T6" fmla="*/ 0 w 381954"/>
              <a:gd name="T7" fmla="*/ 184443 h 368009"/>
              <a:gd name="T8" fmla="*/ 56215 w 381954"/>
              <a:gd name="T9" fmla="*/ 54023 h 368009"/>
              <a:gd name="T10" fmla="*/ 56215 w 381954"/>
              <a:gd name="T11" fmla="*/ 314861 h 368009"/>
              <a:gd name="T12" fmla="*/ 327644 w 381954"/>
              <a:gd name="T13" fmla="*/ 314861 h 368009"/>
              <a:gd name="T14" fmla="*/ 327644 w 381954"/>
              <a:gd name="T15" fmla="*/ 54023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22540" name="Oval 16">
            <a:extLst>
              <a:ext uri="{FF2B5EF4-FFF2-40B4-BE49-F238E27FC236}">
                <a16:creationId xmlns:a16="http://schemas.microsoft.com/office/drawing/2014/main" id="{0910DF58-5483-05B6-0DEB-9F83E8A13BB3}"/>
              </a:ext>
            </a:extLst>
          </p:cNvPr>
          <p:cNvSpPr>
            <a:spLocks/>
          </p:cNvSpPr>
          <p:nvPr/>
        </p:nvSpPr>
        <p:spPr bwMode="auto">
          <a:xfrm>
            <a:off x="7864475" y="2551113"/>
            <a:ext cx="381000" cy="366712"/>
          </a:xfrm>
          <a:custGeom>
            <a:avLst/>
            <a:gdLst>
              <a:gd name="T0" fmla="*/ 189549 w 381954"/>
              <a:gd name="T1" fmla="*/ 0 h 368009"/>
              <a:gd name="T2" fmla="*/ 379099 w 381954"/>
              <a:gd name="T3" fmla="*/ 182066 h 368009"/>
              <a:gd name="T4" fmla="*/ 189549 w 381954"/>
              <a:gd name="T5" fmla="*/ 364132 h 368009"/>
              <a:gd name="T6" fmla="*/ 0 w 381954"/>
              <a:gd name="T7" fmla="*/ 182066 h 368009"/>
              <a:gd name="T8" fmla="*/ 55518 w 381954"/>
              <a:gd name="T9" fmla="*/ 53326 h 368009"/>
              <a:gd name="T10" fmla="*/ 55518 w 381954"/>
              <a:gd name="T11" fmla="*/ 310806 h 368009"/>
              <a:gd name="T12" fmla="*/ 323582 w 381954"/>
              <a:gd name="T13" fmla="*/ 310806 h 368009"/>
              <a:gd name="T14" fmla="*/ 323582 w 381954"/>
              <a:gd name="T15" fmla="*/ 53326 h 368009"/>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55936 w 381954"/>
              <a:gd name="T25" fmla="*/ 53894 h 368009"/>
              <a:gd name="T26" fmla="*/ 326018 w 381954"/>
              <a:gd name="T27" fmla="*/ 314115 h 3680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1954" h="368009">
                <a:moveTo>
                  <a:pt x="0" y="184005"/>
                </a:moveTo>
                <a:lnTo>
                  <a:pt x="0" y="184004"/>
                </a:lnTo>
                <a:cubicBezTo>
                  <a:pt x="0" y="285628"/>
                  <a:pt x="85503" y="368010"/>
                  <a:pt x="190977" y="368010"/>
                </a:cubicBezTo>
                <a:cubicBezTo>
                  <a:pt x="296450" y="368010"/>
                  <a:pt x="381954" y="285628"/>
                  <a:pt x="381954" y="184005"/>
                </a:cubicBezTo>
                <a:cubicBezTo>
                  <a:pt x="381954" y="82381"/>
                  <a:pt x="296450" y="0"/>
                  <a:pt x="190977" y="0"/>
                </a:cubicBezTo>
                <a:cubicBezTo>
                  <a:pt x="85503" y="-1"/>
                  <a:pt x="0" y="82381"/>
                  <a:pt x="0" y="184004"/>
                </a:cubicBezTo>
                <a:lnTo>
                  <a:pt x="0" y="184005"/>
                </a:lnTo>
                <a:close/>
              </a:path>
            </a:pathLst>
          </a:custGeom>
          <a:solidFill>
            <a:srgbClr val="D55E00"/>
          </a:solidFill>
          <a:ln w="19046" cap="flat">
            <a:solidFill>
              <a:srgbClr val="AB5122"/>
            </a:solidFill>
            <a:prstDash val="solid"/>
            <a:miter lim="800000"/>
            <a:headEnd/>
            <a:tailEnd/>
          </a:ln>
        </p:spPr>
        <p:txBody>
          <a:bodyPr anchor="ctr" anchorCtr="1"/>
          <a:lstStyle/>
          <a:p>
            <a:endParaRPr lang="en-GB"/>
          </a:p>
        </p:txBody>
      </p:sp>
      <p:sp>
        <p:nvSpPr>
          <p:cNvPr id="13" name="TextBox 40">
            <a:extLst>
              <a:ext uri="{FF2B5EF4-FFF2-40B4-BE49-F238E27FC236}">
                <a16:creationId xmlns:a16="http://schemas.microsoft.com/office/drawing/2014/main" id="{68EB12D5-A81F-BE25-813B-113FED7C9FAD}"/>
              </a:ext>
            </a:extLst>
          </p:cNvPr>
          <p:cNvSpPr txBox="1">
            <a:spLocks noChangeArrowheads="1"/>
          </p:cNvSpPr>
          <p:nvPr/>
        </p:nvSpPr>
        <p:spPr bwMode="auto">
          <a:xfrm>
            <a:off x="4276725" y="4400550"/>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New patient</a:t>
            </a:r>
          </a:p>
        </p:txBody>
      </p:sp>
      <p:sp>
        <p:nvSpPr>
          <p:cNvPr id="22542" name="TextBox 41">
            <a:extLst>
              <a:ext uri="{FF2B5EF4-FFF2-40B4-BE49-F238E27FC236}">
                <a16:creationId xmlns:a16="http://schemas.microsoft.com/office/drawing/2014/main" id="{46740748-2542-10A6-AA3D-5B83D31FCC00}"/>
              </a:ext>
            </a:extLst>
          </p:cNvPr>
          <p:cNvSpPr txBox="1">
            <a:spLocks noChangeArrowheads="1"/>
          </p:cNvSpPr>
          <p:nvPr/>
        </p:nvSpPr>
        <p:spPr bwMode="auto">
          <a:xfrm>
            <a:off x="2109788" y="3222625"/>
            <a:ext cx="2444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Patients who were sent home (mild)</a:t>
            </a:r>
          </a:p>
        </p:txBody>
      </p:sp>
      <p:sp>
        <p:nvSpPr>
          <p:cNvPr id="22543" name="TextBox 42">
            <a:extLst>
              <a:ext uri="{FF2B5EF4-FFF2-40B4-BE49-F238E27FC236}">
                <a16:creationId xmlns:a16="http://schemas.microsoft.com/office/drawing/2014/main" id="{BB3C1EA6-7007-BB53-A686-59B6626038E0}"/>
              </a:ext>
            </a:extLst>
          </p:cNvPr>
          <p:cNvSpPr txBox="1">
            <a:spLocks noChangeArrowheads="1"/>
          </p:cNvSpPr>
          <p:nvPr/>
        </p:nvSpPr>
        <p:spPr bwMode="auto">
          <a:xfrm>
            <a:off x="7302500" y="3503613"/>
            <a:ext cx="25542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000">
                <a:latin typeface="Calibri" panose="020F0502020204030204" pitchFamily="34" charset="0"/>
                <a:cs typeface="Calibri" panose="020F0502020204030204" pitchFamily="34" charset="0"/>
              </a:rPr>
              <a:t>Patients in the PICU (severe)</a:t>
            </a:r>
          </a:p>
        </p:txBody>
      </p:sp>
      <p:sp>
        <p:nvSpPr>
          <p:cNvPr id="16" name="TextBox 51">
            <a:extLst>
              <a:ext uri="{FF2B5EF4-FFF2-40B4-BE49-F238E27FC236}">
                <a16:creationId xmlns:a16="http://schemas.microsoft.com/office/drawing/2014/main" id="{1145AB16-5C45-9743-DA43-29720BD9FF99}"/>
              </a:ext>
            </a:extLst>
          </p:cNvPr>
          <p:cNvSpPr txBox="1">
            <a:spLocks noChangeArrowheads="1"/>
          </p:cNvSpPr>
          <p:nvPr/>
        </p:nvSpPr>
        <p:spPr bwMode="auto">
          <a:xfrm>
            <a:off x="6096000" y="3875088"/>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400" b="1">
                <a:latin typeface="Calibri" panose="020F0502020204030204" pitchFamily="34" charset="0"/>
                <a:cs typeface="Calibri" panose="020F0502020204030204" pitchFamily="34" charset="0"/>
              </a:rPr>
              <a:t>?</a:t>
            </a:r>
          </a:p>
        </p:txBody>
      </p:sp>
      <p:sp>
        <p:nvSpPr>
          <p:cNvPr id="22545" name="TextBox 52">
            <a:extLst>
              <a:ext uri="{FF2B5EF4-FFF2-40B4-BE49-F238E27FC236}">
                <a16:creationId xmlns:a16="http://schemas.microsoft.com/office/drawing/2014/main" id="{9B0163E3-49A1-011C-CA4A-B63C635232D3}"/>
              </a:ext>
            </a:extLst>
          </p:cNvPr>
          <p:cNvSpPr txBox="1">
            <a:spLocks noChangeArrowheads="1"/>
          </p:cNvSpPr>
          <p:nvPr/>
        </p:nvSpPr>
        <p:spPr bwMode="auto">
          <a:xfrm>
            <a:off x="2922588" y="722313"/>
            <a:ext cx="89344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3000" b="1">
                <a:latin typeface="Calibri" panose="020F0502020204030204" pitchFamily="34" charset="0"/>
                <a:cs typeface="Calibri" panose="020F0502020204030204" pitchFamily="34" charset="0"/>
              </a:rPr>
              <a:t>Proof of concept in the PERFORM study</a:t>
            </a:r>
          </a:p>
        </p:txBody>
      </p:sp>
      <p:sp>
        <p:nvSpPr>
          <p:cNvPr id="22546" name="TextBox 2">
            <a:extLst>
              <a:ext uri="{FF2B5EF4-FFF2-40B4-BE49-F238E27FC236}">
                <a16:creationId xmlns:a16="http://schemas.microsoft.com/office/drawing/2014/main" id="{B5C92798-1C54-2ACC-9019-CB0B90E9593F}"/>
              </a:ext>
            </a:extLst>
          </p:cNvPr>
          <p:cNvSpPr txBox="1">
            <a:spLocks noChangeArrowheads="1"/>
          </p:cNvSpPr>
          <p:nvPr/>
        </p:nvSpPr>
        <p:spPr bwMode="auto">
          <a:xfrm>
            <a:off x="695325" y="1460500"/>
            <a:ext cx="28987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b="1">
                <a:solidFill>
                  <a:srgbClr val="FF0000"/>
                </a:solidFill>
                <a:latin typeface="Calibri" panose="020F0502020204030204" pitchFamily="34" charset="0"/>
                <a:cs typeface="Calibri" panose="020F0502020204030204" pitchFamily="34" charset="0"/>
              </a:rPr>
              <a:t>Reference groups: </a:t>
            </a:r>
            <a:r>
              <a:rPr lang="en-GB" altLang="en-US" sz="1800">
                <a:latin typeface="Calibri" panose="020F0502020204030204" pitchFamily="34" charset="0"/>
                <a:cs typeface="Calibri" panose="020F0502020204030204" pitchFamily="34" charset="0"/>
              </a:rPr>
              <a:t>mild and severe groups recruited in the ED and PICU respectively</a:t>
            </a:r>
          </a:p>
        </p:txBody>
      </p:sp>
      <p:sp>
        <p:nvSpPr>
          <p:cNvPr id="19" name="TextBox 4">
            <a:extLst>
              <a:ext uri="{FF2B5EF4-FFF2-40B4-BE49-F238E27FC236}">
                <a16:creationId xmlns:a16="http://schemas.microsoft.com/office/drawing/2014/main" id="{4CE9F401-68F9-AE11-C50F-C31F9DDD8FC1}"/>
              </a:ext>
            </a:extLst>
          </p:cNvPr>
          <p:cNvSpPr txBox="1">
            <a:spLocks noChangeArrowheads="1"/>
          </p:cNvSpPr>
          <p:nvPr/>
        </p:nvSpPr>
        <p:spPr bwMode="auto">
          <a:xfrm>
            <a:off x="2147888" y="5211763"/>
            <a:ext cx="8474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800" b="1">
                <a:solidFill>
                  <a:srgbClr val="FF0000"/>
                </a:solidFill>
                <a:latin typeface="Calibri" panose="020F0502020204030204" pitchFamily="34" charset="0"/>
                <a:cs typeface="Calibri" panose="020F0502020204030204" pitchFamily="34" charset="0"/>
              </a:rPr>
              <a:t>Test groups: </a:t>
            </a:r>
            <a:r>
              <a:rPr lang="en-GB" altLang="en-US" sz="1800">
                <a:latin typeface="Calibri" panose="020F0502020204030204" pitchFamily="34" charset="0"/>
                <a:cs typeface="Calibri" panose="020F0502020204030204" pitchFamily="34" charset="0"/>
              </a:rPr>
              <a:t>moderate group recruited in the ED (7 of which later went to the PICU), 7 severe subjects recruited in the ED, 20 mild patients held back from the previous analysis</a:t>
            </a:r>
          </a:p>
        </p:txBody>
      </p:sp>
      <p:cxnSp>
        <p:nvCxnSpPr>
          <p:cNvPr id="20" name="Straight Arrow Connector 3">
            <a:extLst>
              <a:ext uri="{FF2B5EF4-FFF2-40B4-BE49-F238E27FC236}">
                <a16:creationId xmlns:a16="http://schemas.microsoft.com/office/drawing/2014/main" id="{501B0F1C-C9F8-4C57-09EF-672F5BDE9E88}"/>
              </a:ext>
            </a:extLst>
          </p:cNvPr>
          <p:cNvCxnSpPr>
            <a:cxnSpLocks noChangeShapeType="1"/>
          </p:cNvCxnSpPr>
          <p:nvPr/>
        </p:nvCxnSpPr>
        <p:spPr bwMode="auto">
          <a:xfrm flipH="1" flipV="1">
            <a:off x="5815013" y="3875088"/>
            <a:ext cx="280987" cy="180975"/>
          </a:xfrm>
          <a:prstGeom prst="straightConnector1">
            <a:avLst/>
          </a:prstGeom>
          <a:noFill/>
          <a:ln w="28575">
            <a:solidFill>
              <a:srgbClr val="000000"/>
            </a:solidFill>
            <a:miter lim="800000"/>
            <a:headEnd/>
            <a:tailEnd type="arrow" w="med" len="med"/>
          </a:ln>
          <a:extLst>
            <a:ext uri="{909E8E84-426E-40DD-AFC4-6F175D3DCCD1}">
              <a14:hiddenFill xmlns:a14="http://schemas.microsoft.com/office/drawing/2010/main">
                <a:noFill/>
              </a14:hiddenFill>
            </a:ext>
          </a:extLst>
        </p:spPr>
      </p:cxnSp>
      <p:cxnSp>
        <p:nvCxnSpPr>
          <p:cNvPr id="21" name="Straight Arrow Connector 17">
            <a:extLst>
              <a:ext uri="{FF2B5EF4-FFF2-40B4-BE49-F238E27FC236}">
                <a16:creationId xmlns:a16="http://schemas.microsoft.com/office/drawing/2014/main" id="{43D847B2-0B71-EFD4-7EF9-25537639ED07}"/>
              </a:ext>
            </a:extLst>
          </p:cNvPr>
          <p:cNvCxnSpPr>
            <a:cxnSpLocks noChangeShapeType="1"/>
          </p:cNvCxnSpPr>
          <p:nvPr/>
        </p:nvCxnSpPr>
        <p:spPr bwMode="auto">
          <a:xfrm flipV="1">
            <a:off x="6451600" y="3846513"/>
            <a:ext cx="273050" cy="209550"/>
          </a:xfrm>
          <a:prstGeom prst="straightConnector1">
            <a:avLst/>
          </a:prstGeom>
          <a:noFill/>
          <a:ln w="28575">
            <a:solidFill>
              <a:srgbClr val="000000"/>
            </a:solidFill>
            <a:miter lim="800000"/>
            <a:headEnd/>
            <a:tailEnd type="arrow" w="med" len="med"/>
          </a:ln>
          <a:extLst>
            <a:ext uri="{909E8E84-426E-40DD-AFC4-6F175D3DCCD1}">
              <a14:hiddenFill xmlns:a14="http://schemas.microsoft.com/office/drawing/2010/main">
                <a:noFill/>
              </a14:hiddenFill>
            </a:ext>
          </a:extLst>
        </p:spPr>
      </p:cxnSp>
      <p:sp>
        <p:nvSpPr>
          <p:cNvPr id="22550" name="Slide Number Placeholder 1">
            <a:extLst>
              <a:ext uri="{FF2B5EF4-FFF2-40B4-BE49-F238E27FC236}">
                <a16:creationId xmlns:a16="http://schemas.microsoft.com/office/drawing/2014/main" id="{345DFD9C-602E-FD59-17F5-518D6433F3A6}"/>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053A88F4-7C1B-4081-ADDE-643A5948613F}" type="slidenum">
              <a:rPr lang="en-US" altLang="en-US" sz="1200">
                <a:solidFill>
                  <a:srgbClr val="767676"/>
                </a:solidFill>
              </a:rPr>
              <a:pPr algn="r" eaLnBrk="1" hangingPunct="1">
                <a:lnSpc>
                  <a:spcPct val="100000"/>
                </a:lnSpc>
                <a:spcBef>
                  <a:spcPct val="0"/>
                </a:spcBef>
                <a:buSzTx/>
                <a:buFontTx/>
                <a:buNone/>
              </a:pPr>
              <a:t>13</a:t>
            </a:fld>
            <a:endParaRPr lang="en-US" altLang="en-US" sz="1200">
              <a:solidFill>
                <a:srgbClr val="767676"/>
              </a:solidFill>
            </a:endParaRPr>
          </a:p>
        </p:txBody>
      </p:sp>
      <p:sp>
        <p:nvSpPr>
          <p:cNvPr id="22551" name="Slide Number Placeholder 22">
            <a:extLst>
              <a:ext uri="{FF2B5EF4-FFF2-40B4-BE49-F238E27FC236}">
                <a16:creationId xmlns:a16="http://schemas.microsoft.com/office/drawing/2014/main" id="{1CFA7177-C866-44D2-FBEE-297B5678E5DF}"/>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D22A033D-B05A-4184-A9AD-3042E38A13D9}" type="slidenum">
              <a:rPr lang="en-US" altLang="en-US" sz="1200">
                <a:solidFill>
                  <a:srgbClr val="767676"/>
                </a:solidFill>
              </a:rPr>
              <a:pPr algn="r" eaLnBrk="1" hangingPunct="1">
                <a:lnSpc>
                  <a:spcPct val="100000"/>
                </a:lnSpc>
                <a:spcBef>
                  <a:spcPct val="0"/>
                </a:spcBef>
                <a:buSzTx/>
                <a:buFontTx/>
                <a:buNone/>
              </a:pPr>
              <a:t>13</a:t>
            </a:fld>
            <a:endParaRPr lang="en-US" altLang="en-US" sz="1200">
              <a:solidFill>
                <a:srgbClr val="767676"/>
              </a:solidFill>
            </a:endParaRPr>
          </a:p>
        </p:txBody>
      </p:sp>
      <p:sp>
        <p:nvSpPr>
          <p:cNvPr id="22552" name="Title 1">
            <a:extLst>
              <a:ext uri="{FF2B5EF4-FFF2-40B4-BE49-F238E27FC236}">
                <a16:creationId xmlns:a16="http://schemas.microsoft.com/office/drawing/2014/main" id="{CCFD9453-08C3-786A-2ED1-D666DEAE108E}"/>
              </a:ext>
            </a:extLst>
          </p:cNvPr>
          <p:cNvSpPr txBox="1">
            <a:spLocks noGrp="1" noChangeArrowheads="1"/>
          </p:cNvSpPr>
          <p:nvPr>
            <p:ph type="title"/>
          </p:nvPr>
        </p:nvSpPr>
        <p:spPr>
          <a:xfrm>
            <a:off x="506413" y="61913"/>
            <a:ext cx="10515600" cy="1325562"/>
          </a:xfrm>
        </p:spPr>
        <p:txBody>
          <a:bodyPr/>
          <a:lstStyle/>
          <a:p>
            <a:pPr eaLnBrk="1" hangingPunct="1"/>
            <a:r>
              <a:rPr lang="en-GB" altLang="en-US" sz="3000">
                <a:latin typeface="Calibri" panose="020F0502020204030204" pitchFamily="34" charset="0"/>
                <a:cs typeface="Calibri" panose="020F0502020204030204" pitchFamily="34" charset="0"/>
              </a:rPr>
              <a:t>Results</a:t>
            </a:r>
            <a:endParaRPr altLang="en-US">
              <a:latin typeface="Aptos Display" panose="020B00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510">
    <p:spTree>
      <p:nvGrpSpPr>
        <p:cNvPr id="1" name=""/>
        <p:cNvGrpSpPr/>
        <p:nvPr/>
      </p:nvGrpSpPr>
      <p:grpSpPr>
        <a:xfrm>
          <a:off x="0" y="0"/>
          <a:ext cx="0" cy="0"/>
          <a:chOff x="0" y="0"/>
          <a:chExt cx="0" cy="0"/>
        </a:xfrm>
      </p:grpSpPr>
      <p:pic>
        <p:nvPicPr>
          <p:cNvPr id="24578" name="Picture 4" descr="A graph with red and blue circles&#10;&#10;Description automatically generated">
            <a:extLst>
              <a:ext uri="{FF2B5EF4-FFF2-40B4-BE49-F238E27FC236}">
                <a16:creationId xmlns:a16="http://schemas.microsoft.com/office/drawing/2014/main" id="{8E30E9AF-700C-B54D-3431-2A3B3189B7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090" t="6577" b="4443"/>
          <a:stretch>
            <a:fillRect/>
          </a:stretch>
        </p:blipFill>
        <p:spPr bwMode="auto">
          <a:xfrm>
            <a:off x="6096000" y="2257425"/>
            <a:ext cx="4567238" cy="408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2" descr="A graph with red and blue circles&#10;&#10;Description automatically generated">
            <a:extLst>
              <a:ext uri="{FF2B5EF4-FFF2-40B4-BE49-F238E27FC236}">
                <a16:creationId xmlns:a16="http://schemas.microsoft.com/office/drawing/2014/main" id="{FC55657E-77A4-9C9E-6BFB-0B935F324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7462" r="84894" b="38728"/>
          <a:stretch>
            <a:fillRect/>
          </a:stretch>
        </p:blipFill>
        <p:spPr bwMode="auto">
          <a:xfrm>
            <a:off x="10134600" y="2613025"/>
            <a:ext cx="1243013"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6">
            <a:extLst>
              <a:ext uri="{FF2B5EF4-FFF2-40B4-BE49-F238E27FC236}">
                <a16:creationId xmlns:a16="http://schemas.microsoft.com/office/drawing/2014/main" id="{E3CE0B84-04CC-5E7C-70B4-7B1BE8782D46}"/>
              </a:ext>
            </a:extLst>
          </p:cNvPr>
          <p:cNvSpPr>
            <a:spLocks noChangeArrowheads="1"/>
          </p:cNvSpPr>
          <p:nvPr/>
        </p:nvSpPr>
        <p:spPr bwMode="auto">
          <a:xfrm>
            <a:off x="8166100" y="2487613"/>
            <a:ext cx="265113" cy="265112"/>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pic>
        <p:nvPicPr>
          <p:cNvPr id="24581" name="Picture 14" descr="A graph with red and blue dots&#10;&#10;Description automatically generated">
            <a:extLst>
              <a:ext uri="{FF2B5EF4-FFF2-40B4-BE49-F238E27FC236}">
                <a16:creationId xmlns:a16="http://schemas.microsoft.com/office/drawing/2014/main" id="{96B24ABA-000B-CA14-4719-6AB94AD1C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5278"/>
          <a:stretch>
            <a:fillRect/>
          </a:stretch>
        </p:blipFill>
        <p:spPr bwMode="auto">
          <a:xfrm>
            <a:off x="641350" y="2174875"/>
            <a:ext cx="47625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Box 17">
            <a:extLst>
              <a:ext uri="{FF2B5EF4-FFF2-40B4-BE49-F238E27FC236}">
                <a16:creationId xmlns:a16="http://schemas.microsoft.com/office/drawing/2014/main" id="{3708F167-3507-D667-02C2-29A80C2DC0A8}"/>
              </a:ext>
            </a:extLst>
          </p:cNvPr>
          <p:cNvSpPr txBox="1">
            <a:spLocks noChangeArrowheads="1"/>
          </p:cNvSpPr>
          <p:nvPr/>
        </p:nvSpPr>
        <p:spPr bwMode="auto">
          <a:xfrm>
            <a:off x="10255250" y="3406775"/>
            <a:ext cx="1373188" cy="323850"/>
          </a:xfrm>
          <a:prstGeom prst="rect">
            <a:avLst/>
          </a:prstGeom>
          <a:solidFill>
            <a:srgbClr val="FFFFFF"/>
          </a:solidFill>
          <a:ln w="9528">
            <a:solidFill>
              <a:srgbClr val="FFFFFF"/>
            </a:solidFill>
            <a:miter lim="800000"/>
            <a:headEnd/>
            <a:tailEnd/>
          </a:ln>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500"/>
              <a:t>Severity group</a:t>
            </a:r>
          </a:p>
        </p:txBody>
      </p:sp>
      <p:sp>
        <p:nvSpPr>
          <p:cNvPr id="24583" name="TextBox 18">
            <a:extLst>
              <a:ext uri="{FF2B5EF4-FFF2-40B4-BE49-F238E27FC236}">
                <a16:creationId xmlns:a16="http://schemas.microsoft.com/office/drawing/2014/main" id="{DDCB4D27-C0FF-7058-3638-C6417B874A84}"/>
              </a:ext>
            </a:extLst>
          </p:cNvPr>
          <p:cNvSpPr txBox="1">
            <a:spLocks noChangeArrowheads="1"/>
          </p:cNvSpPr>
          <p:nvPr/>
        </p:nvSpPr>
        <p:spPr bwMode="auto">
          <a:xfrm>
            <a:off x="10274300" y="2374900"/>
            <a:ext cx="1590675" cy="323850"/>
          </a:xfrm>
          <a:prstGeom prst="rect">
            <a:avLst/>
          </a:prstGeom>
          <a:solidFill>
            <a:srgbClr val="FFFFFF"/>
          </a:solidFill>
          <a:ln w="9528">
            <a:solidFill>
              <a:srgbClr val="FFFFFF"/>
            </a:solidFill>
            <a:miter lim="800000"/>
            <a:headEnd/>
            <a:tailEnd/>
          </a:ln>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500"/>
              <a:t>Diagnostic group</a:t>
            </a:r>
          </a:p>
        </p:txBody>
      </p:sp>
      <p:sp>
        <p:nvSpPr>
          <p:cNvPr id="24584" name="TextBox 8">
            <a:extLst>
              <a:ext uri="{FF2B5EF4-FFF2-40B4-BE49-F238E27FC236}">
                <a16:creationId xmlns:a16="http://schemas.microsoft.com/office/drawing/2014/main" id="{E4DC380D-781C-D282-B519-A2E82DA36FDB}"/>
              </a:ext>
            </a:extLst>
          </p:cNvPr>
          <p:cNvSpPr txBox="1">
            <a:spLocks noChangeArrowheads="1"/>
          </p:cNvSpPr>
          <p:nvPr/>
        </p:nvSpPr>
        <p:spPr bwMode="auto">
          <a:xfrm>
            <a:off x="641350" y="1276350"/>
            <a:ext cx="104727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200">
                <a:latin typeface="Calibri" panose="020F0502020204030204" pitchFamily="34" charset="0"/>
                <a:cs typeface="Calibri" panose="020F0502020204030204" pitchFamily="34" charset="0"/>
              </a:rPr>
              <a:t>Assumption 1: current transcriptomic state are representative of current disease states</a:t>
            </a:r>
            <a:r>
              <a:rPr lang="en-US" altLang="en-US" sz="2200">
                <a:latin typeface="Calibri" panose="020F0502020204030204" pitchFamily="34" charset="0"/>
                <a:cs typeface="Calibri" panose="020F0502020204030204" pitchFamily="34" charset="0"/>
              </a:rPr>
              <a:t>​</a:t>
            </a:r>
          </a:p>
        </p:txBody>
      </p:sp>
      <p:sp>
        <p:nvSpPr>
          <p:cNvPr id="24585" name="Rectangle 3">
            <a:extLst>
              <a:ext uri="{FF2B5EF4-FFF2-40B4-BE49-F238E27FC236}">
                <a16:creationId xmlns:a16="http://schemas.microsoft.com/office/drawing/2014/main" id="{AA5CE95A-68C0-8F38-A6F0-9EC468F0BF19}"/>
              </a:ext>
            </a:extLst>
          </p:cNvPr>
          <p:cNvSpPr>
            <a:spLocks noChangeArrowheads="1"/>
          </p:cNvSpPr>
          <p:nvPr/>
        </p:nvSpPr>
        <p:spPr bwMode="auto">
          <a:xfrm>
            <a:off x="11377613" y="2698750"/>
            <a:ext cx="487362" cy="1546225"/>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4586" name="Slide Number Placeholder 5">
            <a:extLst>
              <a:ext uri="{FF2B5EF4-FFF2-40B4-BE49-F238E27FC236}">
                <a16:creationId xmlns:a16="http://schemas.microsoft.com/office/drawing/2014/main" id="{87F0D2C3-8ED2-2D0C-1A81-BD71EE50EADB}"/>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9CDF8938-0F19-4787-90C0-D57E24E47A4C}" type="slidenum">
              <a:rPr lang="en-US" altLang="en-US" sz="1200">
                <a:solidFill>
                  <a:srgbClr val="767676"/>
                </a:solidFill>
              </a:rPr>
              <a:pPr algn="r" eaLnBrk="1" hangingPunct="1">
                <a:lnSpc>
                  <a:spcPct val="100000"/>
                </a:lnSpc>
                <a:spcBef>
                  <a:spcPct val="0"/>
                </a:spcBef>
                <a:buSzTx/>
                <a:buFontTx/>
                <a:buNone/>
              </a:pPr>
              <a:t>14</a:t>
            </a:fld>
            <a:endParaRPr lang="en-US" altLang="en-US" sz="1200">
              <a:solidFill>
                <a:srgbClr val="767676"/>
              </a:solidFill>
            </a:endParaRPr>
          </a:p>
        </p:txBody>
      </p:sp>
      <p:sp>
        <p:nvSpPr>
          <p:cNvPr id="24587" name="Slide Number Placeholder 11">
            <a:extLst>
              <a:ext uri="{FF2B5EF4-FFF2-40B4-BE49-F238E27FC236}">
                <a16:creationId xmlns:a16="http://schemas.microsoft.com/office/drawing/2014/main" id="{CD113590-144C-8EA0-95BF-46F2EC5D6551}"/>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348B50CE-A1FC-4AF1-B56B-2AE0ECB803FE}" type="slidenum">
              <a:rPr lang="en-US" altLang="en-US" sz="1200">
                <a:solidFill>
                  <a:srgbClr val="767676"/>
                </a:solidFill>
              </a:rPr>
              <a:pPr algn="r" eaLnBrk="1" hangingPunct="1">
                <a:lnSpc>
                  <a:spcPct val="100000"/>
                </a:lnSpc>
                <a:spcBef>
                  <a:spcPct val="0"/>
                </a:spcBef>
                <a:buSzTx/>
                <a:buFontTx/>
                <a:buNone/>
              </a:pPr>
              <a:t>14</a:t>
            </a:fld>
            <a:endParaRPr lang="en-US" altLang="en-US" sz="1200">
              <a:solidFill>
                <a:srgbClr val="767676"/>
              </a:solidFill>
            </a:endParaRPr>
          </a:p>
        </p:txBody>
      </p:sp>
      <p:sp>
        <p:nvSpPr>
          <p:cNvPr id="24588" name="Title 1">
            <a:extLst>
              <a:ext uri="{FF2B5EF4-FFF2-40B4-BE49-F238E27FC236}">
                <a16:creationId xmlns:a16="http://schemas.microsoft.com/office/drawing/2014/main" id="{FB88807B-06CA-91BB-8E4E-0ED606729870}"/>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Results</a:t>
            </a:r>
            <a:endParaRPr lang="en-GB" altLang="en-US" sz="4400">
              <a:latin typeface="Aptos Display" panose="020B0004020202020204" pitchFamily="34"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name="Slide502">
    <p:spTree>
      <p:nvGrpSpPr>
        <p:cNvPr id="1" name=""/>
        <p:cNvGrpSpPr/>
        <p:nvPr/>
      </p:nvGrpSpPr>
      <p:grpSpPr>
        <a:xfrm>
          <a:off x="0" y="0"/>
          <a:ext cx="0" cy="0"/>
          <a:chOff x="0" y="0"/>
          <a:chExt cx="0" cy="0"/>
        </a:xfrm>
      </p:grpSpPr>
      <p:pic>
        <p:nvPicPr>
          <p:cNvPr id="25602" name="Picture 6" descr="A group of small blue and green objects&#10;&#10;Description automatically generated">
            <a:extLst>
              <a:ext uri="{FF2B5EF4-FFF2-40B4-BE49-F238E27FC236}">
                <a16:creationId xmlns:a16="http://schemas.microsoft.com/office/drawing/2014/main" id="{0C21FC67-1E64-8D1D-D230-16B3547B5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107" t="14047" r="11163" b="11429"/>
          <a:stretch>
            <a:fillRect/>
          </a:stretch>
        </p:blipFill>
        <p:spPr bwMode="auto">
          <a:xfrm>
            <a:off x="3862388" y="1365250"/>
            <a:ext cx="74041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val 7">
            <a:extLst>
              <a:ext uri="{FF2B5EF4-FFF2-40B4-BE49-F238E27FC236}">
                <a16:creationId xmlns:a16="http://schemas.microsoft.com/office/drawing/2014/main" id="{05753EF2-1370-8878-720C-3E2DA238D58A}"/>
              </a:ext>
            </a:extLst>
          </p:cNvPr>
          <p:cNvSpPr>
            <a:spLocks/>
          </p:cNvSpPr>
          <p:nvPr/>
        </p:nvSpPr>
        <p:spPr bwMode="auto">
          <a:xfrm rot="-609737">
            <a:off x="4711700" y="3354388"/>
            <a:ext cx="2112963" cy="1168400"/>
          </a:xfrm>
          <a:custGeom>
            <a:avLst/>
            <a:gdLst>
              <a:gd name="T0" fmla="*/ 1056990 w 2112456"/>
              <a:gd name="T1" fmla="*/ 0 h 1168246"/>
              <a:gd name="T2" fmla="*/ 2113977 w 2112456"/>
              <a:gd name="T3" fmla="*/ 584354 h 1168246"/>
              <a:gd name="T4" fmla="*/ 1056990 w 2112456"/>
              <a:gd name="T5" fmla="*/ 1168708 h 1168246"/>
              <a:gd name="T6" fmla="*/ 0 w 2112456"/>
              <a:gd name="T7" fmla="*/ 584354 h 1168246"/>
              <a:gd name="T8" fmla="*/ 309584 w 2112456"/>
              <a:gd name="T9" fmla="*/ 171155 h 1168246"/>
              <a:gd name="T10" fmla="*/ 309584 w 2112456"/>
              <a:gd name="T11" fmla="*/ 997553 h 1168246"/>
              <a:gd name="T12" fmla="*/ 1804393 w 2112456"/>
              <a:gd name="T13" fmla="*/ 997553 h 1168246"/>
              <a:gd name="T14" fmla="*/ 1804393 w 2112456"/>
              <a:gd name="T15" fmla="*/ 171155 h 1168246"/>
              <a:gd name="T16" fmla="*/ 17694720 60000 65536"/>
              <a:gd name="T17" fmla="*/ 0 60000 65536"/>
              <a:gd name="T18" fmla="*/ 5898240 60000 65536"/>
              <a:gd name="T19" fmla="*/ 11796480 60000 65536"/>
              <a:gd name="T20" fmla="*/ 17694720 60000 65536"/>
              <a:gd name="T21" fmla="*/ 5898240 60000 65536"/>
              <a:gd name="T22" fmla="*/ 5898240 60000 65536"/>
              <a:gd name="T23" fmla="*/ 17694720 60000 65536"/>
              <a:gd name="T24" fmla="*/ 309362 w 2112456"/>
              <a:gd name="T25" fmla="*/ 171086 h 1168246"/>
              <a:gd name="T26" fmla="*/ 1803094 w 2112456"/>
              <a:gd name="T27" fmla="*/ 997160 h 11682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12456" h="1168246">
                <a:moveTo>
                  <a:pt x="0" y="584123"/>
                </a:moveTo>
                <a:lnTo>
                  <a:pt x="0" y="584122"/>
                </a:lnTo>
                <a:cubicBezTo>
                  <a:pt x="0" y="906725"/>
                  <a:pt x="472889" y="1168246"/>
                  <a:pt x="1056228" y="1168246"/>
                </a:cubicBezTo>
                <a:cubicBezTo>
                  <a:pt x="1639566" y="1168246"/>
                  <a:pt x="2112456" y="906725"/>
                  <a:pt x="2112456" y="584123"/>
                </a:cubicBezTo>
                <a:cubicBezTo>
                  <a:pt x="2112456" y="261520"/>
                  <a:pt x="1639566" y="0"/>
                  <a:pt x="1056228" y="0"/>
                </a:cubicBezTo>
                <a:cubicBezTo>
                  <a:pt x="472889" y="-1"/>
                  <a:pt x="0" y="261520"/>
                  <a:pt x="0" y="584122"/>
                </a:cubicBezTo>
                <a:lnTo>
                  <a:pt x="0" y="584123"/>
                </a:lnTo>
                <a:close/>
              </a:path>
            </a:pathLst>
          </a:custGeom>
          <a:noFill/>
          <a:ln w="38103"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nchorCtr="1"/>
          <a:lstStyle/>
          <a:p>
            <a:endParaRPr lang="en-GB"/>
          </a:p>
        </p:txBody>
      </p:sp>
      <p:sp>
        <p:nvSpPr>
          <p:cNvPr id="4" name="TextBox 8">
            <a:extLst>
              <a:ext uri="{FF2B5EF4-FFF2-40B4-BE49-F238E27FC236}">
                <a16:creationId xmlns:a16="http://schemas.microsoft.com/office/drawing/2014/main" id="{91F5D152-56C9-C467-461A-3E14477F3ACE}"/>
              </a:ext>
            </a:extLst>
          </p:cNvPr>
          <p:cNvSpPr txBox="1">
            <a:spLocks noChangeArrowheads="1"/>
          </p:cNvSpPr>
          <p:nvPr/>
        </p:nvSpPr>
        <p:spPr bwMode="auto">
          <a:xfrm>
            <a:off x="4951413" y="4667250"/>
            <a:ext cx="1730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solidFill>
                  <a:srgbClr val="C01500"/>
                </a:solidFill>
              </a:rPr>
              <a:t>Healthy </a:t>
            </a:r>
          </a:p>
        </p:txBody>
      </p:sp>
      <p:cxnSp>
        <p:nvCxnSpPr>
          <p:cNvPr id="5" name="Straight Arrow Connector 10">
            <a:extLst>
              <a:ext uri="{FF2B5EF4-FFF2-40B4-BE49-F238E27FC236}">
                <a16:creationId xmlns:a16="http://schemas.microsoft.com/office/drawing/2014/main" id="{F2DCE131-9928-55D4-ED17-0A333CD7ED01}"/>
              </a:ext>
            </a:extLst>
          </p:cNvPr>
          <p:cNvCxnSpPr>
            <a:cxnSpLocks noChangeShapeType="1"/>
          </p:cNvCxnSpPr>
          <p:nvPr/>
        </p:nvCxnSpPr>
        <p:spPr bwMode="auto">
          <a:xfrm>
            <a:off x="8686800" y="4699000"/>
            <a:ext cx="1306513" cy="1028700"/>
          </a:xfrm>
          <a:prstGeom prst="straightConnector1">
            <a:avLst/>
          </a:prstGeom>
          <a:noFill/>
          <a:ln w="76196">
            <a:solidFill>
              <a:srgbClr val="275317"/>
            </a:solidFill>
            <a:miter lim="800000"/>
            <a:headEnd/>
            <a:tailEnd type="arrow" w="med" len="med"/>
          </a:ln>
          <a:extLst>
            <a:ext uri="{909E8E84-426E-40DD-AFC4-6F175D3DCCD1}">
              <a14:hiddenFill xmlns:a14="http://schemas.microsoft.com/office/drawing/2010/main">
                <a:noFill/>
              </a14:hiddenFill>
            </a:ext>
          </a:extLst>
        </p:spPr>
      </p:cxnSp>
      <p:cxnSp>
        <p:nvCxnSpPr>
          <p:cNvPr id="6" name="Straight Arrow Connector 12">
            <a:extLst>
              <a:ext uri="{FF2B5EF4-FFF2-40B4-BE49-F238E27FC236}">
                <a16:creationId xmlns:a16="http://schemas.microsoft.com/office/drawing/2014/main" id="{8DCC5BF1-19E6-C3E2-17F9-0AFB8F69893A}"/>
              </a:ext>
            </a:extLst>
          </p:cNvPr>
          <p:cNvCxnSpPr>
            <a:cxnSpLocks noChangeShapeType="1"/>
          </p:cNvCxnSpPr>
          <p:nvPr/>
        </p:nvCxnSpPr>
        <p:spPr bwMode="auto">
          <a:xfrm flipH="1">
            <a:off x="4968875" y="2578100"/>
            <a:ext cx="2152650" cy="96838"/>
          </a:xfrm>
          <a:prstGeom prst="straightConnector1">
            <a:avLst/>
          </a:prstGeom>
          <a:noFill/>
          <a:ln w="76196">
            <a:solidFill>
              <a:srgbClr val="0070C0"/>
            </a:solidFill>
            <a:miter lim="800000"/>
            <a:headEnd/>
            <a:tailEnd type="arrow" w="med" len="med"/>
          </a:ln>
          <a:extLst>
            <a:ext uri="{909E8E84-426E-40DD-AFC4-6F175D3DCCD1}">
              <a14:hiddenFill xmlns:a14="http://schemas.microsoft.com/office/drawing/2010/main">
                <a:noFill/>
              </a14:hiddenFill>
            </a:ext>
          </a:extLst>
        </p:spPr>
      </p:cxnSp>
      <p:sp>
        <p:nvSpPr>
          <p:cNvPr id="7" name="TextBox 16">
            <a:extLst>
              <a:ext uri="{FF2B5EF4-FFF2-40B4-BE49-F238E27FC236}">
                <a16:creationId xmlns:a16="http://schemas.microsoft.com/office/drawing/2014/main" id="{C6792950-E74B-E94A-0098-225D65B2747C}"/>
              </a:ext>
            </a:extLst>
          </p:cNvPr>
          <p:cNvSpPr txBox="1">
            <a:spLocks noChangeArrowheads="1"/>
          </p:cNvSpPr>
          <p:nvPr/>
        </p:nvSpPr>
        <p:spPr bwMode="auto">
          <a:xfrm>
            <a:off x="7654925" y="5081588"/>
            <a:ext cx="1927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solidFill>
                  <a:srgbClr val="275317"/>
                </a:solidFill>
              </a:rPr>
              <a:t>Deterioration</a:t>
            </a:r>
          </a:p>
        </p:txBody>
      </p:sp>
      <p:sp>
        <p:nvSpPr>
          <p:cNvPr id="8" name="TextBox 17">
            <a:extLst>
              <a:ext uri="{FF2B5EF4-FFF2-40B4-BE49-F238E27FC236}">
                <a16:creationId xmlns:a16="http://schemas.microsoft.com/office/drawing/2014/main" id="{17844CE2-6DDE-7EAD-A1BC-68FBAB7FE367}"/>
              </a:ext>
            </a:extLst>
          </p:cNvPr>
          <p:cNvSpPr txBox="1">
            <a:spLocks noChangeArrowheads="1"/>
          </p:cNvSpPr>
          <p:nvPr/>
        </p:nvSpPr>
        <p:spPr bwMode="auto">
          <a:xfrm>
            <a:off x="5132388" y="2143125"/>
            <a:ext cx="1927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800">
                <a:solidFill>
                  <a:srgbClr val="003399"/>
                </a:solidFill>
              </a:rPr>
              <a:t>Recovery</a:t>
            </a:r>
          </a:p>
        </p:txBody>
      </p:sp>
      <p:pic>
        <p:nvPicPr>
          <p:cNvPr id="25609" name="Picture 19" descr="A group of small blue and green objects&#10;&#10;Description automatically generated">
            <a:extLst>
              <a:ext uri="{FF2B5EF4-FFF2-40B4-BE49-F238E27FC236}">
                <a16:creationId xmlns:a16="http://schemas.microsoft.com/office/drawing/2014/main" id="{AEF8025C-034B-8E11-5309-BCA3C7F7C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1615" t="34286" r="1799" b="50000"/>
          <a:stretch>
            <a:fillRect/>
          </a:stretch>
        </p:blipFill>
        <p:spPr bwMode="auto">
          <a:xfrm>
            <a:off x="10320338" y="1362075"/>
            <a:ext cx="769937"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TextBox 5">
            <a:extLst>
              <a:ext uri="{FF2B5EF4-FFF2-40B4-BE49-F238E27FC236}">
                <a16:creationId xmlns:a16="http://schemas.microsoft.com/office/drawing/2014/main" id="{464B6B13-03A7-0002-AC9D-50E24C7D31DF}"/>
              </a:ext>
            </a:extLst>
          </p:cNvPr>
          <p:cNvSpPr txBox="1">
            <a:spLocks noChangeArrowheads="1"/>
          </p:cNvSpPr>
          <p:nvPr/>
        </p:nvSpPr>
        <p:spPr bwMode="auto">
          <a:xfrm>
            <a:off x="687388" y="1282700"/>
            <a:ext cx="40814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2200">
                <a:latin typeface="Calibri" panose="020F0502020204030204" pitchFamily="34" charset="0"/>
                <a:cs typeface="Calibri" panose="020F0502020204030204" pitchFamily="34" charset="0"/>
              </a:rPr>
              <a:t>Assumption 2: </a:t>
            </a:r>
            <a:r>
              <a:rPr lang="en-GB" altLang="en-US" sz="2400">
                <a:latin typeface="Calibri" panose="020F0502020204030204" pitchFamily="34" charset="0"/>
                <a:cs typeface="Calibri" panose="020F0502020204030204" pitchFamily="34" charset="0"/>
              </a:rPr>
              <a:t>transcriptomic trajectories are representative of future disease trajectories</a:t>
            </a:r>
            <a:endParaRPr lang="en-US" altLang="en-US" sz="2200">
              <a:latin typeface="Calibri" panose="020F0502020204030204" pitchFamily="34" charset="0"/>
              <a:cs typeface="Calibri" panose="020F0502020204030204" pitchFamily="34" charset="0"/>
            </a:endParaRPr>
          </a:p>
        </p:txBody>
      </p:sp>
      <p:sp>
        <p:nvSpPr>
          <p:cNvPr id="25611" name="Slide Number Placeholder 2">
            <a:extLst>
              <a:ext uri="{FF2B5EF4-FFF2-40B4-BE49-F238E27FC236}">
                <a16:creationId xmlns:a16="http://schemas.microsoft.com/office/drawing/2014/main" id="{59A48086-AC6F-3A02-DE2E-66D447A7FBD6}"/>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B61EF48B-E330-4DC5-A00D-39BF89A3C3BE}" type="slidenum">
              <a:rPr lang="en-US" altLang="en-US" sz="1200">
                <a:solidFill>
                  <a:srgbClr val="767676"/>
                </a:solidFill>
              </a:rPr>
              <a:pPr algn="r" eaLnBrk="1" hangingPunct="1">
                <a:lnSpc>
                  <a:spcPct val="100000"/>
                </a:lnSpc>
                <a:spcBef>
                  <a:spcPct val="0"/>
                </a:spcBef>
                <a:buSzTx/>
                <a:buFontTx/>
                <a:buNone/>
              </a:pPr>
              <a:t>15</a:t>
            </a:fld>
            <a:endParaRPr lang="en-US" altLang="en-US" sz="1200">
              <a:solidFill>
                <a:srgbClr val="767676"/>
              </a:solidFill>
            </a:endParaRPr>
          </a:p>
        </p:txBody>
      </p:sp>
      <p:sp>
        <p:nvSpPr>
          <p:cNvPr id="25612" name="Slide Number Placeholder 12">
            <a:extLst>
              <a:ext uri="{FF2B5EF4-FFF2-40B4-BE49-F238E27FC236}">
                <a16:creationId xmlns:a16="http://schemas.microsoft.com/office/drawing/2014/main" id="{76FC0A6D-C07E-8B46-360A-C1022EC17061}"/>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13593B5F-8DFD-4D15-B28E-C352C500A572}" type="slidenum">
              <a:rPr lang="en-US" altLang="en-US" sz="1200">
                <a:solidFill>
                  <a:srgbClr val="767676"/>
                </a:solidFill>
              </a:rPr>
              <a:pPr algn="r" eaLnBrk="1" hangingPunct="1">
                <a:lnSpc>
                  <a:spcPct val="100000"/>
                </a:lnSpc>
                <a:spcBef>
                  <a:spcPct val="0"/>
                </a:spcBef>
                <a:buSzTx/>
                <a:buFontTx/>
                <a:buNone/>
              </a:pPr>
              <a:t>15</a:t>
            </a:fld>
            <a:endParaRPr lang="en-US" altLang="en-US" sz="1200">
              <a:solidFill>
                <a:srgbClr val="767676"/>
              </a:solidFill>
            </a:endParaRPr>
          </a:p>
        </p:txBody>
      </p:sp>
      <p:sp>
        <p:nvSpPr>
          <p:cNvPr id="25613" name="Title 1">
            <a:extLst>
              <a:ext uri="{FF2B5EF4-FFF2-40B4-BE49-F238E27FC236}">
                <a16:creationId xmlns:a16="http://schemas.microsoft.com/office/drawing/2014/main" id="{703B82DF-DFF1-07BE-D4AD-0CB40E430582}"/>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Results</a:t>
            </a:r>
            <a:endParaRPr lang="en-GB" altLang="en-US" sz="4400">
              <a:latin typeface="Aptos Display" panose="020B00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511">
    <p:spTree>
      <p:nvGrpSpPr>
        <p:cNvPr id="1" name=""/>
        <p:cNvGrpSpPr/>
        <p:nvPr/>
      </p:nvGrpSpPr>
      <p:grpSpPr>
        <a:xfrm>
          <a:off x="0" y="0"/>
          <a:ext cx="0" cy="0"/>
          <a:chOff x="0" y="0"/>
          <a:chExt cx="0" cy="0"/>
        </a:xfrm>
      </p:grpSpPr>
      <p:pic>
        <p:nvPicPr>
          <p:cNvPr id="26626" name="Picture 7" descr="A graph showing different colored bars&#10;&#10;Description automatically generated with medium confidence">
            <a:extLst>
              <a:ext uri="{FF2B5EF4-FFF2-40B4-BE49-F238E27FC236}">
                <a16:creationId xmlns:a16="http://schemas.microsoft.com/office/drawing/2014/main" id="{96C7B402-3F8A-5A8A-948A-20F0AA78F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0501"/>
          <a:stretch>
            <a:fillRect/>
          </a:stretch>
        </p:blipFill>
        <p:spPr bwMode="auto">
          <a:xfrm>
            <a:off x="2081213" y="1258888"/>
            <a:ext cx="8291512"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2">
            <a:extLst>
              <a:ext uri="{FF2B5EF4-FFF2-40B4-BE49-F238E27FC236}">
                <a16:creationId xmlns:a16="http://schemas.microsoft.com/office/drawing/2014/main" id="{931CCE8C-6E79-E4A9-357A-293C358FF8E3}"/>
              </a:ext>
            </a:extLst>
          </p:cNvPr>
          <p:cNvSpPr txBox="1">
            <a:spLocks noChangeArrowheads="1"/>
          </p:cNvSpPr>
          <p:nvPr/>
        </p:nvSpPr>
        <p:spPr bwMode="auto">
          <a:xfrm>
            <a:off x="8261350" y="5586413"/>
            <a:ext cx="20589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200"/>
              <a:t>(n=1 viral, n=6 bacterial)</a:t>
            </a:r>
          </a:p>
        </p:txBody>
      </p:sp>
      <p:sp>
        <p:nvSpPr>
          <p:cNvPr id="26628" name="TextBox 3">
            <a:extLst>
              <a:ext uri="{FF2B5EF4-FFF2-40B4-BE49-F238E27FC236}">
                <a16:creationId xmlns:a16="http://schemas.microsoft.com/office/drawing/2014/main" id="{11AD3AC7-4CF1-96EC-E88B-BD510C254941}"/>
              </a:ext>
            </a:extLst>
          </p:cNvPr>
          <p:cNvSpPr txBox="1">
            <a:spLocks noChangeArrowheads="1"/>
          </p:cNvSpPr>
          <p:nvPr/>
        </p:nvSpPr>
        <p:spPr bwMode="auto">
          <a:xfrm>
            <a:off x="3675063" y="5795963"/>
            <a:ext cx="26082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FontTx/>
              <a:buNone/>
            </a:pPr>
            <a:r>
              <a:rPr lang="en-GB" altLang="en-US" sz="1400"/>
              <a:t>were sent home</a:t>
            </a:r>
          </a:p>
        </p:txBody>
      </p:sp>
      <p:sp>
        <p:nvSpPr>
          <p:cNvPr id="26629" name="Right Brace 5">
            <a:extLst>
              <a:ext uri="{FF2B5EF4-FFF2-40B4-BE49-F238E27FC236}">
                <a16:creationId xmlns:a16="http://schemas.microsoft.com/office/drawing/2014/main" id="{F4BE190E-EB69-47B8-14A7-0A9A9983B152}"/>
              </a:ext>
            </a:extLst>
          </p:cNvPr>
          <p:cNvSpPr>
            <a:spLocks/>
          </p:cNvSpPr>
          <p:nvPr/>
        </p:nvSpPr>
        <p:spPr bwMode="auto">
          <a:xfrm rot="5400013">
            <a:off x="4213225" y="5038726"/>
            <a:ext cx="185737" cy="1344612"/>
          </a:xfrm>
          <a:custGeom>
            <a:avLst/>
            <a:gdLst>
              <a:gd name="T0" fmla="*/ 91804 w 186811"/>
              <a:gd name="T1" fmla="*/ 0 h 1343994"/>
              <a:gd name="T2" fmla="*/ 183607 w 186811"/>
              <a:gd name="T3" fmla="*/ 672924 h 1343994"/>
              <a:gd name="T4" fmla="*/ 91804 w 186811"/>
              <a:gd name="T5" fmla="*/ 1345849 h 1343994"/>
              <a:gd name="T6" fmla="*/ 0 w 186811"/>
              <a:gd name="T7" fmla="*/ 672924 h 1343994"/>
              <a:gd name="T8" fmla="*/ 0 w 186811"/>
              <a:gd name="T9" fmla="*/ 0 h 1343994"/>
              <a:gd name="T10" fmla="*/ 183607 w 186811"/>
              <a:gd name="T11" fmla="*/ 672924 h 1343994"/>
              <a:gd name="T12" fmla="*/ 0 w 186811"/>
              <a:gd name="T13" fmla="*/ 1345849 h 1343994"/>
              <a:gd name="T14" fmla="*/ 17694720 60000 65536"/>
              <a:gd name="T15" fmla="*/ 0 60000 65536"/>
              <a:gd name="T16" fmla="*/ 5898240 60000 65536"/>
              <a:gd name="T17" fmla="*/ 11796480 60000 65536"/>
              <a:gd name="T18" fmla="*/ 5898240 60000 65536"/>
              <a:gd name="T19" fmla="*/ 11796480 60000 65536"/>
              <a:gd name="T20" fmla="*/ 17694720 60000 65536"/>
              <a:gd name="T21" fmla="*/ 0 w 186811"/>
              <a:gd name="T22" fmla="*/ 4559 h 1343994"/>
              <a:gd name="T23" fmla="*/ 66048 w 186811"/>
              <a:gd name="T24" fmla="*/ 1339435 h 13439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811" h="1343994" stroke="0">
                <a:moveTo>
                  <a:pt x="0" y="0"/>
                </a:moveTo>
                <a:lnTo>
                  <a:pt x="0" y="0"/>
                </a:lnTo>
                <a:cubicBezTo>
                  <a:pt x="51586" y="0"/>
                  <a:pt x="93406" y="6969"/>
                  <a:pt x="93406" y="15567"/>
                </a:cubicBezTo>
                <a:lnTo>
                  <a:pt x="93406" y="656430"/>
                </a:lnTo>
                <a:lnTo>
                  <a:pt x="93406" y="656429"/>
                </a:lnTo>
                <a:cubicBezTo>
                  <a:pt x="93406" y="665027"/>
                  <a:pt x="135225" y="671996"/>
                  <a:pt x="186811" y="671996"/>
                </a:cubicBezTo>
                <a:lnTo>
                  <a:pt x="186812" y="671997"/>
                </a:lnTo>
                <a:cubicBezTo>
                  <a:pt x="135225" y="671997"/>
                  <a:pt x="93406" y="678966"/>
                  <a:pt x="93406" y="687563"/>
                </a:cubicBezTo>
                <a:lnTo>
                  <a:pt x="93406" y="1328427"/>
                </a:lnTo>
                <a:cubicBezTo>
                  <a:pt x="93406" y="1337024"/>
                  <a:pt x="51586" y="1343993"/>
                  <a:pt x="0" y="1343993"/>
                </a:cubicBezTo>
                <a:lnTo>
                  <a:pt x="0" y="0"/>
                </a:lnTo>
                <a:close/>
              </a:path>
              <a:path w="186811" h="1343994" fill="none">
                <a:moveTo>
                  <a:pt x="0" y="0"/>
                </a:moveTo>
                <a:lnTo>
                  <a:pt x="0" y="0"/>
                </a:lnTo>
                <a:cubicBezTo>
                  <a:pt x="51586" y="0"/>
                  <a:pt x="93406" y="6969"/>
                  <a:pt x="93406" y="15567"/>
                </a:cubicBezTo>
                <a:lnTo>
                  <a:pt x="93406" y="656430"/>
                </a:lnTo>
                <a:lnTo>
                  <a:pt x="93406" y="656429"/>
                </a:lnTo>
                <a:cubicBezTo>
                  <a:pt x="93406" y="665027"/>
                  <a:pt x="135225" y="671996"/>
                  <a:pt x="186811" y="671996"/>
                </a:cubicBezTo>
                <a:lnTo>
                  <a:pt x="186812" y="671997"/>
                </a:lnTo>
                <a:cubicBezTo>
                  <a:pt x="135225" y="671997"/>
                  <a:pt x="93406" y="678966"/>
                  <a:pt x="93406" y="687563"/>
                </a:cubicBezTo>
                <a:lnTo>
                  <a:pt x="93406" y="1328427"/>
                </a:lnTo>
                <a:cubicBezTo>
                  <a:pt x="93406" y="1337024"/>
                  <a:pt x="51586" y="1343993"/>
                  <a:pt x="0" y="1343993"/>
                </a:cubicBezTo>
              </a:path>
            </a:pathLst>
          </a:custGeom>
          <a:noFill/>
          <a:ln w="12701"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nchorCtr="1"/>
          <a:lstStyle/>
          <a:p>
            <a:endParaRPr lang="en-GB"/>
          </a:p>
        </p:txBody>
      </p:sp>
      <p:sp>
        <p:nvSpPr>
          <p:cNvPr id="26630" name="TextBox 6">
            <a:extLst>
              <a:ext uri="{FF2B5EF4-FFF2-40B4-BE49-F238E27FC236}">
                <a16:creationId xmlns:a16="http://schemas.microsoft.com/office/drawing/2014/main" id="{4690D583-83A3-F809-86FD-5D45080222E6}"/>
              </a:ext>
            </a:extLst>
          </p:cNvPr>
          <p:cNvSpPr txBox="1">
            <a:spLocks noChangeArrowheads="1"/>
          </p:cNvSpPr>
          <p:nvPr/>
        </p:nvSpPr>
        <p:spPr bwMode="auto">
          <a:xfrm>
            <a:off x="7675563" y="5324475"/>
            <a:ext cx="26082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400"/>
              <a:t>Were sent to the PICU</a:t>
            </a:r>
          </a:p>
        </p:txBody>
      </p:sp>
      <p:sp>
        <p:nvSpPr>
          <p:cNvPr id="26631" name="Right Brace 8">
            <a:extLst>
              <a:ext uri="{FF2B5EF4-FFF2-40B4-BE49-F238E27FC236}">
                <a16:creationId xmlns:a16="http://schemas.microsoft.com/office/drawing/2014/main" id="{F6BF7CDA-8DD2-2E62-016D-19C7AF4F9D2C}"/>
              </a:ext>
            </a:extLst>
          </p:cNvPr>
          <p:cNvSpPr>
            <a:spLocks/>
          </p:cNvSpPr>
          <p:nvPr/>
        </p:nvSpPr>
        <p:spPr bwMode="auto">
          <a:xfrm rot="5400013">
            <a:off x="6775450" y="5038726"/>
            <a:ext cx="185737" cy="1344612"/>
          </a:xfrm>
          <a:custGeom>
            <a:avLst/>
            <a:gdLst>
              <a:gd name="T0" fmla="*/ 91804 w 186811"/>
              <a:gd name="T1" fmla="*/ 0 h 1343994"/>
              <a:gd name="T2" fmla="*/ 183607 w 186811"/>
              <a:gd name="T3" fmla="*/ 672924 h 1343994"/>
              <a:gd name="T4" fmla="*/ 91804 w 186811"/>
              <a:gd name="T5" fmla="*/ 1345849 h 1343994"/>
              <a:gd name="T6" fmla="*/ 0 w 186811"/>
              <a:gd name="T7" fmla="*/ 672924 h 1343994"/>
              <a:gd name="T8" fmla="*/ 0 w 186811"/>
              <a:gd name="T9" fmla="*/ 0 h 1343994"/>
              <a:gd name="T10" fmla="*/ 183607 w 186811"/>
              <a:gd name="T11" fmla="*/ 672924 h 1343994"/>
              <a:gd name="T12" fmla="*/ 0 w 186811"/>
              <a:gd name="T13" fmla="*/ 1345849 h 1343994"/>
              <a:gd name="T14" fmla="*/ 17694720 60000 65536"/>
              <a:gd name="T15" fmla="*/ 0 60000 65536"/>
              <a:gd name="T16" fmla="*/ 5898240 60000 65536"/>
              <a:gd name="T17" fmla="*/ 11796480 60000 65536"/>
              <a:gd name="T18" fmla="*/ 5898240 60000 65536"/>
              <a:gd name="T19" fmla="*/ 11796480 60000 65536"/>
              <a:gd name="T20" fmla="*/ 17694720 60000 65536"/>
              <a:gd name="T21" fmla="*/ 0 w 186811"/>
              <a:gd name="T22" fmla="*/ 4559 h 1343994"/>
              <a:gd name="T23" fmla="*/ 66048 w 186811"/>
              <a:gd name="T24" fmla="*/ 1339435 h 13439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811" h="1343994" stroke="0">
                <a:moveTo>
                  <a:pt x="0" y="0"/>
                </a:moveTo>
                <a:lnTo>
                  <a:pt x="0" y="0"/>
                </a:lnTo>
                <a:cubicBezTo>
                  <a:pt x="51586" y="0"/>
                  <a:pt x="93406" y="6969"/>
                  <a:pt x="93406" y="15567"/>
                </a:cubicBezTo>
                <a:lnTo>
                  <a:pt x="93406" y="656430"/>
                </a:lnTo>
                <a:lnTo>
                  <a:pt x="93406" y="656429"/>
                </a:lnTo>
                <a:cubicBezTo>
                  <a:pt x="93406" y="665027"/>
                  <a:pt x="135225" y="671996"/>
                  <a:pt x="186811" y="671996"/>
                </a:cubicBezTo>
                <a:lnTo>
                  <a:pt x="186812" y="671997"/>
                </a:lnTo>
                <a:cubicBezTo>
                  <a:pt x="135225" y="671997"/>
                  <a:pt x="93406" y="678966"/>
                  <a:pt x="93406" y="687563"/>
                </a:cubicBezTo>
                <a:lnTo>
                  <a:pt x="93406" y="1328427"/>
                </a:lnTo>
                <a:cubicBezTo>
                  <a:pt x="93406" y="1337024"/>
                  <a:pt x="51586" y="1343993"/>
                  <a:pt x="0" y="1343993"/>
                </a:cubicBezTo>
                <a:lnTo>
                  <a:pt x="0" y="0"/>
                </a:lnTo>
                <a:close/>
              </a:path>
              <a:path w="186811" h="1343994" fill="none">
                <a:moveTo>
                  <a:pt x="0" y="0"/>
                </a:moveTo>
                <a:lnTo>
                  <a:pt x="0" y="0"/>
                </a:lnTo>
                <a:cubicBezTo>
                  <a:pt x="51586" y="0"/>
                  <a:pt x="93406" y="6969"/>
                  <a:pt x="93406" y="15567"/>
                </a:cubicBezTo>
                <a:lnTo>
                  <a:pt x="93406" y="656430"/>
                </a:lnTo>
                <a:lnTo>
                  <a:pt x="93406" y="656429"/>
                </a:lnTo>
                <a:cubicBezTo>
                  <a:pt x="93406" y="665027"/>
                  <a:pt x="135225" y="671996"/>
                  <a:pt x="186811" y="671996"/>
                </a:cubicBezTo>
                <a:lnTo>
                  <a:pt x="186812" y="671997"/>
                </a:lnTo>
                <a:cubicBezTo>
                  <a:pt x="135225" y="671997"/>
                  <a:pt x="93406" y="678966"/>
                  <a:pt x="93406" y="687563"/>
                </a:cubicBezTo>
                <a:lnTo>
                  <a:pt x="93406" y="1328427"/>
                </a:lnTo>
                <a:cubicBezTo>
                  <a:pt x="93406" y="1337024"/>
                  <a:pt x="51586" y="1343993"/>
                  <a:pt x="0" y="1343993"/>
                </a:cubicBezTo>
              </a:path>
            </a:pathLst>
          </a:custGeom>
          <a:noFill/>
          <a:ln w="12701"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nchorCtr="1"/>
          <a:lstStyle/>
          <a:p>
            <a:endParaRPr lang="en-GB"/>
          </a:p>
        </p:txBody>
      </p:sp>
      <p:sp>
        <p:nvSpPr>
          <p:cNvPr id="26632" name="Rectangle 10">
            <a:extLst>
              <a:ext uri="{FF2B5EF4-FFF2-40B4-BE49-F238E27FC236}">
                <a16:creationId xmlns:a16="http://schemas.microsoft.com/office/drawing/2014/main" id="{67A146EB-0AD1-22A8-4DB4-202FC5017E87}"/>
              </a:ext>
            </a:extLst>
          </p:cNvPr>
          <p:cNvSpPr>
            <a:spLocks noChangeArrowheads="1"/>
          </p:cNvSpPr>
          <p:nvPr/>
        </p:nvSpPr>
        <p:spPr bwMode="auto">
          <a:xfrm>
            <a:off x="5583238" y="5795963"/>
            <a:ext cx="2292350" cy="185737"/>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6633" name="TextBox 9">
            <a:extLst>
              <a:ext uri="{FF2B5EF4-FFF2-40B4-BE49-F238E27FC236}">
                <a16:creationId xmlns:a16="http://schemas.microsoft.com/office/drawing/2014/main" id="{FE48599B-BBC6-E767-773D-10A900424274}"/>
              </a:ext>
            </a:extLst>
          </p:cNvPr>
          <p:cNvSpPr txBox="1">
            <a:spLocks noChangeArrowheads="1"/>
          </p:cNvSpPr>
          <p:nvPr/>
        </p:nvSpPr>
        <p:spPr bwMode="auto">
          <a:xfrm>
            <a:off x="5718175" y="5778500"/>
            <a:ext cx="26098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400"/>
              <a:t>were sent to the ward</a:t>
            </a:r>
          </a:p>
          <a:p>
            <a:pPr algn="ctr" eaLnBrk="1" hangingPunct="1">
              <a:lnSpc>
                <a:spcPct val="100000"/>
              </a:lnSpc>
              <a:spcBef>
                <a:spcPct val="0"/>
              </a:spcBef>
              <a:buSzTx/>
              <a:buFontTx/>
              <a:buNone/>
            </a:pPr>
            <a:r>
              <a:rPr lang="en-GB" altLang="en-US" sz="1400"/>
              <a:t>n=7 later sent to the PICU</a:t>
            </a:r>
          </a:p>
        </p:txBody>
      </p:sp>
      <p:sp>
        <p:nvSpPr>
          <p:cNvPr id="26634" name="Slide Number Placeholder 4">
            <a:extLst>
              <a:ext uri="{FF2B5EF4-FFF2-40B4-BE49-F238E27FC236}">
                <a16:creationId xmlns:a16="http://schemas.microsoft.com/office/drawing/2014/main" id="{9CFE3C1F-5040-628B-E7E2-390D8E680C44}"/>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770C3D8B-0B22-42E5-B83D-1BBB14B6ACE4}" type="slidenum">
              <a:rPr lang="en-US" altLang="en-US" sz="1200">
                <a:solidFill>
                  <a:srgbClr val="767676"/>
                </a:solidFill>
              </a:rPr>
              <a:pPr algn="r" eaLnBrk="1" hangingPunct="1">
                <a:lnSpc>
                  <a:spcPct val="100000"/>
                </a:lnSpc>
                <a:spcBef>
                  <a:spcPct val="0"/>
                </a:spcBef>
                <a:buSzTx/>
                <a:buFontTx/>
                <a:buNone/>
              </a:pPr>
              <a:t>16</a:t>
            </a:fld>
            <a:endParaRPr lang="en-US" altLang="en-US" sz="1200">
              <a:solidFill>
                <a:srgbClr val="767676"/>
              </a:solidFill>
            </a:endParaRPr>
          </a:p>
        </p:txBody>
      </p:sp>
      <p:sp>
        <p:nvSpPr>
          <p:cNvPr id="26635" name="Slide Number Placeholder 11">
            <a:extLst>
              <a:ext uri="{FF2B5EF4-FFF2-40B4-BE49-F238E27FC236}">
                <a16:creationId xmlns:a16="http://schemas.microsoft.com/office/drawing/2014/main" id="{A5674A03-9378-FF2F-58D6-09C8BCDA0B93}"/>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CBF6BCB8-8F7A-46EF-B6D5-9252B8E63125}" type="slidenum">
              <a:rPr lang="en-US" altLang="en-US" sz="1200">
                <a:solidFill>
                  <a:srgbClr val="767676"/>
                </a:solidFill>
              </a:rPr>
              <a:pPr algn="r" eaLnBrk="1" hangingPunct="1">
                <a:lnSpc>
                  <a:spcPct val="100000"/>
                </a:lnSpc>
                <a:spcBef>
                  <a:spcPct val="0"/>
                </a:spcBef>
                <a:buSzTx/>
                <a:buFontTx/>
                <a:buNone/>
              </a:pPr>
              <a:t>16</a:t>
            </a:fld>
            <a:endParaRPr lang="en-US" altLang="en-US" sz="1200">
              <a:solidFill>
                <a:srgbClr val="767676"/>
              </a:solidFill>
            </a:endParaRPr>
          </a:p>
        </p:txBody>
      </p:sp>
      <p:sp>
        <p:nvSpPr>
          <p:cNvPr id="26636" name="Title 1">
            <a:extLst>
              <a:ext uri="{FF2B5EF4-FFF2-40B4-BE49-F238E27FC236}">
                <a16:creationId xmlns:a16="http://schemas.microsoft.com/office/drawing/2014/main" id="{6D27AF18-6598-AD9B-D1A9-18E404F49E65}"/>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Results</a:t>
            </a:r>
            <a:endParaRPr lang="en-GB" altLang="en-US" sz="4400">
              <a:latin typeface="Aptos Display" panose="020B0004020202020204" pitchFamily="34"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name="Slide501">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id="{53C2751E-8386-AEE1-474A-9D15FE587B0C}"/>
              </a:ext>
            </a:extLst>
          </p:cNvPr>
          <p:cNvSpPr>
            <a:spLocks noChangeArrowheads="1"/>
          </p:cNvSpPr>
          <p:nvPr/>
        </p:nvSpPr>
        <p:spPr bwMode="auto">
          <a:xfrm>
            <a:off x="2517775" y="1603375"/>
            <a:ext cx="569913" cy="185738"/>
          </a:xfrm>
          <a:prstGeom prst="rect">
            <a:avLst/>
          </a:prstGeom>
          <a:solidFill>
            <a:srgbClr val="FFFFFF"/>
          </a:solidFill>
          <a:ln w="19046">
            <a:solidFill>
              <a:srgbClr val="FFFFFF"/>
            </a:solidFill>
            <a:miter lim="800000"/>
            <a:headEnd/>
            <a:tailEnd/>
          </a:ln>
        </p:spPr>
        <p:txBody>
          <a:bodyPr anchor="ctr" anchorCtr="1"/>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endParaRPr lang="en-GB" altLang="en-US" sz="1800">
              <a:solidFill>
                <a:srgbClr val="FFFFFF"/>
              </a:solidFill>
            </a:endParaRPr>
          </a:p>
        </p:txBody>
      </p:sp>
      <p:sp>
        <p:nvSpPr>
          <p:cNvPr id="28675" name="Rectangle 1">
            <a:extLst>
              <a:ext uri="{FF2B5EF4-FFF2-40B4-BE49-F238E27FC236}">
                <a16:creationId xmlns:a16="http://schemas.microsoft.com/office/drawing/2014/main" id="{BF89D8AB-F79D-4ED7-A8CB-EADA48F2E5BC}"/>
              </a:ext>
            </a:extLst>
          </p:cNvPr>
          <p:cNvSpPr>
            <a:spLocks noChangeArrowheads="1"/>
          </p:cNvSpPr>
          <p:nvPr/>
        </p:nvSpPr>
        <p:spPr bwMode="auto">
          <a:xfrm>
            <a:off x="2701925" y="1727200"/>
            <a:ext cx="12192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a:lnSpc>
                <a:spcPct val="100000"/>
              </a:lnSpc>
              <a:spcBef>
                <a:spcPct val="0"/>
              </a:spcBef>
              <a:buSzTx/>
              <a:buFontTx/>
              <a:buNone/>
            </a:pPr>
            <a:r>
              <a:rPr lang="en-US" altLang="en-US" sz="1800">
                <a:latin typeface="Times New Roman" panose="02020603050405020304" pitchFamily="18" charset="0"/>
                <a:cs typeface="Times New Roman" panose="02020603050405020304" pitchFamily="18" charset="0"/>
              </a:rPr>
              <a:t> </a:t>
            </a:r>
            <a:endParaRPr lang="en-US" altLang="en-US" sz="1800">
              <a:latin typeface="Arial" panose="020B0604020202020204" pitchFamily="34" charset="0"/>
            </a:endParaRPr>
          </a:p>
          <a:p>
            <a:pPr eaLnBrk="1">
              <a:lnSpc>
                <a:spcPct val="100000"/>
              </a:lnSpc>
              <a:spcBef>
                <a:spcPct val="0"/>
              </a:spcBef>
              <a:buSzTx/>
              <a:buFontTx/>
              <a:buNone/>
            </a:pPr>
            <a:endParaRPr lang="en-US" altLang="en-US" sz="1800">
              <a:latin typeface="Arial" panose="020B0604020202020204" pitchFamily="34" charset="0"/>
            </a:endParaRPr>
          </a:p>
        </p:txBody>
      </p:sp>
      <p:sp>
        <p:nvSpPr>
          <p:cNvPr id="28676" name="TextBox 3">
            <a:extLst>
              <a:ext uri="{FF2B5EF4-FFF2-40B4-BE49-F238E27FC236}">
                <a16:creationId xmlns:a16="http://schemas.microsoft.com/office/drawing/2014/main" id="{001ACC6E-FC54-1FDC-8D34-8B16FC2104EA}"/>
              </a:ext>
            </a:extLst>
          </p:cNvPr>
          <p:cNvSpPr txBox="1">
            <a:spLocks noChangeArrowheads="1"/>
          </p:cNvSpPr>
          <p:nvPr/>
        </p:nvSpPr>
        <p:spPr bwMode="auto">
          <a:xfrm>
            <a:off x="7458075" y="433388"/>
            <a:ext cx="388778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ctr" eaLnBrk="1" hangingPunct="1">
              <a:lnSpc>
                <a:spcPct val="100000"/>
              </a:lnSpc>
              <a:spcBef>
                <a:spcPct val="0"/>
              </a:spcBef>
              <a:buSzTx/>
              <a:buFontTx/>
              <a:buNone/>
            </a:pPr>
            <a:r>
              <a:rPr lang="en-GB" altLang="en-US" sz="1400"/>
              <a:t>ORs indicate that individuals in the more severe class (presence of sepsis, very urgent triage code etc.) are more likely to be in the high transition probability (TP, to the PICU) group.</a:t>
            </a:r>
          </a:p>
        </p:txBody>
      </p:sp>
      <p:sp>
        <p:nvSpPr>
          <p:cNvPr id="28677" name="Slide Number Placeholder 8">
            <a:extLst>
              <a:ext uri="{FF2B5EF4-FFF2-40B4-BE49-F238E27FC236}">
                <a16:creationId xmlns:a16="http://schemas.microsoft.com/office/drawing/2014/main" id="{2FCD0B71-5511-83A5-CEAA-F77A98D32059}"/>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0FC3E011-5AB0-4C02-8DDC-2BD992412898}" type="slidenum">
              <a:rPr lang="en-US" altLang="en-US" sz="1200">
                <a:solidFill>
                  <a:srgbClr val="767676"/>
                </a:solidFill>
              </a:rPr>
              <a:pPr algn="r" eaLnBrk="1" hangingPunct="1">
                <a:lnSpc>
                  <a:spcPct val="100000"/>
                </a:lnSpc>
                <a:spcBef>
                  <a:spcPct val="0"/>
                </a:spcBef>
                <a:buSzTx/>
                <a:buFontTx/>
                <a:buNone/>
              </a:pPr>
              <a:t>17</a:t>
            </a:fld>
            <a:endParaRPr lang="en-US" altLang="en-US" sz="1200">
              <a:solidFill>
                <a:srgbClr val="767676"/>
              </a:solidFill>
            </a:endParaRPr>
          </a:p>
        </p:txBody>
      </p:sp>
      <p:graphicFrame>
        <p:nvGraphicFramePr>
          <p:cNvPr id="6" name="Table 10">
            <a:extLst>
              <a:ext uri="{FF2B5EF4-FFF2-40B4-BE49-F238E27FC236}">
                <a16:creationId xmlns:a16="http://schemas.microsoft.com/office/drawing/2014/main" id="{353AF044-EA4A-58E2-5A0C-4CA40C77FB33}"/>
              </a:ext>
            </a:extLst>
          </p:cNvPr>
          <p:cNvGraphicFramePr>
            <a:graphicFrameLocks noGrp="1"/>
          </p:cNvGraphicFramePr>
          <p:nvPr/>
        </p:nvGraphicFramePr>
        <p:xfrm>
          <a:off x="1049338" y="1633538"/>
          <a:ext cx="10048875" cy="4706936"/>
        </p:xfrm>
        <a:graphic>
          <a:graphicData uri="http://schemas.openxmlformats.org/drawingml/2006/table">
            <a:tbl>
              <a:tblPr bandRow="1">
                <a:tableStyleId>{D27102A9-8310-4765-A935-A1911B00CA55}</a:tableStyleId>
              </a:tblPr>
              <a:tblGrid>
                <a:gridCol w="2706156">
                  <a:extLst>
                    <a:ext uri="{9D8B030D-6E8A-4147-A177-3AD203B41FA5}">
                      <a16:colId xmlns:a16="http://schemas.microsoft.com/office/drawing/2014/main" val="20000"/>
                    </a:ext>
                  </a:extLst>
                </a:gridCol>
                <a:gridCol w="1329337">
                  <a:extLst>
                    <a:ext uri="{9D8B030D-6E8A-4147-A177-3AD203B41FA5}">
                      <a16:colId xmlns:a16="http://schemas.microsoft.com/office/drawing/2014/main" val="20001"/>
                    </a:ext>
                  </a:extLst>
                </a:gridCol>
                <a:gridCol w="1677496">
                  <a:extLst>
                    <a:ext uri="{9D8B030D-6E8A-4147-A177-3AD203B41FA5}">
                      <a16:colId xmlns:a16="http://schemas.microsoft.com/office/drawing/2014/main" val="20002"/>
                    </a:ext>
                  </a:extLst>
                </a:gridCol>
                <a:gridCol w="1107779">
                  <a:extLst>
                    <a:ext uri="{9D8B030D-6E8A-4147-A177-3AD203B41FA5}">
                      <a16:colId xmlns:a16="http://schemas.microsoft.com/office/drawing/2014/main" val="20003"/>
                    </a:ext>
                  </a:extLst>
                </a:gridCol>
                <a:gridCol w="1914882">
                  <a:extLst>
                    <a:ext uri="{9D8B030D-6E8A-4147-A177-3AD203B41FA5}">
                      <a16:colId xmlns:a16="http://schemas.microsoft.com/office/drawing/2014/main" val="20004"/>
                    </a:ext>
                  </a:extLst>
                </a:gridCol>
                <a:gridCol w="379531">
                  <a:extLst>
                    <a:ext uri="{9D8B030D-6E8A-4147-A177-3AD203B41FA5}">
                      <a16:colId xmlns:a16="http://schemas.microsoft.com/office/drawing/2014/main" val="20005"/>
                    </a:ext>
                  </a:extLst>
                </a:gridCol>
                <a:gridCol w="933694">
                  <a:extLst>
                    <a:ext uri="{9D8B030D-6E8A-4147-A177-3AD203B41FA5}">
                      <a16:colId xmlns:a16="http://schemas.microsoft.com/office/drawing/2014/main" val="20006"/>
                    </a:ext>
                  </a:extLst>
                </a:gridCol>
              </a:tblGrid>
              <a:tr h="368791">
                <a:tc>
                  <a:txBody>
                    <a:bodyPr/>
                    <a:lstStyle/>
                    <a:p>
                      <a:pPr lvl="0" algn="ctr" rtl="0">
                        <a:lnSpc>
                          <a:spcPts val="1135"/>
                        </a:lnSpc>
                        <a:buNone/>
                      </a:pPr>
                      <a:r>
                        <a:rPr lang="en-US" sz="1200" dirty="0"/>
                        <a:t>   </a:t>
                      </a:r>
                    </a:p>
                    <a:p>
                      <a:pPr lvl="0" algn="ctr" rtl="0">
                        <a:lnSpc>
                          <a:spcPts val="1135"/>
                        </a:lnSpc>
                        <a:buNone/>
                      </a:pPr>
                      <a:r>
                        <a:rPr lang="en-US" sz="1200" dirty="0"/>
                        <a:t>Clinical Feature  </a:t>
                      </a:r>
                      <a:endParaRPr lang="en-US" sz="1200" dirty="0">
                        <a:latin typeface="Calibri"/>
                      </a:endParaRPr>
                    </a:p>
                  </a:txBody>
                  <a:tcPr marL="85721" marR="85721" marT="38096" marB="38096" anchor="b"/>
                </a:tc>
                <a:tc>
                  <a:txBody>
                    <a:bodyPr/>
                    <a:lstStyle/>
                    <a:p>
                      <a:pPr lvl="0" algn="ctr" rtl="0" fontAlgn="auto">
                        <a:lnSpc>
                          <a:spcPts val="1135"/>
                        </a:lnSpc>
                      </a:pPr>
                      <a:r>
                        <a:rPr lang="en-US" sz="1200"/>
                        <a:t>TP ≥ 0.25  </a:t>
                      </a:r>
                    </a:p>
                    <a:p>
                      <a:pPr lvl="0" algn="ctr" rtl="0" fontAlgn="auto">
                        <a:lnSpc>
                          <a:spcPts val="1135"/>
                        </a:lnSpc>
                      </a:pPr>
                      <a:r>
                        <a:rPr lang="en-US" sz="1200"/>
                        <a:t>N (%)  </a:t>
                      </a:r>
                      <a:endParaRPr lang="en-US" sz="1200">
                        <a:latin typeface="Calibri"/>
                      </a:endParaRPr>
                    </a:p>
                  </a:txBody>
                  <a:tcPr marL="85721" marR="85721" marT="38096" marB="38096" anchor="b"/>
                </a:tc>
                <a:tc>
                  <a:txBody>
                    <a:bodyPr/>
                    <a:lstStyle/>
                    <a:p>
                      <a:pPr lvl="0" algn="ctr" rtl="0" fontAlgn="auto">
                        <a:lnSpc>
                          <a:spcPts val="1135"/>
                        </a:lnSpc>
                      </a:pPr>
                      <a:r>
                        <a:rPr lang="en-US" sz="1200"/>
                        <a:t>TP &lt; 0.25  </a:t>
                      </a:r>
                    </a:p>
                    <a:p>
                      <a:pPr lvl="0" algn="ctr" rtl="0" fontAlgn="auto">
                        <a:lnSpc>
                          <a:spcPts val="1135"/>
                        </a:lnSpc>
                      </a:pPr>
                      <a:r>
                        <a:rPr lang="en-US" sz="1200"/>
                        <a:t>N (%)  </a:t>
                      </a:r>
                      <a:endParaRPr lang="en-US" sz="1200">
                        <a:latin typeface="Calibri"/>
                      </a:endParaRPr>
                    </a:p>
                  </a:txBody>
                  <a:tcPr marL="85721" marR="85721" marT="38096" marB="38096" anchor="b"/>
                </a:tc>
                <a:tc>
                  <a:txBody>
                    <a:bodyPr/>
                    <a:lstStyle/>
                    <a:p>
                      <a:pPr lvl="0" algn="ctr" rtl="0" fontAlgn="auto">
                        <a:lnSpc>
                          <a:spcPts val="1135"/>
                        </a:lnSpc>
                      </a:pPr>
                      <a:r>
                        <a:rPr lang="en-US" sz="1200"/>
                        <a:t>Odds Ratio  </a:t>
                      </a:r>
                      <a:endParaRPr lang="en-US" sz="1200">
                        <a:latin typeface="Calibri"/>
                      </a:endParaRPr>
                    </a:p>
                  </a:txBody>
                  <a:tcPr marL="85721" marR="85721" marT="38096" marB="38096" anchor="b"/>
                </a:tc>
                <a:tc gridSpan="2">
                  <a:txBody>
                    <a:bodyPr/>
                    <a:lstStyle/>
                    <a:p>
                      <a:pPr lvl="0" algn="ctr" rtl="0" fontAlgn="auto">
                        <a:lnSpc>
                          <a:spcPts val="1135"/>
                        </a:lnSpc>
                      </a:pPr>
                      <a:r>
                        <a:rPr lang="en-US" sz="1200"/>
                        <a:t>95% Confidence Interval  </a:t>
                      </a:r>
                      <a:endParaRPr lang="en-US" sz="1200">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t>p-value  </a:t>
                      </a:r>
                      <a:endParaRPr lang="en-US" sz="1200">
                        <a:latin typeface="Calibri"/>
                      </a:endParaRPr>
                    </a:p>
                  </a:txBody>
                  <a:tcPr marL="85721" marR="85721" marT="38096" marB="38096" anchor="b"/>
                </a:tc>
                <a:extLst>
                  <a:ext uri="{0D108BD9-81ED-4DB2-BD59-A6C34878D82A}">
                    <a16:rowId xmlns:a16="http://schemas.microsoft.com/office/drawing/2014/main" val="10000"/>
                  </a:ext>
                </a:extLst>
              </a:tr>
              <a:tr h="222687">
                <a:tc gridSpan="7">
                  <a:txBody>
                    <a:bodyPr/>
                    <a:lstStyle/>
                    <a:p>
                      <a:pPr lvl="0" rtl="0" fontAlgn="auto">
                        <a:lnSpc>
                          <a:spcPts val="1135"/>
                        </a:lnSpc>
                      </a:pPr>
                      <a:r>
                        <a:rPr lang="en-US" sz="1200"/>
                        <a:t>On-presentation  </a:t>
                      </a:r>
                      <a:endParaRPr lang="en-US" sz="1200">
                        <a:latin typeface="Calibri"/>
                      </a:endParaRPr>
                    </a:p>
                  </a:txBody>
                  <a:tcPr marL="85721" marR="85721" marT="38096" marB="38096"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1"/>
                  </a:ext>
                </a:extLst>
              </a:tr>
              <a:tr h="513101">
                <a:tc>
                  <a:txBody>
                    <a:bodyPr/>
                    <a:lstStyle/>
                    <a:p>
                      <a:pPr lvl="0" rtl="0" fontAlgn="auto">
                        <a:lnSpc>
                          <a:spcPts val="1135"/>
                        </a:lnSpc>
                      </a:pPr>
                      <a:r>
                        <a:rPr lang="en-US" sz="1200" dirty="0"/>
                        <a:t>Gender  </a:t>
                      </a:r>
                    </a:p>
                    <a:p>
                      <a:pPr lvl="0" algn="ctr" rtl="0" fontAlgn="auto">
                        <a:lnSpc>
                          <a:spcPts val="1135"/>
                        </a:lnSpc>
                      </a:pPr>
                      <a:r>
                        <a:rPr lang="en-US" sz="1200" dirty="0"/>
                        <a:t>Female  </a:t>
                      </a:r>
                    </a:p>
                    <a:p>
                      <a:pPr lvl="0" algn="ctr" rtl="0" fontAlgn="auto">
                        <a:lnSpc>
                          <a:spcPts val="1135"/>
                        </a:lnSpc>
                      </a:pPr>
                      <a:r>
                        <a:rPr lang="en-US" sz="1200" dirty="0"/>
                        <a:t>Male  </a:t>
                      </a:r>
                      <a:endParaRPr lang="en-US" sz="1200" dirty="0">
                        <a:latin typeface="Calibri"/>
                      </a:endParaRPr>
                    </a:p>
                  </a:txBody>
                  <a:tcPr marL="85721" marR="85721" marT="38096" marB="38096" anchor="b"/>
                </a:tc>
                <a:tc>
                  <a:txBody>
                    <a:bodyPr/>
                    <a:lstStyle/>
                    <a:p>
                      <a:pPr lvl="0" algn="ctr" rtl="0" fontAlgn="auto">
                        <a:lnSpc>
                          <a:spcPts val="1135"/>
                        </a:lnSpc>
                      </a:pPr>
                      <a:r>
                        <a:rPr lang="en-US" sz="1200" dirty="0"/>
                        <a:t>19 (44.19)  </a:t>
                      </a:r>
                    </a:p>
                    <a:p>
                      <a:pPr lvl="0" algn="ctr" rtl="0" fontAlgn="auto">
                        <a:lnSpc>
                          <a:spcPts val="1135"/>
                        </a:lnSpc>
                      </a:pPr>
                      <a:r>
                        <a:rPr lang="en-US" sz="1200" dirty="0"/>
                        <a:t>24 (55.81)  </a:t>
                      </a:r>
                      <a:endParaRPr lang="en-US" sz="1200" dirty="0">
                        <a:latin typeface="Calibri"/>
                      </a:endParaRPr>
                    </a:p>
                  </a:txBody>
                  <a:tcPr marL="85721" marR="85721" marT="38096" marB="38096" anchor="b"/>
                </a:tc>
                <a:tc>
                  <a:txBody>
                    <a:bodyPr/>
                    <a:lstStyle/>
                    <a:p>
                      <a:pPr lvl="0" algn="ctr" rtl="0" fontAlgn="auto">
                        <a:lnSpc>
                          <a:spcPts val="1135"/>
                        </a:lnSpc>
                      </a:pPr>
                      <a:r>
                        <a:rPr lang="en-US" sz="1200"/>
                        <a:t>62 (43.97)  </a:t>
                      </a:r>
                    </a:p>
                    <a:p>
                      <a:pPr lvl="0" algn="ctr" rtl="0" fontAlgn="auto">
                        <a:lnSpc>
                          <a:spcPts val="1135"/>
                        </a:lnSpc>
                      </a:pPr>
                      <a:r>
                        <a:rPr lang="en-US" sz="1200"/>
                        <a:t>79 (56.03)  </a:t>
                      </a:r>
                      <a:endParaRPr lang="en-US" sz="1200">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1.01 </a:t>
                      </a:r>
                      <a:endParaRPr lang="en-US" sz="1200" b="1">
                        <a:solidFill>
                          <a:srgbClr val="FF0000"/>
                        </a:solidFill>
                        <a:latin typeface="Calibri"/>
                      </a:endParaRPr>
                    </a:p>
                  </a:txBody>
                  <a:tcPr marL="85721" marR="85721" marT="38096" marB="38096" anchor="b"/>
                </a:tc>
                <a:tc gridSpan="2">
                  <a:txBody>
                    <a:bodyPr/>
                    <a:lstStyle/>
                    <a:p>
                      <a:pPr lvl="0" algn="ctr" rtl="0" fontAlgn="auto">
                        <a:lnSpc>
                          <a:spcPts val="1135"/>
                        </a:lnSpc>
                      </a:pPr>
                      <a:r>
                        <a:rPr lang="en-US" sz="1200"/>
                        <a:t> 0.48, 2.12 </a:t>
                      </a:r>
                      <a:endParaRPr lang="en-US" sz="1200">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t>1.00 </a:t>
                      </a:r>
                      <a:endParaRPr lang="en-US" sz="1200">
                        <a:latin typeface="Calibri"/>
                      </a:endParaRPr>
                    </a:p>
                  </a:txBody>
                  <a:tcPr marL="85721" marR="85721" marT="38096" marB="38096" anchor="b"/>
                </a:tc>
                <a:extLst>
                  <a:ext uri="{0D108BD9-81ED-4DB2-BD59-A6C34878D82A}">
                    <a16:rowId xmlns:a16="http://schemas.microsoft.com/office/drawing/2014/main" val="10002"/>
                  </a:ext>
                </a:extLst>
              </a:tr>
              <a:tr h="513101">
                <a:tc>
                  <a:txBody>
                    <a:bodyPr/>
                    <a:lstStyle/>
                    <a:p>
                      <a:pPr lvl="0" rtl="0" fontAlgn="auto">
                        <a:lnSpc>
                          <a:spcPts val="1135"/>
                        </a:lnSpc>
                      </a:pPr>
                      <a:r>
                        <a:rPr lang="en-US" sz="1200"/>
                        <a:t>Triage Code  </a:t>
                      </a:r>
                    </a:p>
                    <a:p>
                      <a:pPr lvl="0" algn="ctr" rtl="0" fontAlgn="auto">
                        <a:lnSpc>
                          <a:spcPts val="1135"/>
                        </a:lnSpc>
                      </a:pPr>
                      <a:r>
                        <a:rPr lang="en-US" sz="1200"/>
                        <a:t>Very Urgent  </a:t>
                      </a:r>
                    </a:p>
                    <a:p>
                      <a:pPr lvl="0" algn="ctr" rtl="0" fontAlgn="auto">
                        <a:lnSpc>
                          <a:spcPts val="1135"/>
                        </a:lnSpc>
                      </a:pPr>
                      <a:r>
                        <a:rPr lang="en-US" sz="1200"/>
                        <a:t>Standard  </a:t>
                      </a:r>
                      <a:endParaRPr lang="en-US" sz="1200">
                        <a:latin typeface="Calibri"/>
                      </a:endParaRPr>
                    </a:p>
                  </a:txBody>
                  <a:tcPr marL="85721" marR="85721" marT="38096" marB="38096" anchor="b"/>
                </a:tc>
                <a:tc>
                  <a:txBody>
                    <a:bodyPr/>
                    <a:lstStyle/>
                    <a:p>
                      <a:pPr lvl="0" algn="ctr" rtl="0" fontAlgn="auto">
                        <a:lnSpc>
                          <a:spcPts val="1135"/>
                        </a:lnSpc>
                      </a:pPr>
                      <a:r>
                        <a:rPr lang="en-US" sz="1200"/>
                        <a:t>27 (69.23)  </a:t>
                      </a:r>
                    </a:p>
                    <a:p>
                      <a:pPr lvl="0" algn="ctr" rtl="0" fontAlgn="auto">
                        <a:lnSpc>
                          <a:spcPts val="1135"/>
                        </a:lnSpc>
                      </a:pPr>
                      <a:r>
                        <a:rPr lang="en-US" sz="1200"/>
                        <a:t>12 (30.77) </a:t>
                      </a:r>
                      <a:endParaRPr lang="en-US" sz="1200">
                        <a:latin typeface="Calibri"/>
                      </a:endParaRPr>
                    </a:p>
                  </a:txBody>
                  <a:tcPr marL="85721" marR="85721" marT="38096" marB="38096" anchor="b"/>
                </a:tc>
                <a:tc>
                  <a:txBody>
                    <a:bodyPr/>
                    <a:lstStyle/>
                    <a:p>
                      <a:pPr lvl="0" algn="ctr" rtl="0" fontAlgn="auto">
                        <a:lnSpc>
                          <a:spcPts val="1135"/>
                        </a:lnSpc>
                      </a:pPr>
                      <a:r>
                        <a:rPr lang="en-US" sz="1200" dirty="0"/>
                        <a:t>79 (59.40)  </a:t>
                      </a:r>
                    </a:p>
                    <a:p>
                      <a:pPr lvl="0" algn="ctr" rtl="0" fontAlgn="auto">
                        <a:lnSpc>
                          <a:spcPts val="1135"/>
                        </a:lnSpc>
                      </a:pPr>
                      <a:r>
                        <a:rPr lang="en-US" sz="1200" dirty="0"/>
                        <a:t>54 (40.60)  </a:t>
                      </a:r>
                      <a:endParaRPr lang="en-US" sz="1200" dirty="0">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1.53 </a:t>
                      </a:r>
                      <a:endParaRPr lang="en-US" sz="1200" b="1">
                        <a:solidFill>
                          <a:srgbClr val="FF0000"/>
                        </a:solidFill>
                        <a:latin typeface="Calibri"/>
                      </a:endParaRPr>
                    </a:p>
                  </a:txBody>
                  <a:tcPr marL="85721" marR="85721" marT="38096" marB="38096" anchor="b"/>
                </a:tc>
                <a:tc gridSpan="2">
                  <a:txBody>
                    <a:bodyPr/>
                    <a:lstStyle/>
                    <a:p>
                      <a:pPr lvl="0" algn="ctr" rtl="0" fontAlgn="auto">
                        <a:lnSpc>
                          <a:spcPts val="1135"/>
                        </a:lnSpc>
                      </a:pPr>
                      <a:r>
                        <a:rPr lang="en-US" sz="1200"/>
                        <a:t> 0.68, 3.63 </a:t>
                      </a:r>
                      <a:endParaRPr lang="en-US" sz="1200">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t>0.35  </a:t>
                      </a:r>
                      <a:endParaRPr lang="en-US" sz="1200">
                        <a:latin typeface="Calibri"/>
                      </a:endParaRPr>
                    </a:p>
                  </a:txBody>
                  <a:tcPr marL="85721" marR="85721" marT="38096" marB="38096" anchor="b"/>
                </a:tc>
                <a:extLst>
                  <a:ext uri="{0D108BD9-81ED-4DB2-BD59-A6C34878D82A}">
                    <a16:rowId xmlns:a16="http://schemas.microsoft.com/office/drawing/2014/main" val="10003"/>
                  </a:ext>
                </a:extLst>
              </a:tr>
              <a:tr h="513101">
                <a:tc>
                  <a:txBody>
                    <a:bodyPr/>
                    <a:lstStyle/>
                    <a:p>
                      <a:pPr lvl="0" rtl="0" fontAlgn="auto">
                        <a:lnSpc>
                          <a:spcPts val="1135"/>
                        </a:lnSpc>
                      </a:pPr>
                      <a:r>
                        <a:rPr lang="en-US" sz="1200"/>
                        <a:t>Ill Appearance  </a:t>
                      </a:r>
                    </a:p>
                    <a:p>
                      <a:pPr lvl="0" algn="ctr" rtl="0" fontAlgn="auto">
                        <a:lnSpc>
                          <a:spcPts val="1135"/>
                        </a:lnSpc>
                      </a:pPr>
                      <a:r>
                        <a:rPr lang="en-US" sz="1200"/>
                        <a:t>Yes  </a:t>
                      </a:r>
                    </a:p>
                    <a:p>
                      <a:pPr lvl="0" algn="ctr" rtl="0" fontAlgn="auto">
                        <a:lnSpc>
                          <a:spcPts val="1135"/>
                        </a:lnSpc>
                      </a:pPr>
                      <a:r>
                        <a:rPr lang="en-US" sz="1200"/>
                        <a:t>No  </a:t>
                      </a:r>
                      <a:endParaRPr lang="en-US" sz="1200">
                        <a:latin typeface="Calibri"/>
                      </a:endParaRPr>
                    </a:p>
                  </a:txBody>
                  <a:tcPr marL="85721" marR="85721" marT="38096" marB="38096" anchor="b"/>
                </a:tc>
                <a:tc>
                  <a:txBody>
                    <a:bodyPr/>
                    <a:lstStyle/>
                    <a:p>
                      <a:pPr lvl="0" algn="ctr" rtl="0" fontAlgn="auto">
                        <a:lnSpc>
                          <a:spcPts val="1135"/>
                        </a:lnSpc>
                      </a:pPr>
                      <a:r>
                        <a:rPr lang="en-US" sz="1200"/>
                        <a:t>19 (51.35)  </a:t>
                      </a:r>
                    </a:p>
                    <a:p>
                      <a:pPr lvl="0" algn="ctr" rtl="0" fontAlgn="auto">
                        <a:lnSpc>
                          <a:spcPts val="1135"/>
                        </a:lnSpc>
                      </a:pPr>
                      <a:r>
                        <a:rPr lang="en-US" sz="1200"/>
                        <a:t>18 (48.65)  </a:t>
                      </a:r>
                      <a:endParaRPr lang="en-US" sz="1200">
                        <a:latin typeface="Calibri"/>
                      </a:endParaRPr>
                    </a:p>
                  </a:txBody>
                  <a:tcPr marL="85721" marR="85721" marT="38096" marB="38096" anchor="b"/>
                </a:tc>
                <a:tc>
                  <a:txBody>
                    <a:bodyPr/>
                    <a:lstStyle/>
                    <a:p>
                      <a:pPr lvl="0" algn="ctr" rtl="0" fontAlgn="auto">
                        <a:lnSpc>
                          <a:spcPts val="1135"/>
                        </a:lnSpc>
                      </a:pPr>
                      <a:r>
                        <a:rPr lang="en-US" sz="1200"/>
                        <a:t>60 (47.24)  </a:t>
                      </a:r>
                    </a:p>
                    <a:p>
                      <a:pPr lvl="0" algn="ctr" rtl="0" fontAlgn="auto">
                        <a:lnSpc>
                          <a:spcPts val="1135"/>
                        </a:lnSpc>
                      </a:pPr>
                      <a:r>
                        <a:rPr lang="en-US" sz="1200"/>
                        <a:t>67 (52.76)  </a:t>
                      </a:r>
                      <a:endParaRPr lang="en-US" sz="1200">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 1.18 </a:t>
                      </a:r>
                      <a:endParaRPr lang="en-US" sz="1200" b="1">
                        <a:solidFill>
                          <a:srgbClr val="FF0000"/>
                        </a:solidFill>
                        <a:latin typeface="Calibri"/>
                      </a:endParaRPr>
                    </a:p>
                  </a:txBody>
                  <a:tcPr marL="85721" marR="85721" marT="38096" marB="38096" anchor="b"/>
                </a:tc>
                <a:tc gridSpan="2">
                  <a:txBody>
                    <a:bodyPr/>
                    <a:lstStyle/>
                    <a:p>
                      <a:pPr lvl="0" algn="ctr" rtl="0" fontAlgn="auto">
                        <a:lnSpc>
                          <a:spcPts val="1135"/>
                        </a:lnSpc>
                      </a:pPr>
                      <a:r>
                        <a:rPr lang="en-US" sz="1200"/>
                        <a:t>0.53, 2.62 </a:t>
                      </a:r>
                      <a:endParaRPr lang="en-US" sz="1200">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t>0.71  </a:t>
                      </a:r>
                      <a:endParaRPr lang="en-US" sz="1200">
                        <a:latin typeface="Calibri"/>
                      </a:endParaRPr>
                    </a:p>
                  </a:txBody>
                  <a:tcPr marL="85721" marR="85721" marT="38096" marB="38096" anchor="b"/>
                </a:tc>
                <a:extLst>
                  <a:ext uri="{0D108BD9-81ED-4DB2-BD59-A6C34878D82A}">
                    <a16:rowId xmlns:a16="http://schemas.microsoft.com/office/drawing/2014/main" val="10004"/>
                  </a:ext>
                </a:extLst>
              </a:tr>
              <a:tr h="513101">
                <a:tc>
                  <a:txBody>
                    <a:bodyPr/>
                    <a:lstStyle/>
                    <a:p>
                      <a:pPr lvl="0" rtl="0" fontAlgn="auto">
                        <a:lnSpc>
                          <a:spcPts val="1135"/>
                        </a:lnSpc>
                      </a:pPr>
                      <a:r>
                        <a:rPr lang="en-US" sz="1200"/>
                        <a:t>Life Saving Intervention  </a:t>
                      </a:r>
                    </a:p>
                    <a:p>
                      <a:pPr lvl="0" algn="ctr" rtl="0" fontAlgn="auto">
                        <a:lnSpc>
                          <a:spcPts val="1135"/>
                        </a:lnSpc>
                      </a:pPr>
                      <a:r>
                        <a:rPr lang="en-US" sz="1200"/>
                        <a:t>Yes  </a:t>
                      </a:r>
                    </a:p>
                    <a:p>
                      <a:pPr lvl="0" algn="ctr" rtl="0" fontAlgn="auto">
                        <a:lnSpc>
                          <a:spcPts val="1135"/>
                        </a:lnSpc>
                      </a:pPr>
                      <a:r>
                        <a:rPr lang="en-US" sz="1200"/>
                        <a:t>No  </a:t>
                      </a:r>
                      <a:endParaRPr lang="en-US" sz="1200">
                        <a:latin typeface="Calibri"/>
                      </a:endParaRPr>
                    </a:p>
                  </a:txBody>
                  <a:tcPr marL="85721" marR="85721" marT="38096" marB="38096" anchor="b"/>
                </a:tc>
                <a:tc>
                  <a:txBody>
                    <a:bodyPr/>
                    <a:lstStyle/>
                    <a:p>
                      <a:pPr lvl="0" algn="ctr" rtl="0" fontAlgn="auto">
                        <a:lnSpc>
                          <a:spcPts val="1135"/>
                        </a:lnSpc>
                      </a:pPr>
                      <a:r>
                        <a:rPr lang="en-US" sz="1200"/>
                        <a:t>4 (9.30) </a:t>
                      </a:r>
                    </a:p>
                    <a:p>
                      <a:pPr lvl="0" algn="ctr" rtl="0" fontAlgn="auto">
                        <a:lnSpc>
                          <a:spcPts val="1135"/>
                        </a:lnSpc>
                      </a:pPr>
                      <a:r>
                        <a:rPr lang="en-US" sz="1200"/>
                        <a:t>39 (90.70)  </a:t>
                      </a:r>
                      <a:endParaRPr lang="en-US" sz="1200">
                        <a:latin typeface="Calibri"/>
                      </a:endParaRPr>
                    </a:p>
                  </a:txBody>
                  <a:tcPr marL="85721" marR="85721" marT="38096" marB="38096" anchor="b"/>
                </a:tc>
                <a:tc>
                  <a:txBody>
                    <a:bodyPr/>
                    <a:lstStyle/>
                    <a:p>
                      <a:pPr lvl="0" algn="ctr" rtl="0" fontAlgn="auto">
                        <a:lnSpc>
                          <a:spcPts val="1135"/>
                        </a:lnSpc>
                      </a:pPr>
                      <a:r>
                        <a:rPr lang="en-US" sz="1200" dirty="0"/>
                        <a:t>13 (9.42) </a:t>
                      </a:r>
                    </a:p>
                    <a:p>
                      <a:pPr lvl="0" algn="ctr" rtl="0" fontAlgn="auto">
                        <a:lnSpc>
                          <a:spcPts val="1135"/>
                        </a:lnSpc>
                      </a:pPr>
                      <a:r>
                        <a:rPr lang="en-US" sz="1200" dirty="0"/>
                        <a:t>125 (90.58)  </a:t>
                      </a:r>
                      <a:endParaRPr lang="en-US" sz="1200" dirty="0">
                        <a:latin typeface="Calibri"/>
                      </a:endParaRPr>
                    </a:p>
                  </a:txBody>
                  <a:tcPr marL="85721" marR="85721" marT="38096" marB="38096" anchor="b"/>
                </a:tc>
                <a:tc>
                  <a:txBody>
                    <a:bodyPr/>
                    <a:lstStyle/>
                    <a:p>
                      <a:pPr lvl="0" algn="ctr" rtl="0" fontAlgn="auto">
                        <a:lnSpc>
                          <a:spcPts val="1135"/>
                        </a:lnSpc>
                      </a:pPr>
                      <a:r>
                        <a:rPr lang="en-US" sz="1200" b="1" dirty="0">
                          <a:solidFill>
                            <a:srgbClr val="FF0000"/>
                          </a:solidFill>
                        </a:rPr>
                        <a:t> 1.00</a:t>
                      </a:r>
                    </a:p>
                  </a:txBody>
                  <a:tcPr marL="85721" marR="85721" marT="38096" marB="38096" anchor="b"/>
                </a:tc>
                <a:tc gridSpan="2">
                  <a:txBody>
                    <a:bodyPr/>
                    <a:lstStyle/>
                    <a:p>
                      <a:pPr lvl="0" algn="ctr" rtl="0" fontAlgn="auto">
                        <a:lnSpc>
                          <a:spcPts val="1135"/>
                        </a:lnSpc>
                      </a:pPr>
                      <a:r>
                        <a:rPr lang="en-US" sz="1200"/>
                        <a:t>0.22, 4.44 </a:t>
                      </a:r>
                      <a:endParaRPr lang="en-US" sz="1200">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t>1.00  </a:t>
                      </a:r>
                      <a:endParaRPr lang="en-US" sz="1200">
                        <a:latin typeface="Calibri"/>
                      </a:endParaRPr>
                    </a:p>
                  </a:txBody>
                  <a:tcPr marL="85721" marR="85721" marT="38096" marB="38096" anchor="b"/>
                </a:tc>
                <a:extLst>
                  <a:ext uri="{0D108BD9-81ED-4DB2-BD59-A6C34878D82A}">
                    <a16:rowId xmlns:a16="http://schemas.microsoft.com/office/drawing/2014/main" val="10005"/>
                  </a:ext>
                </a:extLst>
              </a:tr>
              <a:tr h="222687">
                <a:tc gridSpan="7">
                  <a:txBody>
                    <a:bodyPr/>
                    <a:lstStyle/>
                    <a:p>
                      <a:pPr lvl="0" rtl="0" fontAlgn="auto">
                        <a:lnSpc>
                          <a:spcPts val="1135"/>
                        </a:lnSpc>
                      </a:pPr>
                      <a:r>
                        <a:rPr lang="en-US" sz="1200" b="1">
                          <a:solidFill>
                            <a:srgbClr val="FF0000"/>
                          </a:solidFill>
                        </a:rPr>
                        <a:t>   </a:t>
                      </a:r>
                      <a:endParaRPr lang="en-US" sz="1200" b="1">
                        <a:solidFill>
                          <a:srgbClr val="FF0000"/>
                        </a:solidFill>
                        <a:latin typeface="Calibri"/>
                      </a:endParaRPr>
                    </a:p>
                  </a:txBody>
                  <a:tcPr marL="85721" marR="85721" marT="38096" marB="38096"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6"/>
                  </a:ext>
                </a:extLst>
              </a:tr>
              <a:tr h="513101">
                <a:tc>
                  <a:txBody>
                    <a:bodyPr/>
                    <a:lstStyle/>
                    <a:p>
                      <a:pPr lvl="0" rtl="0" fontAlgn="auto">
                        <a:lnSpc>
                          <a:spcPts val="1135"/>
                        </a:lnSpc>
                      </a:pPr>
                      <a:r>
                        <a:rPr lang="en-US" sz="1200">
                          <a:solidFill>
                            <a:srgbClr val="FF0000"/>
                          </a:solidFill>
                        </a:rPr>
                        <a:t>Phenotype  </a:t>
                      </a:r>
                    </a:p>
                    <a:p>
                      <a:pPr lvl="0" algn="ctr" rtl="0" fontAlgn="auto">
                        <a:lnSpc>
                          <a:spcPts val="1135"/>
                        </a:lnSpc>
                      </a:pPr>
                      <a:r>
                        <a:rPr lang="en-US" sz="1200">
                          <a:solidFill>
                            <a:srgbClr val="FF0000"/>
                          </a:solidFill>
                        </a:rPr>
                        <a:t>Bacterial  </a:t>
                      </a:r>
                    </a:p>
                    <a:p>
                      <a:pPr lvl="0" algn="ctr" rtl="0" fontAlgn="auto">
                        <a:lnSpc>
                          <a:spcPts val="1135"/>
                        </a:lnSpc>
                      </a:pPr>
                      <a:r>
                        <a:rPr lang="en-US" sz="1200">
                          <a:solidFill>
                            <a:srgbClr val="FF0000"/>
                          </a:solidFill>
                        </a:rPr>
                        <a:t>Viral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a:solidFill>
                            <a:srgbClr val="FF0000"/>
                          </a:solidFill>
                        </a:rPr>
                        <a:t>28 (65.12)  </a:t>
                      </a:r>
                    </a:p>
                    <a:p>
                      <a:pPr lvl="0" algn="ctr" rtl="0" fontAlgn="auto">
                        <a:lnSpc>
                          <a:spcPts val="1135"/>
                        </a:lnSpc>
                      </a:pPr>
                      <a:r>
                        <a:rPr lang="en-US" sz="1200">
                          <a:solidFill>
                            <a:srgbClr val="FF0000"/>
                          </a:solidFill>
                        </a:rPr>
                        <a:t>15 (34.88)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a:solidFill>
                            <a:srgbClr val="FF0000"/>
                          </a:solidFill>
                        </a:rPr>
                        <a:t>66 (46.81)  </a:t>
                      </a:r>
                    </a:p>
                    <a:p>
                      <a:pPr lvl="0" algn="ctr" rtl="0" fontAlgn="auto">
                        <a:lnSpc>
                          <a:spcPts val="1135"/>
                        </a:lnSpc>
                      </a:pPr>
                      <a:r>
                        <a:rPr lang="en-US" sz="1200">
                          <a:solidFill>
                            <a:srgbClr val="FF0000"/>
                          </a:solidFill>
                        </a:rPr>
                        <a:t>75 (53.19)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2.11  </a:t>
                      </a:r>
                      <a:endParaRPr lang="en-US" sz="1200" b="1">
                        <a:solidFill>
                          <a:srgbClr val="FF0000"/>
                        </a:solidFill>
                        <a:latin typeface="Calibri"/>
                      </a:endParaRPr>
                    </a:p>
                  </a:txBody>
                  <a:tcPr marL="85721" marR="85721" marT="38096" marB="38096" anchor="b"/>
                </a:tc>
                <a:tc gridSpan="2">
                  <a:txBody>
                    <a:bodyPr/>
                    <a:lstStyle/>
                    <a:p>
                      <a:pPr lvl="0" algn="ctr" rtl="0" fontAlgn="auto">
                        <a:lnSpc>
                          <a:spcPts val="1135"/>
                        </a:lnSpc>
                      </a:pPr>
                      <a:r>
                        <a:rPr lang="en-US" sz="1200" dirty="0">
                          <a:solidFill>
                            <a:srgbClr val="FF0000"/>
                          </a:solidFill>
                        </a:rPr>
                        <a:t>0.99, 4.65 </a:t>
                      </a:r>
                      <a:endParaRPr lang="en-US" sz="1200" dirty="0">
                        <a:solidFill>
                          <a:srgbClr val="FF0000"/>
                        </a:solidFill>
                        <a:latin typeface="Calibri"/>
                      </a:endParaRPr>
                    </a:p>
                  </a:txBody>
                  <a:tcPr marL="85721" marR="85721" marT="38096" marB="38096" anchor="b"/>
                </a:tc>
                <a:tc hMerge="1">
                  <a:txBody>
                    <a:bodyPr/>
                    <a:lstStyle/>
                    <a:p>
                      <a:endParaRPr lang="en-GB"/>
                    </a:p>
                  </a:txBody>
                  <a:tcPr/>
                </a:tc>
                <a:tc>
                  <a:txBody>
                    <a:bodyPr/>
                    <a:lstStyle/>
                    <a:p>
                      <a:pPr lvl="0" algn="ctr" rtl="0" fontAlgn="auto">
                        <a:lnSpc>
                          <a:spcPts val="1135"/>
                        </a:lnSpc>
                      </a:pPr>
                      <a:r>
                        <a:rPr lang="en-US" sz="1200">
                          <a:solidFill>
                            <a:srgbClr val="FF0000"/>
                          </a:solidFill>
                        </a:rPr>
                        <a:t>0.038  </a:t>
                      </a:r>
                      <a:endParaRPr lang="en-US" sz="1200">
                        <a:solidFill>
                          <a:srgbClr val="FF0000"/>
                        </a:solidFill>
                        <a:latin typeface="Calibri"/>
                      </a:endParaRPr>
                    </a:p>
                  </a:txBody>
                  <a:tcPr marL="85721" marR="85721" marT="38096" marB="38096" anchor="b"/>
                </a:tc>
                <a:extLst>
                  <a:ext uri="{0D108BD9-81ED-4DB2-BD59-A6C34878D82A}">
                    <a16:rowId xmlns:a16="http://schemas.microsoft.com/office/drawing/2014/main" val="10007"/>
                  </a:ext>
                </a:extLst>
              </a:tr>
              <a:tr h="222687">
                <a:tc gridSpan="7">
                  <a:txBody>
                    <a:bodyPr/>
                    <a:lstStyle/>
                    <a:p>
                      <a:pPr lvl="0" rtl="0" fontAlgn="auto">
                        <a:lnSpc>
                          <a:spcPts val="1135"/>
                        </a:lnSpc>
                      </a:pPr>
                      <a:r>
                        <a:rPr lang="en-US" sz="1200" b="0">
                          <a:solidFill>
                            <a:srgbClr val="000000"/>
                          </a:solidFill>
                        </a:rPr>
                        <a:t>Future Severity  </a:t>
                      </a:r>
                      <a:endParaRPr lang="en-US" sz="1200" b="0">
                        <a:solidFill>
                          <a:srgbClr val="000000"/>
                        </a:solidFill>
                        <a:latin typeface="Calibri"/>
                      </a:endParaRPr>
                    </a:p>
                  </a:txBody>
                  <a:tcPr marL="85721" marR="85721" marT="38096" marB="38096" anchor="b"/>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8"/>
                  </a:ext>
                </a:extLst>
              </a:tr>
              <a:tr h="513101">
                <a:tc>
                  <a:txBody>
                    <a:bodyPr/>
                    <a:lstStyle/>
                    <a:p>
                      <a:pPr lvl="0" rtl="0" fontAlgn="auto">
                        <a:lnSpc>
                          <a:spcPts val="1135"/>
                        </a:lnSpc>
                      </a:pPr>
                      <a:r>
                        <a:rPr lang="en-US" sz="1200">
                          <a:solidFill>
                            <a:srgbClr val="FF0000"/>
                          </a:solidFill>
                        </a:rPr>
                        <a:t>Surgery Performed  </a:t>
                      </a:r>
                    </a:p>
                    <a:p>
                      <a:pPr lvl="0" algn="ctr" rtl="0" fontAlgn="auto">
                        <a:lnSpc>
                          <a:spcPts val="1135"/>
                        </a:lnSpc>
                      </a:pPr>
                      <a:r>
                        <a:rPr lang="en-US" sz="1200">
                          <a:solidFill>
                            <a:srgbClr val="FF0000"/>
                          </a:solidFill>
                        </a:rPr>
                        <a:t>Yes  </a:t>
                      </a:r>
                    </a:p>
                    <a:p>
                      <a:pPr lvl="0" algn="ctr" rtl="0" fontAlgn="auto">
                        <a:lnSpc>
                          <a:spcPts val="1135"/>
                        </a:lnSpc>
                      </a:pPr>
                      <a:r>
                        <a:rPr lang="en-US" sz="1200">
                          <a:solidFill>
                            <a:srgbClr val="FF0000"/>
                          </a:solidFill>
                        </a:rPr>
                        <a:t>No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a:solidFill>
                            <a:srgbClr val="FF0000"/>
                          </a:solidFill>
                        </a:rPr>
                        <a:t>11 (25.58)  </a:t>
                      </a:r>
                    </a:p>
                    <a:p>
                      <a:pPr lvl="0" algn="ctr" rtl="0" fontAlgn="auto">
                        <a:lnSpc>
                          <a:spcPts val="1135"/>
                        </a:lnSpc>
                      </a:pPr>
                      <a:r>
                        <a:rPr lang="en-US" sz="1200">
                          <a:solidFill>
                            <a:srgbClr val="FF0000"/>
                          </a:solidFill>
                        </a:rPr>
                        <a:t>32 (74.42)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a:solidFill>
                            <a:srgbClr val="FF0000"/>
                          </a:solidFill>
                        </a:rPr>
                        <a:t>11 (7.80)  </a:t>
                      </a:r>
                    </a:p>
                    <a:p>
                      <a:pPr lvl="0" algn="ctr" rtl="0" fontAlgn="auto">
                        <a:lnSpc>
                          <a:spcPts val="1135"/>
                        </a:lnSpc>
                      </a:pPr>
                      <a:r>
                        <a:rPr lang="en-US" sz="1200">
                          <a:solidFill>
                            <a:srgbClr val="FF0000"/>
                          </a:solidFill>
                        </a:rPr>
                        <a:t>130 (92.20)  </a:t>
                      </a:r>
                      <a:endParaRPr lang="en-US" sz="1200">
                        <a:solidFill>
                          <a:srgbClr val="FF0000"/>
                        </a:solidFill>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4.02  </a:t>
                      </a:r>
                      <a:endParaRPr lang="en-US" sz="1200" b="1">
                        <a:solidFill>
                          <a:srgbClr val="FF0000"/>
                        </a:solidFill>
                        <a:latin typeface="Calibri"/>
                      </a:endParaRPr>
                    </a:p>
                  </a:txBody>
                  <a:tcPr marL="85721" marR="85721" marT="38096" marB="38096" anchor="b"/>
                </a:tc>
                <a:tc>
                  <a:txBody>
                    <a:bodyPr/>
                    <a:lstStyle/>
                    <a:p>
                      <a:pPr lvl="0" algn="ctr" rtl="0" fontAlgn="auto">
                        <a:lnSpc>
                          <a:spcPts val="1135"/>
                        </a:lnSpc>
                      </a:pPr>
                      <a:r>
                        <a:rPr lang="en-US" sz="1200">
                          <a:solidFill>
                            <a:srgbClr val="FF0000"/>
                          </a:solidFill>
                        </a:rPr>
                        <a:t>1.44, 11.28 </a:t>
                      </a:r>
                      <a:endParaRPr lang="en-US" sz="1200">
                        <a:solidFill>
                          <a:srgbClr val="FF0000"/>
                        </a:solidFill>
                        <a:latin typeface="Calibri"/>
                      </a:endParaRPr>
                    </a:p>
                  </a:txBody>
                  <a:tcPr marL="85721" marR="85721" marT="38096" marB="38096" anchor="b"/>
                </a:tc>
                <a:tc gridSpan="2">
                  <a:txBody>
                    <a:bodyPr/>
                    <a:lstStyle/>
                    <a:p>
                      <a:pPr lvl="0" algn="ctr" rtl="0" fontAlgn="auto">
                        <a:lnSpc>
                          <a:spcPts val="1135"/>
                        </a:lnSpc>
                      </a:pPr>
                      <a:r>
                        <a:rPr lang="en-US" sz="1200" dirty="0">
                          <a:solidFill>
                            <a:srgbClr val="FF0000"/>
                          </a:solidFill>
                        </a:rPr>
                        <a:t>0.0052 </a:t>
                      </a:r>
                      <a:endParaRPr lang="en-US" sz="1200" dirty="0">
                        <a:solidFill>
                          <a:srgbClr val="FF0000"/>
                        </a:solidFill>
                        <a:latin typeface="Calibri"/>
                      </a:endParaRPr>
                    </a:p>
                  </a:txBody>
                  <a:tcPr marL="85721" marR="85721" marT="38096" marB="38096" anchor="b"/>
                </a:tc>
                <a:tc hMerge="1">
                  <a:txBody>
                    <a:bodyPr/>
                    <a:lstStyle/>
                    <a:p>
                      <a:endParaRPr lang="en-GB"/>
                    </a:p>
                  </a:txBody>
                  <a:tcPr/>
                </a:tc>
                <a:extLst>
                  <a:ext uri="{0D108BD9-81ED-4DB2-BD59-A6C34878D82A}">
                    <a16:rowId xmlns:a16="http://schemas.microsoft.com/office/drawing/2014/main" val="10009"/>
                  </a:ext>
                </a:extLst>
              </a:tr>
              <a:tr h="222687">
                <a:tc>
                  <a:txBody>
                    <a:bodyPr/>
                    <a:lstStyle/>
                    <a:p>
                      <a:pPr lvl="0" rtl="0" fontAlgn="auto">
                        <a:lnSpc>
                          <a:spcPts val="1135"/>
                        </a:lnSpc>
                      </a:pPr>
                      <a:r>
                        <a:rPr lang="en-US" sz="1200"/>
                        <a:t>Transfer to the PICU </a:t>
                      </a:r>
                      <a:endParaRPr lang="en-US" sz="1200">
                        <a:latin typeface="Calibri"/>
                      </a:endParaRPr>
                    </a:p>
                  </a:txBody>
                  <a:tcPr marL="85721" marR="85721" marT="38096" marB="38096" anchor="b"/>
                </a:tc>
                <a:tc>
                  <a:txBody>
                    <a:bodyPr/>
                    <a:lstStyle/>
                    <a:p>
                      <a:pPr lvl="0" algn="ctr" rtl="0" fontAlgn="auto">
                        <a:lnSpc>
                          <a:spcPts val="1135"/>
                        </a:lnSpc>
                      </a:pPr>
                      <a:endParaRPr lang="en-US" sz="1200">
                        <a:latin typeface="Calibri"/>
                      </a:endParaRPr>
                    </a:p>
                  </a:txBody>
                  <a:tcPr marL="85721" marR="85721" marT="38096" marB="38096" anchor="b"/>
                </a:tc>
                <a:tc>
                  <a:txBody>
                    <a:bodyPr/>
                    <a:lstStyle/>
                    <a:p>
                      <a:pPr lvl="0" algn="ctr" rtl="0" fontAlgn="auto">
                        <a:lnSpc>
                          <a:spcPts val="1135"/>
                        </a:lnSpc>
                      </a:pPr>
                      <a:endParaRPr lang="en-US" sz="1200">
                        <a:latin typeface="Calibri"/>
                      </a:endParaRPr>
                    </a:p>
                  </a:txBody>
                  <a:tcPr marL="85721" marR="85721" marT="38096" marB="38096" anchor="b"/>
                </a:tc>
                <a:tc>
                  <a:txBody>
                    <a:bodyPr/>
                    <a:lstStyle/>
                    <a:p>
                      <a:pPr lvl="0" algn="ctr" rtl="0" fontAlgn="auto">
                        <a:lnSpc>
                          <a:spcPts val="1135"/>
                        </a:lnSpc>
                      </a:pPr>
                      <a:endParaRPr lang="en-US" sz="1200" b="1">
                        <a:solidFill>
                          <a:srgbClr val="FF0000"/>
                        </a:solidFill>
                        <a:latin typeface="Calibri"/>
                      </a:endParaRPr>
                    </a:p>
                  </a:txBody>
                  <a:tcPr marL="85721" marR="85721" marT="38096" marB="38096" anchor="b"/>
                </a:tc>
                <a:tc>
                  <a:txBody>
                    <a:bodyPr/>
                    <a:lstStyle/>
                    <a:p>
                      <a:pPr lvl="0" algn="ctr" rtl="0" fontAlgn="auto">
                        <a:lnSpc>
                          <a:spcPts val="1135"/>
                        </a:lnSpc>
                      </a:pPr>
                      <a:endParaRPr lang="en-US" sz="1200">
                        <a:latin typeface="Calibri"/>
                      </a:endParaRPr>
                    </a:p>
                  </a:txBody>
                  <a:tcPr marL="85721" marR="85721" marT="38096" marB="38096" anchor="b"/>
                </a:tc>
                <a:tc gridSpan="2">
                  <a:txBody>
                    <a:bodyPr/>
                    <a:lstStyle/>
                    <a:p>
                      <a:pPr lvl="0" algn="ctr" rtl="0" fontAlgn="auto">
                        <a:lnSpc>
                          <a:spcPts val="1135"/>
                        </a:lnSpc>
                      </a:pPr>
                      <a:endParaRPr lang="en-US" sz="1200" dirty="0">
                        <a:latin typeface="Calibri"/>
                      </a:endParaRPr>
                    </a:p>
                  </a:txBody>
                  <a:tcPr marL="85721" marR="85721" marT="38096" marB="38096" anchor="b"/>
                </a:tc>
                <a:tc hMerge="1">
                  <a:txBody>
                    <a:bodyPr/>
                    <a:lstStyle/>
                    <a:p>
                      <a:endParaRPr lang="en-GB"/>
                    </a:p>
                  </a:txBody>
                  <a:tcPr/>
                </a:tc>
                <a:extLst>
                  <a:ext uri="{0D108BD9-81ED-4DB2-BD59-A6C34878D82A}">
                    <a16:rowId xmlns:a16="http://schemas.microsoft.com/office/drawing/2014/main" val="10010"/>
                  </a:ext>
                </a:extLst>
              </a:tr>
              <a:tr h="368791">
                <a:tc>
                  <a:txBody>
                    <a:bodyPr/>
                    <a:lstStyle/>
                    <a:p>
                      <a:pPr lvl="0" algn="ctr" rtl="0" fontAlgn="auto">
                        <a:lnSpc>
                          <a:spcPts val="1135"/>
                        </a:lnSpc>
                      </a:pPr>
                      <a:r>
                        <a:rPr lang="en-US" sz="1200"/>
                        <a:t>Yes </a:t>
                      </a:r>
                    </a:p>
                    <a:p>
                      <a:pPr lvl="0" algn="ctr" rtl="0" fontAlgn="auto">
                        <a:lnSpc>
                          <a:spcPts val="1135"/>
                        </a:lnSpc>
                      </a:pPr>
                      <a:r>
                        <a:rPr lang="en-US" sz="1200"/>
                        <a:t>No </a:t>
                      </a:r>
                      <a:endParaRPr lang="en-US" sz="1200">
                        <a:latin typeface="Calibri"/>
                      </a:endParaRPr>
                    </a:p>
                  </a:txBody>
                  <a:tcPr marL="85721" marR="85721" marT="38096" marB="38096" anchor="b"/>
                </a:tc>
                <a:tc>
                  <a:txBody>
                    <a:bodyPr/>
                    <a:lstStyle/>
                    <a:p>
                      <a:pPr lvl="0" algn="ctr" rtl="0" fontAlgn="auto">
                        <a:lnSpc>
                          <a:spcPts val="1135"/>
                        </a:lnSpc>
                      </a:pPr>
                      <a:r>
                        <a:rPr lang="en-US" sz="1200"/>
                        <a:t>4 (9.30) </a:t>
                      </a:r>
                    </a:p>
                    <a:p>
                      <a:pPr lvl="0" algn="ctr" rtl="0" fontAlgn="auto">
                        <a:lnSpc>
                          <a:spcPts val="1135"/>
                        </a:lnSpc>
                      </a:pPr>
                      <a:r>
                        <a:rPr lang="en-US" sz="1200"/>
                        <a:t>39 (90.70) </a:t>
                      </a:r>
                      <a:endParaRPr lang="en-US" sz="1200">
                        <a:latin typeface="Calibri"/>
                      </a:endParaRPr>
                    </a:p>
                  </a:txBody>
                  <a:tcPr marL="85721" marR="85721" marT="38096" marB="38096" anchor="b"/>
                </a:tc>
                <a:tc>
                  <a:txBody>
                    <a:bodyPr/>
                    <a:lstStyle/>
                    <a:p>
                      <a:pPr lvl="0" algn="ctr" rtl="0" fontAlgn="auto">
                        <a:lnSpc>
                          <a:spcPts val="1135"/>
                        </a:lnSpc>
                      </a:pPr>
                      <a:r>
                        <a:rPr lang="en-US" sz="1200"/>
                        <a:t>3 (2.13) </a:t>
                      </a:r>
                    </a:p>
                    <a:p>
                      <a:pPr lvl="0" algn="ctr" rtl="0" fontAlgn="auto">
                        <a:lnSpc>
                          <a:spcPts val="1135"/>
                        </a:lnSpc>
                      </a:pPr>
                      <a:r>
                        <a:rPr lang="en-US" sz="1200"/>
                        <a:t>138 (97.87) </a:t>
                      </a:r>
                      <a:endParaRPr lang="en-US" sz="1200">
                        <a:latin typeface="Calibri"/>
                      </a:endParaRPr>
                    </a:p>
                  </a:txBody>
                  <a:tcPr marL="85721" marR="85721" marT="38096" marB="38096" anchor="b"/>
                </a:tc>
                <a:tc>
                  <a:txBody>
                    <a:bodyPr/>
                    <a:lstStyle/>
                    <a:p>
                      <a:pPr lvl="0" algn="ctr" rtl="0" fontAlgn="auto">
                        <a:lnSpc>
                          <a:spcPts val="1135"/>
                        </a:lnSpc>
                      </a:pPr>
                      <a:r>
                        <a:rPr lang="en-US" sz="1200" b="1">
                          <a:solidFill>
                            <a:srgbClr val="FF0000"/>
                          </a:solidFill>
                        </a:rPr>
                        <a:t>4.67 </a:t>
                      </a:r>
                      <a:endParaRPr lang="en-US" sz="1200" b="1">
                        <a:solidFill>
                          <a:srgbClr val="FF0000"/>
                        </a:solidFill>
                        <a:latin typeface="Calibri"/>
                      </a:endParaRPr>
                    </a:p>
                  </a:txBody>
                  <a:tcPr marL="85721" marR="85721" marT="38096" marB="38096" anchor="b"/>
                </a:tc>
                <a:tc>
                  <a:txBody>
                    <a:bodyPr/>
                    <a:lstStyle/>
                    <a:p>
                      <a:pPr lvl="0" algn="ctr" rtl="0" fontAlgn="auto">
                        <a:lnSpc>
                          <a:spcPts val="1135"/>
                        </a:lnSpc>
                      </a:pPr>
                      <a:r>
                        <a:rPr lang="en-US" sz="1200"/>
                        <a:t>0.76, 33.18 </a:t>
                      </a:r>
                      <a:endParaRPr lang="en-US" sz="1200">
                        <a:latin typeface="Calibri"/>
                      </a:endParaRPr>
                    </a:p>
                  </a:txBody>
                  <a:tcPr marL="85721" marR="85721" marT="38096" marB="38096" anchor="b"/>
                </a:tc>
                <a:tc gridSpan="2">
                  <a:txBody>
                    <a:bodyPr/>
                    <a:lstStyle/>
                    <a:p>
                      <a:pPr lvl="0" algn="ctr" rtl="0" fontAlgn="auto">
                        <a:lnSpc>
                          <a:spcPts val="1135"/>
                        </a:lnSpc>
                      </a:pPr>
                      <a:r>
                        <a:rPr lang="en-US" sz="1200" dirty="0"/>
                        <a:t>0.053 </a:t>
                      </a:r>
                      <a:endParaRPr lang="en-US" sz="1200" dirty="0">
                        <a:latin typeface="Calibri"/>
                      </a:endParaRPr>
                    </a:p>
                  </a:txBody>
                  <a:tcPr marL="85721" marR="85721" marT="38096" marB="38096" anchor="b"/>
                </a:tc>
                <a:tc hMerge="1">
                  <a:txBody>
                    <a:bodyPr/>
                    <a:lstStyle/>
                    <a:p>
                      <a:endParaRPr lang="en-GB"/>
                    </a:p>
                  </a:txBody>
                  <a:tcPr/>
                </a:tc>
                <a:extLst>
                  <a:ext uri="{0D108BD9-81ED-4DB2-BD59-A6C34878D82A}">
                    <a16:rowId xmlns:a16="http://schemas.microsoft.com/office/drawing/2014/main" val="10011"/>
                  </a:ext>
                </a:extLst>
              </a:tr>
            </a:tbl>
          </a:graphicData>
        </a:graphic>
      </p:graphicFrame>
      <p:sp>
        <p:nvSpPr>
          <p:cNvPr id="28738" name="Slide Number Placeholder 9">
            <a:extLst>
              <a:ext uri="{FF2B5EF4-FFF2-40B4-BE49-F238E27FC236}">
                <a16:creationId xmlns:a16="http://schemas.microsoft.com/office/drawing/2014/main" id="{90E02755-E7AD-9865-7332-9F0FDE98B9E0}"/>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FBEA3288-4FE9-465F-94BA-49803ACEAF16}" type="slidenum">
              <a:rPr lang="en-US" altLang="en-US" sz="1200">
                <a:solidFill>
                  <a:srgbClr val="767676"/>
                </a:solidFill>
              </a:rPr>
              <a:pPr algn="r" eaLnBrk="1" hangingPunct="1">
                <a:lnSpc>
                  <a:spcPct val="100000"/>
                </a:lnSpc>
                <a:spcBef>
                  <a:spcPct val="0"/>
                </a:spcBef>
                <a:buSzTx/>
                <a:buFontTx/>
                <a:buNone/>
              </a:pPr>
              <a:t>17</a:t>
            </a:fld>
            <a:endParaRPr lang="en-US" altLang="en-US" sz="1200">
              <a:solidFill>
                <a:srgbClr val="767676"/>
              </a:solidFill>
            </a:endParaRPr>
          </a:p>
        </p:txBody>
      </p:sp>
      <p:sp>
        <p:nvSpPr>
          <p:cNvPr id="28739" name="Title 1">
            <a:extLst>
              <a:ext uri="{FF2B5EF4-FFF2-40B4-BE49-F238E27FC236}">
                <a16:creationId xmlns:a16="http://schemas.microsoft.com/office/drawing/2014/main" id="{70110ABC-B793-FF05-CF28-F90B94E3C469}"/>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Results</a:t>
            </a:r>
            <a:endParaRPr lang="en-GB" altLang="en-US" sz="4400">
              <a:latin typeface="Aptos Display" panose="020B0004020202020204" pitchFamily="34"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name="Slide527">
    <p:spTree>
      <p:nvGrpSpPr>
        <p:cNvPr id="1" name=""/>
        <p:cNvGrpSpPr/>
        <p:nvPr/>
      </p:nvGrpSpPr>
      <p:grpSpPr>
        <a:xfrm>
          <a:off x="0" y="0"/>
          <a:ext cx="0" cy="0"/>
          <a:chOff x="0" y="0"/>
          <a:chExt cx="0" cy="0"/>
        </a:xfrm>
      </p:grpSpPr>
      <p:pic>
        <p:nvPicPr>
          <p:cNvPr id="29698" name="Picture 3" descr="A graph with black dots&#10;&#10;Description automatically generated">
            <a:extLst>
              <a:ext uri="{FF2B5EF4-FFF2-40B4-BE49-F238E27FC236}">
                <a16:creationId xmlns:a16="http://schemas.microsoft.com/office/drawing/2014/main" id="{39DC37F0-6EB2-B374-3551-C4BCD2997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7775" y="1158875"/>
            <a:ext cx="3687763"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itle 1">
            <a:extLst>
              <a:ext uri="{FF2B5EF4-FFF2-40B4-BE49-F238E27FC236}">
                <a16:creationId xmlns:a16="http://schemas.microsoft.com/office/drawing/2014/main" id="{E64B1BC8-E9A6-007F-A81F-6E7109851634}"/>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Results</a:t>
            </a:r>
            <a:endParaRPr lang="en-GB" altLang="en-US" sz="4400">
              <a:latin typeface="Aptos Display" panose="020B0004020202020204" pitchFamily="34" charset="0"/>
            </a:endParaRPr>
          </a:p>
        </p:txBody>
      </p:sp>
      <p:sp>
        <p:nvSpPr>
          <p:cNvPr id="2" name="TextBox 1">
            <a:extLst>
              <a:ext uri="{FF2B5EF4-FFF2-40B4-BE49-F238E27FC236}">
                <a16:creationId xmlns:a16="http://schemas.microsoft.com/office/drawing/2014/main" id="{D0717479-7DCC-46E1-F776-46FDC237208F}"/>
              </a:ext>
            </a:extLst>
          </p:cNvPr>
          <p:cNvSpPr txBox="1">
            <a:spLocks noChangeArrowheads="1"/>
          </p:cNvSpPr>
          <p:nvPr/>
        </p:nvSpPr>
        <p:spPr bwMode="auto">
          <a:xfrm>
            <a:off x="6376988" y="1168400"/>
            <a:ext cx="4940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nSpc>
                <a:spcPct val="100000"/>
              </a:lnSpc>
              <a:spcBef>
                <a:spcPct val="0"/>
              </a:spcBef>
              <a:buSzTx/>
              <a:buFontTx/>
              <a:buNone/>
            </a:pPr>
            <a:r>
              <a:rPr lang="en-GB" altLang="en-US" sz="1800">
                <a:solidFill>
                  <a:schemeClr val="tx1"/>
                </a:solidFill>
              </a:rPr>
              <a:t>Therefore, we </a:t>
            </a:r>
            <a:r>
              <a:rPr lang="en-GB" altLang="en-US" sz="1800" b="1">
                <a:solidFill>
                  <a:srgbClr val="FF0000"/>
                </a:solidFill>
              </a:rPr>
              <a:t>demonstrated proof of principle </a:t>
            </a:r>
            <a:r>
              <a:rPr lang="en-GB" altLang="en-US" sz="1800">
                <a:solidFill>
                  <a:schemeClr val="tx1"/>
                </a:solidFill>
              </a:rPr>
              <a:t>that VeloCD can capture the relationship between predictions and future disease severity….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5B8905F-811B-6B64-54B0-68DBBF6EB401}"/>
              </a:ext>
            </a:extLst>
          </p:cNvPr>
          <p:cNvSpPr txBox="1">
            <a:spLocks noGrp="1" noChangeArrowheads="1"/>
          </p:cNvSpPr>
          <p:nvPr>
            <p:ph type="title"/>
          </p:nvPr>
        </p:nvSpPr>
        <p:spPr>
          <a:xfrm>
            <a:off x="591093" y="455373"/>
            <a:ext cx="11462663" cy="1262933"/>
          </a:xfrm>
        </p:spPr>
        <p:txBody>
          <a:bodyPr/>
          <a:lstStyle/>
          <a:p>
            <a:r>
              <a:rPr lang="en-GB" altLang="en-US" sz="3800"/>
              <a:t>This is just a "proof of principle" of a complex </a:t>
            </a:r>
            <a:r>
              <a:rPr lang="en-GB" altLang="en-US" sz="3800" dirty="0"/>
              <a:t>algorithm</a:t>
            </a:r>
          </a:p>
        </p:txBody>
      </p:sp>
      <p:sp>
        <p:nvSpPr>
          <p:cNvPr id="30723" name="Content Placeholder 2">
            <a:extLst>
              <a:ext uri="{FF2B5EF4-FFF2-40B4-BE49-F238E27FC236}">
                <a16:creationId xmlns:a16="http://schemas.microsoft.com/office/drawing/2014/main" id="{A8775E36-7B44-B6D5-1107-209EAB1865FF}"/>
              </a:ext>
            </a:extLst>
          </p:cNvPr>
          <p:cNvSpPr txBox="1">
            <a:spLocks noGrp="1" noChangeArrowheads="1"/>
          </p:cNvSpPr>
          <p:nvPr>
            <p:ph idx="1"/>
          </p:nvPr>
        </p:nvSpPr>
        <p:spPr>
          <a:xfrm>
            <a:off x="694759" y="1717262"/>
            <a:ext cx="5513105" cy="4351337"/>
          </a:xfrm>
        </p:spPr>
        <p:txBody>
          <a:bodyPr/>
          <a:lstStyle/>
          <a:p>
            <a:r>
              <a:rPr lang="en-GB" altLang="en-US" sz="2400" dirty="0"/>
              <a:t>What is proof of </a:t>
            </a:r>
            <a:r>
              <a:rPr lang="en-GB" altLang="en-US" sz="2400"/>
              <a:t>principle? </a:t>
            </a:r>
            <a:endParaRPr lang="en-GB" altLang="en-US" sz="2400" dirty="0"/>
          </a:p>
          <a:p>
            <a:r>
              <a:rPr lang="en-GB" altLang="en-US" sz="2400"/>
              <a:t>What comes next?</a:t>
            </a:r>
            <a:endParaRPr lang="en-GB" altLang="en-US" sz="2400" dirty="0"/>
          </a:p>
          <a:p>
            <a:r>
              <a:rPr lang="en-GB" altLang="en-US" sz="2400" dirty="0"/>
              <a:t>During algorithm development, I  found many potential </a:t>
            </a:r>
            <a:r>
              <a:rPr lang="en-GB" altLang="en-US" sz="2400" strike="sngStrike">
                <a:solidFill>
                  <a:srgbClr val="FF0000"/>
                </a:solidFill>
              </a:rPr>
              <a:t>pitfalls</a:t>
            </a:r>
            <a:r>
              <a:rPr lang="en-GB" altLang="en-US" sz="2400" dirty="0">
                <a:solidFill>
                  <a:schemeClr val="tx1"/>
                </a:solidFill>
              </a:rPr>
              <a:t> </a:t>
            </a:r>
            <a:r>
              <a:rPr lang="en-GB" altLang="en-US" sz="2400"/>
              <a:t>areas</a:t>
            </a:r>
            <a:r>
              <a:rPr lang="en-GB" altLang="en-US" sz="2400" dirty="0"/>
              <a:t> of future improvement:</a:t>
            </a:r>
            <a:endParaRPr lang="en-GB" sz="2400"/>
          </a:p>
          <a:p>
            <a:pPr>
              <a:buFontTx/>
              <a:buChar char="-"/>
            </a:pPr>
            <a:r>
              <a:rPr lang="en-GB" altLang="en-US" sz="2400"/>
              <a:t>Choice of hyperparameters (NN, TPNN)</a:t>
            </a:r>
            <a:endParaRPr lang="en-GB" altLang="en-US" sz="2400" dirty="0"/>
          </a:p>
          <a:p>
            <a:pPr>
              <a:buFontTx/>
              <a:buChar char="-"/>
            </a:pPr>
            <a:r>
              <a:rPr lang="en-GB" altLang="en-US" sz="2400" dirty="0"/>
              <a:t>Choice of low-dimensional embedding methodology</a:t>
            </a:r>
            <a:endParaRPr lang="en-GB" altLang="en-US" sz="2400"/>
          </a:p>
          <a:p>
            <a:pPr>
              <a:buFontTx/>
              <a:buChar char="-"/>
            </a:pPr>
            <a:r>
              <a:rPr lang="en-GB" altLang="en-US" sz="2400" dirty="0"/>
              <a:t>Inherent stochasticity in </a:t>
            </a:r>
            <a:r>
              <a:rPr lang="en-GB" altLang="en-US" sz="2400" dirty="0" err="1"/>
              <a:t>tSNE</a:t>
            </a:r>
            <a:r>
              <a:rPr lang="en-GB" altLang="en-US" sz="2400" dirty="0"/>
              <a:t> and UMAP</a:t>
            </a:r>
          </a:p>
          <a:p>
            <a:pPr>
              <a:buFontTx/>
              <a:buChar char="-"/>
            </a:pPr>
            <a:endParaRPr lang="en-GB" altLang="en-US">
              <a:latin typeface="Aptos" panose="020B0004020202020204" pitchFamily="34" charset="0"/>
            </a:endParaRPr>
          </a:p>
          <a:p>
            <a:pPr>
              <a:buFontTx/>
              <a:buChar char="-"/>
            </a:pPr>
            <a:endParaRPr lang="en-GB" altLang="en-US">
              <a:latin typeface="Aptos" panose="020B0004020202020204" pitchFamily="34" charset="0"/>
            </a:endParaRPr>
          </a:p>
        </p:txBody>
      </p:sp>
      <p:pic>
        <p:nvPicPr>
          <p:cNvPr id="30724" name="Picture 5" descr="A group of colored dots&#10;&#10;AI-generated content may be incorrect.">
            <a:extLst>
              <a:ext uri="{FF2B5EF4-FFF2-40B4-BE49-F238E27FC236}">
                <a16:creationId xmlns:a16="http://schemas.microsoft.com/office/drawing/2014/main" id="{83E2BCFD-D5E7-CC44-EF8C-B6B2FF9DD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8889" y="3586315"/>
            <a:ext cx="5008301" cy="228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E13D22B-A5DA-5E66-0812-8683A52D0CCE}"/>
              </a:ext>
            </a:extLst>
          </p:cNvPr>
          <p:cNvSpPr txBox="1">
            <a:spLocks noGrp="1" noChangeArrowheads="1"/>
          </p:cNvSpPr>
          <p:nvPr>
            <p:ph type="title"/>
          </p:nvPr>
        </p:nvSpPr>
        <p:spPr/>
        <p:txBody>
          <a:bodyPr/>
          <a:lstStyle/>
          <a:p>
            <a:r>
              <a:rPr lang="en-GB" altLang="en-US" dirty="0"/>
              <a:t>How should we handle this?</a:t>
            </a:r>
          </a:p>
        </p:txBody>
      </p:sp>
      <p:sp>
        <p:nvSpPr>
          <p:cNvPr id="31747" name="Content Placeholder 2">
            <a:extLst>
              <a:ext uri="{FF2B5EF4-FFF2-40B4-BE49-F238E27FC236}">
                <a16:creationId xmlns:a16="http://schemas.microsoft.com/office/drawing/2014/main" id="{85A6D323-9470-8255-97E3-BC003A199F58}"/>
              </a:ext>
            </a:extLst>
          </p:cNvPr>
          <p:cNvSpPr txBox="1">
            <a:spLocks noGrp="1" noChangeArrowheads="1"/>
          </p:cNvSpPr>
          <p:nvPr>
            <p:ph idx="1"/>
          </p:nvPr>
        </p:nvSpPr>
        <p:spPr>
          <a:xfrm>
            <a:off x="838200" y="1689926"/>
            <a:ext cx="10839189" cy="4351338"/>
          </a:xfrm>
        </p:spPr>
        <p:txBody>
          <a:bodyPr/>
          <a:lstStyle/>
          <a:p>
            <a:r>
              <a:rPr lang="en-GB" altLang="en-US" sz="2600"/>
              <a:t>Full transparency in the values used, the full range explored and an exploration of how the performance varies between hyperparameter values </a:t>
            </a:r>
            <a:endParaRPr lang="en-GB" altLang="en-US" sz="2600" dirty="0"/>
          </a:p>
          <a:p>
            <a:r>
              <a:rPr lang="en-GB" altLang="en-US" sz="2600" dirty="0"/>
              <a:t>Some kind of median between </a:t>
            </a:r>
            <a:r>
              <a:rPr lang="en-GB" altLang="en-US" sz="2600" dirty="0" err="1"/>
              <a:t>tSNE</a:t>
            </a:r>
            <a:r>
              <a:rPr lang="en-GB" altLang="en-US" sz="2600" dirty="0"/>
              <a:t> and UMAP generations?</a:t>
            </a:r>
          </a:p>
        </p:txBody>
      </p:sp>
      <p:pic>
        <p:nvPicPr>
          <p:cNvPr id="31748" name="Picture 4" descr="A graph with black dots&#10;&#10;AI-generated content may be incorrect.">
            <a:extLst>
              <a:ext uri="{FF2B5EF4-FFF2-40B4-BE49-F238E27FC236}">
                <a16:creationId xmlns:a16="http://schemas.microsoft.com/office/drawing/2014/main" id="{34E4E3B0-875B-84AF-884A-24A4BF6A9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9659" y="3431218"/>
            <a:ext cx="4288120" cy="305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DDDF35D4-F15E-C50A-B684-5A91D23CD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254125"/>
            <a:ext cx="10091738"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3E75F14-BD21-0551-D629-6729F1E7DD95}"/>
              </a:ext>
            </a:extLst>
          </p:cNvPr>
          <p:cNvSpPr txBox="1"/>
          <p:nvPr/>
        </p:nvSpPr>
        <p:spPr>
          <a:xfrm>
            <a:off x="330283" y="372036"/>
            <a:ext cx="9915195"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500">
                <a:latin typeface="Aptos"/>
              </a:rPr>
              <a:t>How many reference samples? what are the best reference samples?</a:t>
            </a:r>
            <a:endParaRPr lang="en-GB" sz="2500"/>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duction to Genetic Algorithms">
            <a:extLst>
              <a:ext uri="{FF2B5EF4-FFF2-40B4-BE49-F238E27FC236}">
                <a16:creationId xmlns:a16="http://schemas.microsoft.com/office/drawing/2014/main" id="{C5DA4141-DD94-07A2-1886-9E89A2454304}"/>
              </a:ext>
            </a:extLst>
          </p:cNvPr>
          <p:cNvPicPr>
            <a:picLocks noChangeAspect="1"/>
          </p:cNvPicPr>
          <p:nvPr/>
        </p:nvPicPr>
        <p:blipFill>
          <a:blip r:embed="rId2"/>
          <a:srcRect t="15560" r="4355" b="207"/>
          <a:stretch>
            <a:fillRect/>
          </a:stretch>
        </p:blipFill>
        <p:spPr>
          <a:xfrm>
            <a:off x="2590992" y="1391836"/>
            <a:ext cx="7004143" cy="4607500"/>
          </a:xfrm>
          <a:prstGeom prst="rect">
            <a:avLst/>
          </a:prstGeom>
        </p:spPr>
      </p:pic>
      <p:sp>
        <p:nvSpPr>
          <p:cNvPr id="5" name="TextBox 4">
            <a:extLst>
              <a:ext uri="{FF2B5EF4-FFF2-40B4-BE49-F238E27FC236}">
                <a16:creationId xmlns:a16="http://schemas.microsoft.com/office/drawing/2014/main" id="{48A40927-3373-09FC-682A-4D28AA601AA8}"/>
              </a:ext>
            </a:extLst>
          </p:cNvPr>
          <p:cNvSpPr txBox="1"/>
          <p:nvPr/>
        </p:nvSpPr>
        <p:spPr>
          <a:xfrm>
            <a:off x="387354" y="438893"/>
            <a:ext cx="922308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dirty="0">
                <a:latin typeface="Aptos"/>
              </a:rPr>
              <a:t>Genetic algorithms to optimize hyperparameter selection</a:t>
            </a:r>
            <a:endParaRPr lang="en-US" sz="2500"/>
          </a:p>
        </p:txBody>
      </p:sp>
    </p:spTree>
    <p:extLst>
      <p:ext uri="{BB962C8B-B14F-4D97-AF65-F5344CB8AC3E}">
        <p14:creationId xmlns:p14="http://schemas.microsoft.com/office/powerpoint/2010/main" val="3601125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descr="A screenshot of a computer&#10;&#10;AI-generated content may be incorrect.">
            <a:extLst>
              <a:ext uri="{FF2B5EF4-FFF2-40B4-BE49-F238E27FC236}">
                <a16:creationId xmlns:a16="http://schemas.microsoft.com/office/drawing/2014/main" id="{55A9BE59-2810-1F10-6487-34BE650D4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13" y="596900"/>
            <a:ext cx="10766425" cy="566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name="Slide526">
    <p:spTree>
      <p:nvGrpSpPr>
        <p:cNvPr id="1" name=""/>
        <p:cNvGrpSpPr/>
        <p:nvPr/>
      </p:nvGrpSpPr>
      <p:grpSpPr>
        <a:xfrm>
          <a:off x="0" y="0"/>
          <a:ext cx="0" cy="0"/>
          <a:chOff x="0" y="0"/>
          <a:chExt cx="0" cy="0"/>
        </a:xfrm>
      </p:grpSpPr>
      <p:sp>
        <p:nvSpPr>
          <p:cNvPr id="35842" name="Slide Number Placeholder 2">
            <a:extLst>
              <a:ext uri="{FF2B5EF4-FFF2-40B4-BE49-F238E27FC236}">
                <a16:creationId xmlns:a16="http://schemas.microsoft.com/office/drawing/2014/main" id="{F19A1A89-B91C-9CA4-BD81-C6F738568489}"/>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8EADD524-9C2A-40A1-B9CF-F2BA0087AC43}" type="slidenum">
              <a:rPr lang="en-US" altLang="en-US" sz="1200">
                <a:solidFill>
                  <a:srgbClr val="767676"/>
                </a:solidFill>
              </a:rPr>
              <a:pPr algn="r" eaLnBrk="1" hangingPunct="1">
                <a:lnSpc>
                  <a:spcPct val="100000"/>
                </a:lnSpc>
                <a:spcBef>
                  <a:spcPct val="0"/>
                </a:spcBef>
                <a:buSzTx/>
                <a:buFontTx/>
                <a:buNone/>
              </a:pPr>
              <a:t>24</a:t>
            </a:fld>
            <a:endParaRPr lang="en-US" altLang="en-US" sz="1200">
              <a:solidFill>
                <a:srgbClr val="767676"/>
              </a:solidFill>
            </a:endParaRPr>
          </a:p>
        </p:txBody>
      </p:sp>
      <p:pic>
        <p:nvPicPr>
          <p:cNvPr id="35843" name="Picture 3" descr="A qr code on a white background&#10;&#10;AI-generated content may be incorrect.">
            <a:extLst>
              <a:ext uri="{FF2B5EF4-FFF2-40B4-BE49-F238E27FC236}">
                <a16:creationId xmlns:a16="http://schemas.microsoft.com/office/drawing/2014/main" id="{504CFFA8-07A9-98CF-CD61-BCA62DD9E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448" b="267"/>
          <a:stretch>
            <a:fillRect/>
          </a:stretch>
        </p:blipFill>
        <p:spPr bwMode="auto">
          <a:xfrm>
            <a:off x="1577944" y="2337744"/>
            <a:ext cx="3497263" cy="358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extBox 3">
            <a:extLst>
              <a:ext uri="{FF2B5EF4-FFF2-40B4-BE49-F238E27FC236}">
                <a16:creationId xmlns:a16="http://schemas.microsoft.com/office/drawing/2014/main" id="{B3436F0B-0357-F469-CBF8-5FE223E5EBE5}"/>
              </a:ext>
            </a:extLst>
          </p:cNvPr>
          <p:cNvSpPr txBox="1">
            <a:spLocks noChangeArrowheads="1"/>
          </p:cNvSpPr>
          <p:nvPr/>
        </p:nvSpPr>
        <p:spPr bwMode="auto">
          <a:xfrm>
            <a:off x="682625" y="1385888"/>
            <a:ext cx="9088438" cy="769937"/>
          </a:xfrm>
          <a:prstGeom prst="rect">
            <a:avLst/>
          </a:prstGeom>
          <a:noFill/>
          <a:ln w="9528">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lIns="91440" tIns="45720" rIns="91440" bIns="45720" anchor="t">
            <a:spAutoFit/>
          </a:bodyP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lnSpc>
                <a:spcPct val="100000"/>
              </a:lnSpc>
              <a:spcBef>
                <a:spcPct val="0"/>
              </a:spcBef>
              <a:buSzTx/>
              <a:buNone/>
            </a:pPr>
            <a:r>
              <a:rPr lang="en-US" altLang="en-US" sz="2200">
                <a:latin typeface="Calibri"/>
                <a:ea typeface="Calibri"/>
                <a:cs typeface="Calibri"/>
              </a:rPr>
              <a:t>After 7.5 long years the preprint is out......and it has been accepted for </a:t>
            </a:r>
            <a:r>
              <a:rPr lang="en-US" altLang="en-US" sz="2200" dirty="0">
                <a:latin typeface="Calibri"/>
                <a:ea typeface="Calibri"/>
                <a:cs typeface="Calibri"/>
              </a:rPr>
              <a:t>publication at Nature Communications</a:t>
            </a:r>
          </a:p>
        </p:txBody>
      </p:sp>
      <p:sp>
        <p:nvSpPr>
          <p:cNvPr id="35845" name="Title 1">
            <a:extLst>
              <a:ext uri="{FF2B5EF4-FFF2-40B4-BE49-F238E27FC236}">
                <a16:creationId xmlns:a16="http://schemas.microsoft.com/office/drawing/2014/main" id="{86C0927E-31CE-98A6-3DF6-F847816305D0}"/>
              </a:ext>
            </a:extLst>
          </p:cNvPr>
          <p:cNvSpPr txBox="1">
            <a:spLocks noChangeArrowheads="1"/>
          </p:cNvSpPr>
          <p:nvPr/>
        </p:nvSpPr>
        <p:spPr bwMode="auto">
          <a:xfrm>
            <a:off x="506413"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The present...</a:t>
            </a:r>
            <a:endParaRPr lang="en-GB" altLang="en-US" sz="4400">
              <a:latin typeface="Aptos Display" panose="020B0004020202020204" pitchFamily="34" charset="0"/>
            </a:endParaRPr>
          </a:p>
        </p:txBody>
      </p:sp>
      <p:pic>
        <p:nvPicPr>
          <p:cNvPr id="2" name="Picture 1" descr="A black text with yellow text&#10;&#10;AI-generated content may be incorrect.">
            <a:extLst>
              <a:ext uri="{FF2B5EF4-FFF2-40B4-BE49-F238E27FC236}">
                <a16:creationId xmlns:a16="http://schemas.microsoft.com/office/drawing/2014/main" id="{AD2C7B04-0E8D-5514-CB00-4B926395E740}"/>
              </a:ext>
            </a:extLst>
          </p:cNvPr>
          <p:cNvPicPr>
            <a:picLocks noChangeAspect="1"/>
          </p:cNvPicPr>
          <p:nvPr/>
        </p:nvPicPr>
        <p:blipFill>
          <a:blip r:embed="rId3"/>
          <a:stretch>
            <a:fillRect/>
          </a:stretch>
        </p:blipFill>
        <p:spPr>
          <a:xfrm>
            <a:off x="5901755" y="2020689"/>
            <a:ext cx="5417788" cy="1148005"/>
          </a:xfrm>
          <a:prstGeom prst="rect">
            <a:avLst/>
          </a:prstGeom>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name="Slide529">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745CA4E9-BF2E-7C6B-E380-BBB46C5CD9D9}"/>
              </a:ext>
            </a:extLst>
          </p:cNvPr>
          <p:cNvSpPr txBox="1">
            <a:spLocks noGrp="1" noChangeArrowheads="1"/>
          </p:cNvSpPr>
          <p:nvPr>
            <p:ph idx="1"/>
          </p:nvPr>
        </p:nvSpPr>
        <p:spPr>
          <a:xfrm>
            <a:off x="739775" y="1627188"/>
            <a:ext cx="10515600" cy="4351337"/>
          </a:xfrm>
        </p:spPr>
        <p:txBody>
          <a:bodyPr/>
          <a:lstStyle/>
          <a:p>
            <a:pPr marL="0" indent="0" eaLnBrk="1" hangingPunct="1">
              <a:buNone/>
            </a:pPr>
            <a:r>
              <a:rPr altLang="en-US" b="1" dirty="0"/>
              <a:t>Immediate:</a:t>
            </a:r>
            <a:r>
              <a:rPr altLang="en-US"/>
              <a:t> </a:t>
            </a:r>
            <a:r>
              <a:rPr lang="en-US" altLang="en-US"/>
              <a:t>further work on its application to sepsis, optimization</a:t>
            </a:r>
            <a:r>
              <a:rPr altLang="en-US"/>
              <a:t> of </a:t>
            </a:r>
            <a:r>
              <a:rPr altLang="en-US" dirty="0"/>
              <a:t>predictions using machine learning (autoencoders and genetic algorithms)</a:t>
            </a:r>
          </a:p>
          <a:p>
            <a:pPr marL="0" indent="0" eaLnBrk="1" hangingPunct="1">
              <a:buFont typeface="Arial" panose="020B0604020202020204" pitchFamily="34" charset="0"/>
              <a:buNone/>
            </a:pPr>
            <a:endParaRPr altLang="en-US">
              <a:latin typeface="Aptos" panose="020B0004020202020204" pitchFamily="34" charset="0"/>
            </a:endParaRPr>
          </a:p>
          <a:p>
            <a:pPr marL="0" indent="0" eaLnBrk="1" hangingPunct="1">
              <a:buFont typeface="Arial" panose="020B0604020202020204" pitchFamily="34" charset="0"/>
              <a:buNone/>
            </a:pPr>
            <a:r>
              <a:rPr altLang="en-US" b="1" dirty="0"/>
              <a:t>Medium term: </a:t>
            </a:r>
            <a:r>
              <a:rPr altLang="en-US" dirty="0"/>
              <a:t>moving past</a:t>
            </a:r>
            <a:r>
              <a:rPr altLang="en-US" b="1" dirty="0"/>
              <a:t> </a:t>
            </a:r>
            <a:r>
              <a:rPr altLang="en-US" dirty="0"/>
              <a:t>RNA-Seq data to point of care </a:t>
            </a:r>
            <a:r>
              <a:rPr altLang="en-US" dirty="0" err="1"/>
              <a:t>unspliced</a:t>
            </a:r>
            <a:r>
              <a:rPr altLang="en-US" dirty="0"/>
              <a:t> and spliced transcript measurements...</a:t>
            </a:r>
          </a:p>
          <a:p>
            <a:pPr marL="0" indent="0" eaLnBrk="1" hangingPunct="1">
              <a:buFont typeface="Arial" panose="020B0604020202020204" pitchFamily="34" charset="0"/>
              <a:buNone/>
            </a:pPr>
            <a:endParaRPr altLang="en-US">
              <a:latin typeface="Aptos" panose="020B0004020202020204" pitchFamily="34" charset="0"/>
            </a:endParaRPr>
          </a:p>
          <a:p>
            <a:pPr marL="0" indent="0" eaLnBrk="1" hangingPunct="1">
              <a:buNone/>
            </a:pPr>
            <a:r>
              <a:rPr lang="en-GB" altLang="en-US" b="1" dirty="0"/>
              <a:t>Long term </a:t>
            </a:r>
            <a:r>
              <a:rPr lang="en-GB" altLang="en-US" dirty="0"/>
              <a:t>goal is to adapt this tool into something that could impact clinical care decision making...</a:t>
            </a:r>
            <a:endParaRPr altLang="en-US" dirty="0"/>
          </a:p>
          <a:p>
            <a:pPr marL="0" indent="0" eaLnBrk="1" hangingPunct="1">
              <a:buFont typeface="Arial" panose="020B0604020202020204" pitchFamily="34" charset="0"/>
              <a:buNone/>
            </a:pPr>
            <a:endParaRPr altLang="en-US">
              <a:latin typeface="Aptos" panose="020B0004020202020204" pitchFamily="34" charset="0"/>
            </a:endParaRPr>
          </a:p>
        </p:txBody>
      </p:sp>
      <p:sp>
        <p:nvSpPr>
          <p:cNvPr id="36867" name="Title 1">
            <a:extLst>
              <a:ext uri="{FF2B5EF4-FFF2-40B4-BE49-F238E27FC236}">
                <a16:creationId xmlns:a16="http://schemas.microsoft.com/office/drawing/2014/main" id="{AAC9BF4B-5A3E-3842-61CA-ECE4264C9260}"/>
              </a:ext>
            </a:extLst>
          </p:cNvPr>
          <p:cNvSpPr txBox="1">
            <a:spLocks noChangeArrowheads="1"/>
          </p:cNvSpPr>
          <p:nvPr/>
        </p:nvSpPr>
        <p:spPr bwMode="auto">
          <a:xfrm>
            <a:off x="555349" y="61913"/>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eaLnBrk="1" hangingPunct="1">
              <a:spcBef>
                <a:spcPct val="0"/>
              </a:spcBef>
              <a:buSzTx/>
              <a:buFontTx/>
              <a:buNone/>
            </a:pPr>
            <a:r>
              <a:rPr lang="en-GB" altLang="en-US" sz="3000">
                <a:latin typeface="Calibri" panose="020F0502020204030204" pitchFamily="34" charset="0"/>
                <a:cs typeface="Calibri" panose="020F0502020204030204" pitchFamily="34" charset="0"/>
              </a:rPr>
              <a:t>The future...</a:t>
            </a:r>
            <a:endParaRPr lang="en-GB" altLang="en-US" sz="4400">
              <a:latin typeface="Aptos Display" panose="020B0004020202020204" pitchFamily="34"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4C92C-DD1B-C4E1-AB16-76EC5E4062B2}"/>
              </a:ext>
            </a:extLst>
          </p:cNvPr>
          <p:cNvSpPr>
            <a:spLocks noGrp="1"/>
          </p:cNvSpPr>
          <p:nvPr>
            <p:ph type="title"/>
          </p:nvPr>
        </p:nvSpPr>
        <p:spPr/>
        <p:txBody>
          <a:bodyPr/>
          <a:lstStyle/>
          <a:p>
            <a:r>
              <a:rPr lang="en-GB"/>
              <a:t>Take home messages</a:t>
            </a:r>
          </a:p>
        </p:txBody>
      </p:sp>
      <p:sp>
        <p:nvSpPr>
          <p:cNvPr id="3" name="Content Placeholder 2">
            <a:extLst>
              <a:ext uri="{FF2B5EF4-FFF2-40B4-BE49-F238E27FC236}">
                <a16:creationId xmlns:a16="http://schemas.microsoft.com/office/drawing/2014/main" id="{BFBBAD97-D665-E857-5FE4-FC295840449F}"/>
              </a:ext>
            </a:extLst>
          </p:cNvPr>
          <p:cNvSpPr>
            <a:spLocks noGrp="1"/>
          </p:cNvSpPr>
          <p:nvPr>
            <p:ph idx="1"/>
          </p:nvPr>
        </p:nvSpPr>
        <p:spPr>
          <a:xfrm>
            <a:off x="953022" y="1856940"/>
            <a:ext cx="10515600" cy="4351338"/>
          </a:xfrm>
        </p:spPr>
        <p:txBody>
          <a:bodyPr/>
          <a:lstStyle/>
          <a:p>
            <a:pPr marL="514350" indent="-514350">
              <a:buAutoNum type="arabicPeriod"/>
            </a:pPr>
            <a:r>
              <a:rPr lang="en-GB"/>
              <a:t>Knowing when to stop – when is the project no longer </a:t>
            </a:r>
            <a:r>
              <a:rPr lang="en-GB" err="1"/>
              <a:t>proo</a:t>
            </a:r>
            <a:r>
              <a:rPr lang="en-GB"/>
              <a:t>f of principle? What are the next steps? When</a:t>
            </a:r>
            <a:r>
              <a:rPr lang="en-GB" dirty="0"/>
              <a:t> should it be handed </a:t>
            </a:r>
            <a:r>
              <a:rPr lang="en-GB"/>
              <a:t>other to others to progress?</a:t>
            </a:r>
            <a:endParaRPr lang="en-US" dirty="0"/>
          </a:p>
          <a:p>
            <a:pPr marL="514350" indent="-514350">
              <a:buAutoNum type="arabicPeriod"/>
            </a:pPr>
            <a:endParaRPr lang="en-GB" dirty="0"/>
          </a:p>
          <a:p>
            <a:pPr marL="514350" indent="-514350">
              <a:buAutoNum type="arabicPeriod"/>
            </a:pPr>
            <a:r>
              <a:rPr lang="en-GB"/>
              <a:t>Acknowledging the limitations of the work  – how to frame, report upon and improve</a:t>
            </a:r>
            <a:endParaRPr lang="en-US"/>
          </a:p>
          <a:p>
            <a:pPr>
              <a:buAutoNum type="arabicPeriod"/>
            </a:pPr>
            <a:endParaRPr lang="en-GB" dirty="0"/>
          </a:p>
          <a:p>
            <a:pPr>
              <a:buAutoNum type="arabicPeriod"/>
            </a:pPr>
            <a:endParaRPr lang="en-GB" dirty="0"/>
          </a:p>
        </p:txBody>
      </p:sp>
    </p:spTree>
    <p:extLst>
      <p:ext uri="{BB962C8B-B14F-4D97-AF65-F5344CB8AC3E}">
        <p14:creationId xmlns:p14="http://schemas.microsoft.com/office/powerpoint/2010/main" val="126570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name="Slide399">
    <p:spTree>
      <p:nvGrpSpPr>
        <p:cNvPr id="1" name=""/>
        <p:cNvGrpSpPr/>
        <p:nvPr/>
      </p:nvGrpSpPr>
      <p:grpSpPr>
        <a:xfrm>
          <a:off x="0" y="0"/>
          <a:ext cx="0" cy="0"/>
          <a:chOff x="0" y="0"/>
          <a:chExt cx="0" cy="0"/>
        </a:xfrm>
      </p:grpSpPr>
      <p:sp>
        <p:nvSpPr>
          <p:cNvPr id="37890" name="Title 6">
            <a:extLst>
              <a:ext uri="{FF2B5EF4-FFF2-40B4-BE49-F238E27FC236}">
                <a16:creationId xmlns:a16="http://schemas.microsoft.com/office/drawing/2014/main" id="{C65227B7-CBE3-E0EF-7F3F-49A0A9402BC2}"/>
              </a:ext>
            </a:extLst>
          </p:cNvPr>
          <p:cNvSpPr txBox="1">
            <a:spLocks noGrp="1" noChangeArrowheads="1"/>
          </p:cNvSpPr>
          <p:nvPr>
            <p:ph type="title"/>
          </p:nvPr>
        </p:nvSpPr>
        <p:spPr>
          <a:xfrm>
            <a:off x="-359052" y="1044604"/>
            <a:ext cx="10515601" cy="1325563"/>
          </a:xfrm>
        </p:spPr>
        <p:txBody>
          <a:bodyPr anchorCtr="1"/>
          <a:lstStyle/>
          <a:p>
            <a:pPr algn="ctr" eaLnBrk="1" hangingPunct="1"/>
            <a:r>
              <a:rPr lang="en-GB" altLang="en-US" sz="3500" b="1">
                <a:latin typeface="Calibri" panose="020F0502020204030204" pitchFamily="34" charset="0"/>
                <a:cs typeface="Calibri" panose="020F0502020204030204" pitchFamily="34" charset="0"/>
              </a:rPr>
              <a:t>Acknowledgements</a:t>
            </a:r>
          </a:p>
        </p:txBody>
      </p:sp>
      <p:pic>
        <p:nvPicPr>
          <p:cNvPr id="37891" name="Picture 2" descr="Image preview">
            <a:extLst>
              <a:ext uri="{FF2B5EF4-FFF2-40B4-BE49-F238E27FC236}">
                <a16:creationId xmlns:a16="http://schemas.microsoft.com/office/drawing/2014/main" id="{F6DE823A-E265-7652-5745-0D12618714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9863" y="2349500"/>
            <a:ext cx="4875212"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2" descr="New Imperial logo">
            <a:extLst>
              <a:ext uri="{FF2B5EF4-FFF2-40B4-BE49-F238E27FC236}">
                <a16:creationId xmlns:a16="http://schemas.microsoft.com/office/drawing/2014/main" id="{A1466A55-8C7A-F110-D7EB-5C11C7D8B6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6675" y="0"/>
            <a:ext cx="3235325"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2" descr="Engineering and Physical Sciences Research Council | UKCDR">
            <a:extLst>
              <a:ext uri="{FF2B5EF4-FFF2-40B4-BE49-F238E27FC236}">
                <a16:creationId xmlns:a16="http://schemas.microsoft.com/office/drawing/2014/main" id="{290E29A1-CB91-8F2E-F7C9-0594C90EE5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363" y="179446"/>
            <a:ext cx="2810268" cy="68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DC248DE-836E-A8DC-8C40-5461A1142540}"/>
              </a:ext>
            </a:extLst>
          </p:cNvPr>
          <p:cNvSpPr txBox="1"/>
          <p:nvPr/>
        </p:nvSpPr>
        <p:spPr>
          <a:xfrm>
            <a:off x="516243" y="2339334"/>
            <a:ext cx="5838825" cy="2277547"/>
          </a:xfrm>
          <a:prstGeom prst="rect">
            <a:avLst/>
          </a:prstGeom>
          <a:noFill/>
          <a:ln cap="flat">
            <a:noFill/>
          </a:ln>
        </p:spPr>
        <p:txBody>
          <a:bodyPr lIns="91440" tIns="45720" rIns="91440" bIns="45720" anchor="t">
            <a:spAutoFit/>
          </a:bodyPr>
          <a:lstStyle/>
          <a:p>
            <a:pPr eaLnBrk="1" fontAlgn="auto" hangingPunct="1">
              <a:spcBef>
                <a:spcPts val="600"/>
              </a:spcBef>
              <a:spcAft>
                <a:spcPts val="0"/>
              </a:spcAft>
              <a:defRPr sz="1800" b="0" i="0" u="none" strike="noStrike" kern="0" cap="none" spc="0" baseline="0">
                <a:solidFill>
                  <a:srgbClr val="000000"/>
                </a:solidFill>
                <a:uFillTx/>
              </a:defRPr>
            </a:pPr>
            <a:r>
              <a:rPr lang="en-GB" sz="1400" b="1" kern="0" dirty="0">
                <a:solidFill>
                  <a:srgbClr val="000000"/>
                </a:solidFill>
                <a:latin typeface="Calibri"/>
                <a:ea typeface="Calibri"/>
                <a:cs typeface="Calibri"/>
              </a:rPr>
              <a:t>Core Team: </a:t>
            </a:r>
            <a:r>
              <a:rPr lang="en-GB" sz="1400" kern="0">
                <a:solidFill>
                  <a:srgbClr val="000000"/>
                </a:solidFill>
                <a:latin typeface="Calibri"/>
                <a:ea typeface="Calibri"/>
                <a:cs typeface="Calibri"/>
              </a:rPr>
              <a:t>Myrsini Kaforou, Mauricio Barahona, Aubrey Cunnington. </a:t>
            </a:r>
            <a:endParaRPr lang="en-US" sz="1400" kern="0">
              <a:solidFill>
                <a:srgbClr val="000000"/>
              </a:solidFill>
              <a:latin typeface="Calibri"/>
              <a:ea typeface="Calibri"/>
              <a:cs typeface="Calibri"/>
            </a:endParaRPr>
          </a:p>
          <a:p>
            <a:pPr eaLnBrk="1" fontAlgn="auto" hangingPunct="1">
              <a:spcBef>
                <a:spcPts val="600"/>
              </a:spcBef>
              <a:spcAft>
                <a:spcPts val="0"/>
              </a:spcAft>
              <a:defRPr sz="1800" b="0" i="0" u="none" strike="noStrike" kern="0" cap="none" spc="0" baseline="0">
                <a:solidFill>
                  <a:srgbClr val="000000"/>
                </a:solidFill>
                <a:uFillTx/>
              </a:defRPr>
            </a:pPr>
            <a:r>
              <a:rPr lang="en-GB" sz="1400" b="1" kern="0" dirty="0">
                <a:solidFill>
                  <a:srgbClr val="000000"/>
                </a:solidFill>
                <a:latin typeface="Calibri"/>
                <a:ea typeface="Calibri"/>
                <a:cs typeface="Calibri"/>
              </a:rPr>
              <a:t>CHIM datasets: </a:t>
            </a:r>
            <a:r>
              <a:rPr lang="en-GB" sz="1400" kern="0" dirty="0">
                <a:solidFill>
                  <a:srgbClr val="000000"/>
                </a:solidFill>
                <a:latin typeface="Calibri"/>
                <a:ea typeface="Calibri"/>
                <a:cs typeface="Calibri"/>
              </a:rPr>
              <a:t>Christopher Chiu </a:t>
            </a:r>
          </a:p>
          <a:p>
            <a:pPr eaLnBrk="1" fontAlgn="auto" hangingPunct="1">
              <a:spcBef>
                <a:spcPts val="600"/>
              </a:spcBef>
              <a:spcAft>
                <a:spcPts val="0"/>
              </a:spcAft>
              <a:defRPr sz="1800" b="0" i="0" u="none" strike="noStrike" kern="0" cap="none" spc="0" baseline="0">
                <a:solidFill>
                  <a:srgbClr val="000000"/>
                </a:solidFill>
                <a:uFillTx/>
              </a:defRPr>
            </a:pPr>
            <a:r>
              <a:rPr lang="en-GB" sz="1400" b="1" kern="0" dirty="0">
                <a:solidFill>
                  <a:srgbClr val="000000"/>
                </a:solidFill>
                <a:latin typeface="Calibri"/>
                <a:ea typeface="Calibri"/>
                <a:cs typeface="Calibri"/>
              </a:rPr>
              <a:t>TB-IRIS: </a:t>
            </a:r>
            <a:r>
              <a:rPr lang="en-GB" sz="1400" kern="0" dirty="0">
                <a:solidFill>
                  <a:srgbClr val="000000"/>
                </a:solidFill>
                <a:latin typeface="Calibri"/>
                <a:ea typeface="Calibri"/>
                <a:cs typeface="Calibri"/>
              </a:rPr>
              <a:t>Rachel PJ Lai, Graeme </a:t>
            </a:r>
            <a:r>
              <a:rPr lang="en-GB" sz="1400" kern="0" dirty="0" err="1">
                <a:solidFill>
                  <a:srgbClr val="000000"/>
                </a:solidFill>
                <a:latin typeface="Calibri"/>
                <a:ea typeface="Calibri"/>
                <a:cs typeface="Calibri"/>
              </a:rPr>
              <a:t>Meintjes</a:t>
            </a:r>
            <a:r>
              <a:rPr lang="en-GB" sz="1400" kern="0" dirty="0">
                <a:solidFill>
                  <a:srgbClr val="000000"/>
                </a:solidFill>
                <a:latin typeface="Calibri"/>
                <a:ea typeface="Calibri"/>
                <a:cs typeface="Calibri"/>
              </a:rPr>
              <a:t> </a:t>
            </a:r>
          </a:p>
          <a:p>
            <a:pPr eaLnBrk="1" fontAlgn="auto" hangingPunct="1">
              <a:spcBef>
                <a:spcPts val="600"/>
              </a:spcBef>
              <a:spcAft>
                <a:spcPts val="0"/>
              </a:spcAft>
              <a:defRPr sz="1800" b="0" i="0" u="none" strike="noStrike" kern="0" cap="none" spc="0" baseline="0">
                <a:solidFill>
                  <a:srgbClr val="000000"/>
                </a:solidFill>
                <a:uFillTx/>
              </a:defRPr>
            </a:pPr>
            <a:r>
              <a:rPr lang="en-GB" sz="1400" b="1" kern="0" dirty="0">
                <a:solidFill>
                  <a:srgbClr val="000000"/>
                </a:solidFill>
                <a:latin typeface="Calibri"/>
                <a:ea typeface="Calibri"/>
                <a:cs typeface="Calibri"/>
              </a:rPr>
              <a:t>PERFORM: </a:t>
            </a:r>
            <a:r>
              <a:rPr lang="en-GB" sz="1400" kern="0" dirty="0">
                <a:solidFill>
                  <a:srgbClr val="000000"/>
                </a:solidFill>
                <a:latin typeface="Calibri"/>
                <a:ea typeface="Calibri"/>
                <a:cs typeface="Calibri"/>
              </a:rPr>
              <a:t>Clare Wilson, Mike Levin, Jethro Herberg, Vic Wright, Dominic </a:t>
            </a:r>
            <a:r>
              <a:rPr lang="en-GB" sz="1400" kern="0" err="1">
                <a:solidFill>
                  <a:srgbClr val="000000"/>
                </a:solidFill>
                <a:latin typeface="Calibri"/>
                <a:ea typeface="Calibri"/>
                <a:cs typeface="Calibri"/>
              </a:rPr>
              <a:t>Habgood</a:t>
            </a:r>
            <a:r>
              <a:rPr lang="en-GB" sz="1400" kern="0" dirty="0">
                <a:solidFill>
                  <a:srgbClr val="000000"/>
                </a:solidFill>
                <a:latin typeface="Calibri"/>
                <a:ea typeface="Calibri"/>
                <a:cs typeface="Calibri"/>
              </a:rPr>
              <a:t>-Coote, </a:t>
            </a:r>
            <a:r>
              <a:rPr lang="en-GB" sz="1400" kern="0" err="1">
                <a:solidFill>
                  <a:srgbClr val="000000"/>
                </a:solidFill>
                <a:latin typeface="Calibri"/>
                <a:ea typeface="Calibri"/>
                <a:cs typeface="Calibri"/>
              </a:rPr>
              <a:t>Tisham</a:t>
            </a:r>
            <a:r>
              <a:rPr lang="en-GB" sz="1400" kern="0" dirty="0">
                <a:solidFill>
                  <a:srgbClr val="000000"/>
                </a:solidFill>
                <a:latin typeface="Calibri"/>
                <a:ea typeface="Calibri"/>
                <a:cs typeface="Calibri"/>
              </a:rPr>
              <a:t> De</a:t>
            </a:r>
          </a:p>
          <a:p>
            <a:pPr eaLnBrk="1" fontAlgn="auto" hangingPunct="1">
              <a:spcBef>
                <a:spcPts val="600"/>
              </a:spcBef>
              <a:spcAft>
                <a:spcPts val="0"/>
              </a:spcAft>
              <a:defRPr sz="1800" b="0" i="0" u="none" strike="noStrike" kern="0" cap="none" spc="0" baseline="0">
                <a:solidFill>
                  <a:srgbClr val="000000"/>
                </a:solidFill>
                <a:uFillTx/>
              </a:defRPr>
            </a:pPr>
            <a:r>
              <a:rPr lang="en-GB" sz="1400" kern="0" dirty="0">
                <a:solidFill>
                  <a:srgbClr val="000000"/>
                </a:solidFill>
                <a:latin typeface="Calibri"/>
                <a:ea typeface="Calibri"/>
                <a:cs typeface="Calibri"/>
              </a:rPr>
              <a:t>The Imperial PERFORM and DIAMONDS teams</a:t>
            </a:r>
          </a:p>
          <a:p>
            <a:pPr eaLnBrk="1" fontAlgn="auto" hangingPunct="1">
              <a:spcBef>
                <a:spcPts val="600"/>
              </a:spcBef>
              <a:spcAft>
                <a:spcPts val="0"/>
              </a:spcAft>
              <a:defRPr sz="1800" b="0" i="0" u="none" strike="noStrike" kern="0" cap="none" spc="0" baseline="0">
                <a:solidFill>
                  <a:srgbClr val="000000"/>
                </a:solidFill>
                <a:uFillTx/>
              </a:defRPr>
            </a:pPr>
            <a:r>
              <a:rPr lang="en-GB" sz="1400" kern="0" dirty="0">
                <a:solidFill>
                  <a:srgbClr val="000000"/>
                </a:solidFill>
                <a:latin typeface="Calibri"/>
                <a:ea typeface="Calibri"/>
                <a:cs typeface="Calibri"/>
              </a:rPr>
              <a:t>The </a:t>
            </a:r>
            <a:r>
              <a:rPr lang="en-GB" sz="1400" kern="0" dirty="0" err="1">
                <a:solidFill>
                  <a:srgbClr val="000000"/>
                </a:solidFill>
                <a:latin typeface="Calibri"/>
                <a:ea typeface="Calibri"/>
                <a:cs typeface="Calibri"/>
              </a:rPr>
              <a:t>PaedsID</a:t>
            </a:r>
            <a:r>
              <a:rPr lang="en-GB" sz="1400" kern="0" dirty="0">
                <a:solidFill>
                  <a:srgbClr val="000000"/>
                </a:solidFill>
                <a:latin typeface="Calibri"/>
                <a:ea typeface="Calibri"/>
                <a:cs typeface="Calibri"/>
              </a:rPr>
              <a:t> Team (especially the malaria and Bioinformatics subgroups)</a:t>
            </a:r>
          </a:p>
          <a:p>
            <a:pPr>
              <a:spcBef>
                <a:spcPts val="600"/>
              </a:spcBef>
              <a:spcAft>
                <a:spcPts val="0"/>
              </a:spcAft>
              <a:defRPr sz="1800" b="0" i="0" u="none" strike="noStrike" kern="0" cap="none" spc="0" baseline="0">
                <a:solidFill>
                  <a:srgbClr val="000000"/>
                </a:solidFill>
                <a:uFillTx/>
              </a:defRPr>
            </a:pPr>
            <a:r>
              <a:rPr lang="en-GB" sz="1400" kern="0" dirty="0">
                <a:solidFill>
                  <a:srgbClr val="000000"/>
                </a:solidFill>
                <a:latin typeface="Calibri"/>
                <a:ea typeface="Calibri"/>
                <a:cs typeface="Calibri"/>
              </a:rPr>
              <a:t>Ashleigh </a:t>
            </a:r>
            <a:r>
              <a:rPr lang="en-GB" sz="1400" kern="0" dirty="0" err="1">
                <a:solidFill>
                  <a:srgbClr val="000000"/>
                </a:solidFill>
                <a:latin typeface="Calibri"/>
                <a:ea typeface="Calibri"/>
                <a:cs typeface="Calibri"/>
              </a:rPr>
              <a:t>Gree</a:t>
            </a:r>
            <a:r>
              <a:rPr lang="en-GB" sz="1400" kern="0" dirty="0">
                <a:solidFill>
                  <a:srgbClr val="000000"/>
                </a:solidFill>
                <a:latin typeface="Calibri"/>
                <a:ea typeface="Calibri"/>
                <a:cs typeface="Calibri"/>
              </a:rPr>
              <a:t>n</a:t>
            </a:r>
          </a:p>
        </p:txBody>
      </p:sp>
      <p:pic>
        <p:nvPicPr>
          <p:cNvPr id="37895" name="Picture 9" descr="A turtle on a skateboard&#10;&#10;Description automatically generated">
            <a:extLst>
              <a:ext uri="{FF2B5EF4-FFF2-40B4-BE49-F238E27FC236}">
                <a16:creationId xmlns:a16="http://schemas.microsoft.com/office/drawing/2014/main" id="{8C39E6F9-1248-96B6-BC10-310CA2E64C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8033" t="8537" r="21312" b="20261"/>
          <a:stretch>
            <a:fillRect/>
          </a:stretch>
        </p:blipFill>
        <p:spPr bwMode="auto">
          <a:xfrm>
            <a:off x="731838" y="4899025"/>
            <a:ext cx="247967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Picture 12">
            <a:extLst>
              <a:ext uri="{FF2B5EF4-FFF2-40B4-BE49-F238E27FC236}">
                <a16:creationId xmlns:a16="http://schemas.microsoft.com/office/drawing/2014/main" id="{7A1244B5-9BA9-164F-147F-F4ECA472D5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6831"/>
          <a:stretch>
            <a:fillRect/>
          </a:stretch>
        </p:blipFill>
        <p:spPr bwMode="auto">
          <a:xfrm>
            <a:off x="6664470" y="7269"/>
            <a:ext cx="2187430" cy="962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Slide Number Placeholder 3">
            <a:extLst>
              <a:ext uri="{FF2B5EF4-FFF2-40B4-BE49-F238E27FC236}">
                <a16:creationId xmlns:a16="http://schemas.microsoft.com/office/drawing/2014/main" id="{D0194451-8203-AE9F-4BBC-790622F141AF}"/>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D994DC3D-F54A-48E5-A869-530D30F36B0E}" type="slidenum">
              <a:rPr lang="en-US" altLang="en-US" sz="1200">
                <a:solidFill>
                  <a:srgbClr val="767676"/>
                </a:solidFill>
              </a:rPr>
              <a:pPr algn="r" eaLnBrk="1" hangingPunct="1">
                <a:lnSpc>
                  <a:spcPct val="100000"/>
                </a:lnSpc>
                <a:spcBef>
                  <a:spcPct val="0"/>
                </a:spcBef>
                <a:buSzTx/>
                <a:buFontTx/>
                <a:buNone/>
              </a:pPr>
              <a:t>27</a:t>
            </a:fld>
            <a:endParaRPr lang="en-US" altLang="en-US" sz="1200">
              <a:solidFill>
                <a:srgbClr val="767676"/>
              </a:solidFill>
            </a:endParaRPr>
          </a:p>
        </p:txBody>
      </p:sp>
      <p:sp>
        <p:nvSpPr>
          <p:cNvPr id="37898" name="Slide Number Placeholder 9">
            <a:extLst>
              <a:ext uri="{FF2B5EF4-FFF2-40B4-BE49-F238E27FC236}">
                <a16:creationId xmlns:a16="http://schemas.microsoft.com/office/drawing/2014/main" id="{3E8B37BD-0AE1-0224-5FCD-C580827A48A5}"/>
              </a:ext>
            </a:extLst>
          </p:cNvPr>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SzPct val="100000"/>
              <a:buFont typeface="Arial" panose="020B0604020202020204" pitchFamily="34" charset="0"/>
              <a:buChar char="•"/>
              <a:defRPr sz="2800">
                <a:solidFill>
                  <a:srgbClr val="000000"/>
                </a:solidFill>
                <a:latin typeface="Aptos" panose="020B0004020202020204" pitchFamily="34" charset="0"/>
              </a:defRPr>
            </a:lvl1pPr>
            <a:lvl2pPr marL="742950" indent="-285750">
              <a:lnSpc>
                <a:spcPct val="90000"/>
              </a:lnSpc>
              <a:spcBef>
                <a:spcPts val="500"/>
              </a:spcBef>
              <a:buSzPct val="100000"/>
              <a:buFont typeface="Arial" panose="020B0604020202020204" pitchFamily="34" charset="0"/>
              <a:buChar char="•"/>
              <a:defRPr sz="2400">
                <a:solidFill>
                  <a:srgbClr val="000000"/>
                </a:solidFill>
                <a:latin typeface="Aptos" panose="020B0004020202020204" pitchFamily="34" charset="0"/>
              </a:defRPr>
            </a:lvl2pPr>
            <a:lvl3pPr marL="1143000" indent="-228600">
              <a:lnSpc>
                <a:spcPct val="90000"/>
              </a:lnSpc>
              <a:spcBef>
                <a:spcPts val="500"/>
              </a:spcBef>
              <a:buSzPct val="100000"/>
              <a:buFont typeface="Arial" panose="020B0604020202020204" pitchFamily="34" charset="0"/>
              <a:buChar char="•"/>
              <a:defRPr sz="2000">
                <a:solidFill>
                  <a:srgbClr val="000000"/>
                </a:solidFill>
                <a:latin typeface="Aptos" panose="020B0004020202020204" pitchFamily="34" charset="0"/>
              </a:defRPr>
            </a:lvl3pPr>
            <a:lvl4pPr marL="16002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4pPr>
            <a:lvl5pPr marL="2057400" indent="-228600">
              <a:lnSpc>
                <a:spcPct val="90000"/>
              </a:lnSpc>
              <a:spcBef>
                <a:spcPts val="500"/>
              </a:spcBef>
              <a:buSzPct val="100000"/>
              <a:buFont typeface="Arial" panose="020B0604020202020204" pitchFamily="34" charset="0"/>
              <a:buChar char="•"/>
              <a:defRPr>
                <a:solidFill>
                  <a:srgbClr val="000000"/>
                </a:solidFill>
                <a:latin typeface="Aptos" panose="020B0004020202020204" pitchFamily="34" charset="0"/>
              </a:defRPr>
            </a:lvl5pPr>
            <a:lvl6pPr marL="25146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6pPr>
            <a:lvl7pPr marL="29718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7pPr>
            <a:lvl8pPr marL="34290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8pPr>
            <a:lvl9pPr marL="3886200" indent="-228600" eaLnBrk="0" fontAlgn="base" hangingPunct="0">
              <a:lnSpc>
                <a:spcPct val="90000"/>
              </a:lnSpc>
              <a:spcBef>
                <a:spcPts val="500"/>
              </a:spcBef>
              <a:spcAft>
                <a:spcPct val="0"/>
              </a:spcAft>
              <a:buSzPct val="100000"/>
              <a:buFont typeface="Arial" panose="020B0604020202020204" pitchFamily="34" charset="0"/>
              <a:buChar char="•"/>
              <a:defRPr>
                <a:solidFill>
                  <a:srgbClr val="000000"/>
                </a:solidFill>
                <a:latin typeface="Aptos" panose="020B0004020202020204" pitchFamily="34" charset="0"/>
              </a:defRPr>
            </a:lvl9pPr>
          </a:lstStyle>
          <a:p>
            <a:pPr algn="r" eaLnBrk="1" hangingPunct="1">
              <a:lnSpc>
                <a:spcPct val="100000"/>
              </a:lnSpc>
              <a:spcBef>
                <a:spcPct val="0"/>
              </a:spcBef>
              <a:buSzTx/>
              <a:buFontTx/>
              <a:buNone/>
            </a:pPr>
            <a:fld id="{695183EF-A888-43D2-A7E3-147365A860B4}" type="slidenum">
              <a:rPr lang="en-US" altLang="en-US" sz="1200">
                <a:solidFill>
                  <a:srgbClr val="767676"/>
                </a:solidFill>
              </a:rPr>
              <a:pPr algn="r" eaLnBrk="1" hangingPunct="1">
                <a:lnSpc>
                  <a:spcPct val="100000"/>
                </a:lnSpc>
                <a:spcBef>
                  <a:spcPct val="0"/>
                </a:spcBef>
                <a:buSzTx/>
                <a:buFontTx/>
                <a:buNone/>
              </a:pPr>
              <a:t>27</a:t>
            </a:fld>
            <a:endParaRPr lang="en-US" altLang="en-US" sz="1200">
              <a:solidFill>
                <a:srgbClr val="767676"/>
              </a:solidFill>
            </a:endParaRPr>
          </a:p>
        </p:txBody>
      </p:sp>
      <p:pic>
        <p:nvPicPr>
          <p:cNvPr id="37899" name="Picture 10" descr="A group of people posing for a photo&#10;&#10;AI-generated content may be incorrect.">
            <a:extLst>
              <a:ext uri="{FF2B5EF4-FFF2-40B4-BE49-F238E27FC236}">
                <a16:creationId xmlns:a16="http://schemas.microsoft.com/office/drawing/2014/main" id="{65376D6E-1455-B4BE-13CB-EF2CC7CA4D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1825" y="4762500"/>
            <a:ext cx="2365375"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11" descr="A group of people posing for a photo&#10;&#10;AI-generated content may be incorrect.">
            <a:extLst>
              <a:ext uri="{FF2B5EF4-FFF2-40B4-BE49-F238E27FC236}">
                <a16:creationId xmlns:a16="http://schemas.microsoft.com/office/drawing/2014/main" id="{82963D54-D0C5-56F5-D8CB-D24B36361C5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5934" t="6551" r="1781" b="5240"/>
          <a:stretch>
            <a:fillRect/>
          </a:stretch>
        </p:blipFill>
        <p:spPr bwMode="auto">
          <a:xfrm>
            <a:off x="9695358" y="1443416"/>
            <a:ext cx="2230365" cy="1540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1" name="Picture 12" descr="A group of people holding signs&#10;&#10;AI-generated content may be incorrect.">
            <a:extLst>
              <a:ext uri="{FF2B5EF4-FFF2-40B4-BE49-F238E27FC236}">
                <a16:creationId xmlns:a16="http://schemas.microsoft.com/office/drawing/2014/main" id="{416A8FC1-6662-84CD-3858-D38A0AEFF6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37675" y="4789488"/>
            <a:ext cx="2481263"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National Institutes of Health Turns to Cloudian, Saves 70% on Cost">
            <a:extLst>
              <a:ext uri="{FF2B5EF4-FFF2-40B4-BE49-F238E27FC236}">
                <a16:creationId xmlns:a16="http://schemas.microsoft.com/office/drawing/2014/main" id="{CA313B77-FE3B-C4FF-E7EB-92F211E17746}"/>
              </a:ext>
            </a:extLst>
          </p:cNvPr>
          <p:cNvPicPr>
            <a:picLocks noChangeAspect="1"/>
          </p:cNvPicPr>
          <p:nvPr/>
        </p:nvPicPr>
        <p:blipFill>
          <a:blip r:embed="rId11"/>
          <a:stretch>
            <a:fillRect/>
          </a:stretch>
        </p:blipFill>
        <p:spPr>
          <a:xfrm>
            <a:off x="231965" y="970019"/>
            <a:ext cx="1640310" cy="646566"/>
          </a:xfrm>
          <a:prstGeom prst="rect">
            <a:avLst/>
          </a:prstGeom>
        </p:spPr>
      </p:pic>
      <p:pic>
        <p:nvPicPr>
          <p:cNvPr id="4" name="Picture 3" descr="Supporting Cutting Edge Medical Research - Rosetrees Trust - UK Charity">
            <a:extLst>
              <a:ext uri="{FF2B5EF4-FFF2-40B4-BE49-F238E27FC236}">
                <a16:creationId xmlns:a16="http://schemas.microsoft.com/office/drawing/2014/main" id="{CE75184D-6ADE-37F2-C92F-BD88D2E87CCC}"/>
              </a:ext>
            </a:extLst>
          </p:cNvPr>
          <p:cNvPicPr>
            <a:picLocks noChangeAspect="1"/>
          </p:cNvPicPr>
          <p:nvPr/>
        </p:nvPicPr>
        <p:blipFill>
          <a:blip r:embed="rId12"/>
          <a:srcRect t="-532" r="325" b="1299"/>
          <a:stretch>
            <a:fillRect/>
          </a:stretch>
        </p:blipFill>
        <p:spPr>
          <a:xfrm>
            <a:off x="7183292" y="1042483"/>
            <a:ext cx="1664948" cy="533731"/>
          </a:xfrm>
          <a:prstGeom prst="rect">
            <a:avLst/>
          </a:prstGeom>
        </p:spPr>
      </p:pic>
      <p:pic>
        <p:nvPicPr>
          <p:cNvPr id="5" name="Picture 4" descr="Schmidt AI in Science | Oxford Research Software Engineering Group">
            <a:extLst>
              <a:ext uri="{FF2B5EF4-FFF2-40B4-BE49-F238E27FC236}">
                <a16:creationId xmlns:a16="http://schemas.microsoft.com/office/drawing/2014/main" id="{219AFC7D-C518-DA89-B01E-2B1F5D4F7725}"/>
              </a:ext>
            </a:extLst>
          </p:cNvPr>
          <p:cNvPicPr>
            <a:picLocks noChangeAspect="1"/>
          </p:cNvPicPr>
          <p:nvPr/>
        </p:nvPicPr>
        <p:blipFill>
          <a:blip r:embed="rId13"/>
          <a:srcRect l="2830" t="-366" r="662" b="1075"/>
          <a:stretch>
            <a:fillRect/>
          </a:stretch>
        </p:blipFill>
        <p:spPr>
          <a:xfrm>
            <a:off x="7422859" y="1577125"/>
            <a:ext cx="1426260" cy="639430"/>
          </a:xfrm>
          <a:prstGeom prst="rect">
            <a:avLst/>
          </a:prstGeom>
        </p:spPr>
      </p:pic>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1296</Words>
  <Application>Microsoft Office PowerPoint</Application>
  <PresentationFormat>Widescreen</PresentationFormat>
  <Paragraphs>266</Paragraphs>
  <Slides>27</Slides>
  <Notes>10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Background: RNA Velocity</vt:lpstr>
      <vt:lpstr>Background: RNA Velocity</vt:lpstr>
      <vt:lpstr>Background: RNA Velocity</vt:lpstr>
      <vt:lpstr>Background: RNA Velocity</vt:lpstr>
      <vt:lpstr>Background: RNA Velocity</vt:lpstr>
      <vt:lpstr>VeloCD</vt:lpstr>
      <vt:lpstr>PowerPoint Presentation</vt:lpstr>
      <vt:lpstr>PowerPoint Presentation</vt:lpstr>
      <vt:lpstr>Results</vt:lpstr>
      <vt:lpstr>Results</vt:lpstr>
      <vt:lpstr>PowerPoint Presentation</vt:lpstr>
      <vt:lpstr>PowerPoint Presentation</vt:lpstr>
      <vt:lpstr>PowerPoint Presentation</vt:lpstr>
      <vt:lpstr>PowerPoint Presentation</vt:lpstr>
      <vt:lpstr>PowerPoint Presentation</vt:lpstr>
      <vt:lpstr>This is just a "proof of principle" of a complex algorithm</vt:lpstr>
      <vt:lpstr>How should we handle this?</vt:lpstr>
      <vt:lpstr>PowerPoint Presentation</vt:lpstr>
      <vt:lpstr>PowerPoint Presentation</vt:lpstr>
      <vt:lpstr>PowerPoint Presentation</vt:lpstr>
      <vt:lpstr>PowerPoint Presentation</vt:lpstr>
      <vt:lpstr>PowerPoint Presentation</vt:lpstr>
      <vt:lpstr>Take home messages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Claire Dunican</dc:creator>
  <cp:lastModifiedBy>Dunican, Claire M</cp:lastModifiedBy>
  <cp:revision>209</cp:revision>
  <dcterms:created xsi:type="dcterms:W3CDTF">2025-03-10T11:09:21Z</dcterms:created>
  <dcterms:modified xsi:type="dcterms:W3CDTF">2026-07-08T14:47:58Z</dcterms:modified>
</cp:coreProperties>
</file>